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63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3302000" y="1965325"/>
            <a:ext cx="5588000" cy="3764682"/>
            <a:chOff x="3457574" y="1641515"/>
            <a:chExt cx="5143501" cy="3463845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4218180" y="4681774"/>
              <a:ext cx="3318288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ko-KR" alt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704020202020204" pitchFamily="34" charset="0"/>
                </a:rPr>
                <a:t>유수프존</a:t>
              </a:r>
              <a:r>
                <a:rPr lang="en-US" altLang="ko-KR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704020202020204" pitchFamily="34" charset="0"/>
                </a:rPr>
                <a:t> (202438404)</a:t>
              </a:r>
              <a:endParaRPr lang="en-US" altLang="ko-KR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70402020202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1641515"/>
              <a:ext cx="3316567" cy="310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704020202020204" pitchFamily="34" charset="0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3924935" y="2364105"/>
            <a:ext cx="4292600" cy="232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4400"/>
              <a:t>BIG DATA </a:t>
            </a:r>
            <a:endParaRPr lang="en-US" sz="4400"/>
          </a:p>
          <a:p>
            <a:pPr algn="ctr"/>
            <a:r>
              <a:rPr lang="en-US" sz="4400"/>
              <a:t>ANALYSIS</a:t>
            </a:r>
            <a:endParaRPr lang="en-US" sz="4400"/>
          </a:p>
          <a:p>
            <a:pPr algn="ctr"/>
            <a:r>
              <a:rPr lang="en-US" sz="4400">
                <a:sym typeface="+mn-ea"/>
              </a:rPr>
              <a:t>REPORT 1</a:t>
            </a:r>
            <a:endParaRPr lang="en-US" sz="4400"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43414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ko-KR" sz="2400" b="1" dirty="0">
                <a:solidFill>
                  <a:srgbClr val="404040"/>
                </a:solidFill>
                <a:ea typeface="Calibri" panose="020F0502020204030204" pitchFamily="34" charset="0"/>
              </a:rPr>
              <a:t>1# Overview: </a:t>
            </a:r>
            <a:endParaRPr lang="en-US" altLang="ko-KR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2998470" y="254000"/>
            <a:ext cx="79622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zh-CN" sz="2400" b="1" dirty="0">
                <a:solidFill>
                  <a:srgbClr val="002060"/>
                </a:solidFill>
                <a:ea typeface="Calibri" panose="020F0502020204030204" pitchFamily="34" charset="0"/>
              </a:rPr>
              <a:t>Crawling reviews from the Google Play Store</a:t>
            </a:r>
            <a:endParaRPr lang="en-US" altLang="zh-CN" sz="24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pic>
        <p:nvPicPr>
          <p:cNvPr id="5" name="Picture 4" descr="Screenshot 2026-04-01 at 7.40.10 AM"/>
          <p:cNvPicPr>
            <a:picLocks noChangeAspect="1"/>
          </p:cNvPicPr>
          <p:nvPr/>
        </p:nvPicPr>
        <p:blipFill>
          <a:blip r:embed="rId2"/>
          <a:srcRect l="23209" r="23502"/>
          <a:stretch>
            <a:fillRect/>
          </a:stretch>
        </p:blipFill>
        <p:spPr>
          <a:xfrm>
            <a:off x="6698615" y="1174115"/>
            <a:ext cx="5081270" cy="5031740"/>
          </a:xfrm>
          <a:prstGeom prst="rect">
            <a:avLst/>
          </a:prstGeom>
        </p:spPr>
      </p:pic>
      <p:sp>
        <p:nvSpPr>
          <p:cNvPr id="6" name="文本框 6"/>
          <p:cNvSpPr txBox="1"/>
          <p:nvPr/>
        </p:nvSpPr>
        <p:spPr>
          <a:xfrm>
            <a:off x="109220" y="1184275"/>
            <a:ext cx="616331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rgbClr val="002060"/>
                </a:solidFill>
                <a:ea typeface="Calibri" panose="020F0502020204030204" pitchFamily="34" charset="0"/>
              </a:rPr>
              <a:t>I selected KakaoTalk to crawl reviews about from GooglePlayStore</a:t>
            </a: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dirty="0">
                <a:solidFill>
                  <a:srgbClr val="002060"/>
                </a:solidFill>
                <a:ea typeface="Calibri" panose="020F0502020204030204" pitchFamily="34" charset="0"/>
              </a:rPr>
              <a:t>I am crawling 7 elements of each review:</a:t>
            </a:r>
            <a:endParaRPr lang="en-US" altLang="zh-CN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reviewer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- Who wrote the review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rating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-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  <a:sym typeface="+mn-ea"/>
              </a:rPr>
              <a:t> How much rated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date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- Review Date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review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- Review Content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helpful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_count - Helpful Count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dev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_</a:t>
            </a: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reply 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- Reply by Developer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b="1" dirty="0">
                <a:solidFill>
                  <a:srgbClr val="002060"/>
                </a:solidFill>
                <a:ea typeface="Calibri" panose="020F0502020204030204" pitchFamily="34" charset="0"/>
              </a:rPr>
              <a:t>scraped_at</a:t>
            </a: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 - When I scraped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rgbClr val="002060"/>
                </a:solidFill>
                <a:ea typeface="Calibri" panose="020F0502020204030204" pitchFamily="34" charset="0"/>
              </a:rPr>
              <a:t>Max rows of review: 200</a:t>
            </a: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>
              <a:buFont typeface="Arial" panose="020B0704020202020204" pitchFamily="34" charset="0"/>
            </a:pP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43414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ko-KR" sz="2400" b="1" dirty="0">
                <a:solidFill>
                  <a:srgbClr val="404040"/>
                </a:solidFill>
                <a:ea typeface="Calibri" panose="020F0502020204030204" pitchFamily="34" charset="0"/>
              </a:rPr>
              <a:t>1# Result: </a:t>
            </a:r>
            <a:endParaRPr lang="en-US" altLang="ko-KR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2998470" y="254000"/>
            <a:ext cx="79622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zh-CN" sz="2400" b="1" dirty="0">
                <a:solidFill>
                  <a:srgbClr val="002060"/>
                </a:solidFill>
                <a:ea typeface="Calibri" panose="020F0502020204030204" pitchFamily="34" charset="0"/>
              </a:rPr>
              <a:t>Crawling reviews from the Google Play Store</a:t>
            </a:r>
            <a:endParaRPr lang="en-US" altLang="zh-CN" sz="24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109220" y="1184275"/>
            <a:ext cx="636587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1600" b="1" dirty="0">
                <a:solidFill>
                  <a:srgbClr val="002060"/>
                </a:solidFill>
                <a:ea typeface="Calibri" panose="020F0502020204030204" pitchFamily="34" charset="0"/>
              </a:rPr>
              <a:t>Workflow: </a:t>
            </a: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1. Open Google Play app page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2. Open See all reviews popup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3. Set sort to Newest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4. Scroll until target review count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5. Parse review fields (name, rating, date, text, helpful, reply)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6. Save results to play_reviews.csv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7. Close browser and return data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  <a:sym typeface="+mn-ea"/>
              </a:rPr>
              <a:t>play_reviews.csv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  <a:sym typeface="+mn-ea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reviewer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Who wrote the review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rating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  <a:sym typeface="+mn-ea"/>
              </a:rPr>
              <a:t> How much rated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date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Review Date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review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Review Content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helpful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_count - Helpful Count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dev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_</a:t>
            </a: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reply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Reply by Developer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scraped_at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 - When I scraped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1600" b="1" dirty="0">
                <a:solidFill>
                  <a:srgbClr val="002060"/>
                </a:solidFill>
                <a:ea typeface="Calibri" panose="020F0502020204030204" pitchFamily="34" charset="0"/>
              </a:rPr>
              <a:t>Max rows of review: 200</a:t>
            </a: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>
              <a:buFont typeface="Arial" panose="020B0704020202020204" pitchFamily="34" charset="0"/>
            </a:pP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 descr="Screenshot 2026-04-01 at 7.37.1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60" y="1116330"/>
            <a:ext cx="4636135" cy="2425700"/>
          </a:xfrm>
          <a:prstGeom prst="rect">
            <a:avLst/>
          </a:prstGeom>
        </p:spPr>
      </p:pic>
      <p:pic>
        <p:nvPicPr>
          <p:cNvPr id="3" name="Picture 2" descr="Screenshot 2026-04-01 at 7.37.44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560" y="3759200"/>
            <a:ext cx="4635500" cy="28898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434149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ko-KR" sz="2000" b="1" dirty="0">
                <a:solidFill>
                  <a:srgbClr val="404040"/>
                </a:solidFill>
                <a:ea typeface="Calibri" panose="020F0502020204030204" pitchFamily="34" charset="0"/>
              </a:rPr>
              <a:t>2# Overview &amp; Result: </a:t>
            </a:r>
            <a:endParaRPr lang="en-US" altLang="ko-KR" sz="20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3124200" y="257175"/>
            <a:ext cx="8594725" cy="445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zh-CN" sz="2300" b="1" dirty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</a:rPr>
              <a:t>Crawling images from the Google with custom search input</a:t>
            </a:r>
            <a:endParaRPr lang="en-US" altLang="zh-CN" sz="2300" b="1" dirty="0">
              <a:solidFill>
                <a:schemeClr val="accent6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109220" y="909955"/>
            <a:ext cx="6163310" cy="25533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b="1" dirty="0">
                <a:solidFill>
                  <a:srgbClr val="002060"/>
                </a:solidFill>
                <a:ea typeface="Calibri" panose="020F0502020204030204" pitchFamily="34" charset="0"/>
              </a:rPr>
              <a:t>I selected puppy to crawl images about from Google Images </a:t>
            </a: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>
              <a:buFont typeface="Arial" panose="020B0704020202020204" pitchFamily="34" charset="0"/>
            </a:pP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000" dirty="0">
                <a:solidFill>
                  <a:srgbClr val="002060"/>
                </a:solidFill>
                <a:ea typeface="Calibri" panose="020F0502020204030204" pitchFamily="34" charset="0"/>
              </a:rPr>
              <a:t>I am crawling 2 elements of each image:</a:t>
            </a:r>
            <a:endParaRPr lang="en-US" altLang="zh-CN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index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2000" dirty="0">
                <a:solidFill>
                  <a:srgbClr val="002060"/>
                </a:solidFill>
                <a:ea typeface="Calibri" panose="020F0502020204030204" pitchFamily="34" charset="0"/>
              </a:rPr>
              <a:t>image_url </a:t>
            </a:r>
            <a:endParaRPr lang="en-US" altLang="en-US" sz="20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endParaRPr lang="en-US" altLang="en-US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>
              <a:buFont typeface="Arial" panose="020B0704020202020204" pitchFamily="34" charset="0"/>
            </a:pPr>
            <a:endParaRPr lang="en-US" altLang="zh-CN" sz="20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 descr="Screenshot 2026-04-01 at 8.01.5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530" y="1093470"/>
            <a:ext cx="5556885" cy="5195570"/>
          </a:xfrm>
          <a:prstGeom prst="rect">
            <a:avLst/>
          </a:prstGeom>
        </p:spPr>
      </p:pic>
      <p:pic>
        <p:nvPicPr>
          <p:cNvPr id="3" name="Picture 2" descr="Screenshot 2026-04-01 at 8.05.02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021330"/>
            <a:ext cx="5434330" cy="1573530"/>
          </a:xfrm>
          <a:prstGeom prst="rect">
            <a:avLst/>
          </a:prstGeom>
        </p:spPr>
      </p:pic>
      <p:pic>
        <p:nvPicPr>
          <p:cNvPr id="4" name="Picture 3" descr="Screenshot 2026-04-01 at 8.05.14 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4594860"/>
            <a:ext cx="5408295" cy="19354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43414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ko-KR" sz="2400" b="1" dirty="0">
                <a:solidFill>
                  <a:srgbClr val="404040"/>
                </a:solidFill>
                <a:ea typeface="Calibri" panose="020F0502020204030204" pitchFamily="34" charset="0"/>
              </a:rPr>
              <a:t>1# Result: </a:t>
            </a:r>
            <a:endParaRPr lang="en-US" altLang="ko-KR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2998470" y="254000"/>
            <a:ext cx="79622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704020202020204" pitchFamily="34" charset="0"/>
            </a:pPr>
            <a:r>
              <a:rPr lang="en-US" altLang="zh-CN" sz="2400" b="1" dirty="0">
                <a:solidFill>
                  <a:srgbClr val="002060"/>
                </a:solidFill>
                <a:ea typeface="Calibri" panose="020F0502020204030204" pitchFamily="34" charset="0"/>
              </a:rPr>
              <a:t>Crawling reviews from the Google Play Store</a:t>
            </a:r>
            <a:endParaRPr lang="en-US" altLang="zh-CN" sz="24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109220" y="1184275"/>
            <a:ext cx="636587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1600" b="1" dirty="0">
                <a:solidFill>
                  <a:srgbClr val="002060"/>
                </a:solidFill>
                <a:ea typeface="Calibri" panose="020F0502020204030204" pitchFamily="34" charset="0"/>
              </a:rPr>
              <a:t>Workflow: </a:t>
            </a: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1. Open Google Play app page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2. Open See all reviews popup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3. Set sort to Newest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4. Scroll until target review count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5. Parse review fields (name, rating, date, text, helpful, reply)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6. Save results to play_reviews.csv  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lvl="1"/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7. Close browser and return data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  <a:sym typeface="+mn-ea"/>
              </a:rPr>
              <a:t>play_reviews.csv</a:t>
            </a:r>
            <a:endParaRPr lang="en-US" altLang="en-US" sz="1600" b="1" dirty="0">
              <a:solidFill>
                <a:srgbClr val="002060"/>
              </a:solidFill>
              <a:ea typeface="Calibri" panose="020F0502020204030204" pitchFamily="34" charset="0"/>
              <a:sym typeface="+mn-ea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reviewer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Who wrote the review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rating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  <a:sym typeface="+mn-ea"/>
              </a:rPr>
              <a:t> How much rated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date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Review Date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review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Review Content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helpful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_count - Helpful Count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dev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_</a:t>
            </a: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reply 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- Reply by Developer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indent="457200">
              <a:buFont typeface="Arial" panose="020B0704020202020204" pitchFamily="34" charset="0"/>
            </a:pPr>
            <a:r>
              <a:rPr lang="en-US" altLang="en-US" sz="1600" b="1" dirty="0">
                <a:solidFill>
                  <a:srgbClr val="002060"/>
                </a:solidFill>
                <a:ea typeface="Calibri" panose="020F0502020204030204" pitchFamily="34" charset="0"/>
              </a:rPr>
              <a:t>scraped_at</a:t>
            </a:r>
            <a:r>
              <a:rPr lang="en-US" altLang="en-US" sz="1600" dirty="0">
                <a:solidFill>
                  <a:srgbClr val="002060"/>
                </a:solidFill>
                <a:ea typeface="Calibri" panose="020F0502020204030204" pitchFamily="34" charset="0"/>
              </a:rPr>
              <a:t> - When I scraped</a:t>
            </a:r>
            <a:endParaRPr lang="en-US" altLang="en-US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zh-CN" sz="1600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1600" b="1" dirty="0">
                <a:solidFill>
                  <a:srgbClr val="002060"/>
                </a:solidFill>
                <a:ea typeface="Calibri" panose="020F0502020204030204" pitchFamily="34" charset="0"/>
              </a:rPr>
              <a:t>Max rows of review: 200</a:t>
            </a: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  <a:p>
            <a:pPr>
              <a:buFont typeface="Arial" panose="020B0704020202020204" pitchFamily="34" charset="0"/>
            </a:pPr>
            <a:endParaRPr lang="en-US" altLang="zh-CN" sz="1600" b="1" dirty="0">
              <a:solidFill>
                <a:srgbClr val="00206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 descr="Screenshot 2026-04-01 at 7.37.14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60" y="1116330"/>
            <a:ext cx="4636135" cy="2425700"/>
          </a:xfrm>
          <a:prstGeom prst="rect">
            <a:avLst/>
          </a:prstGeom>
        </p:spPr>
      </p:pic>
      <p:pic>
        <p:nvPicPr>
          <p:cNvPr id="3" name="Picture 2" descr="Screenshot 2026-04-01 at 7.37.44 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560" y="3759200"/>
            <a:ext cx="4635500" cy="288988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</Words>
  <Application>WPS Sheets</Application>
  <PresentationFormat>宽屏</PresentationFormat>
  <Paragraphs>86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SimSun</vt:lpstr>
      <vt:lpstr>宋体-简</vt:lpstr>
      <vt:lpstr>Microsoft YaHei</vt:lpstr>
      <vt:lpstr>汉仪旗黑</vt:lpstr>
      <vt:lpstr>Arial Unicode MS</vt:lpstr>
      <vt:lpstr>Calibri Light</vt:lpstr>
      <vt:lpstr>Impact</vt:lpstr>
      <vt:lpstr>BatangChe</vt:lpstr>
      <vt:lpstr>Apple SD Gothic Neo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yusufaxmad</cp:lastModifiedBy>
  <cp:revision>17</cp:revision>
  <dcterms:created xsi:type="dcterms:W3CDTF">2026-03-31T23:10:45Z</dcterms:created>
  <dcterms:modified xsi:type="dcterms:W3CDTF">2026-03-31T23:10:45Z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925038A6D1C24520244BCC6974421C00_41</vt:lpwstr>
  </property>
</Properties>
</file>