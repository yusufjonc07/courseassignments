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p:restoredTop sz="94694"/>
  </p:normalViewPr>
  <p:slideViewPr>
    <p:cSldViewPr snapToGrid="0">
      <p:cViewPr varScale="1">
        <p:scale>
          <a:sx n="121" d="100"/>
          <a:sy n="121" d="100"/>
        </p:scale>
        <p:origin x="20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A1E-98C4-4A2E-AAC3-800E357DC9FE}"/>
              </a:ext>
            </a:extLst>
          </p:cNvPr>
          <p:cNvSpPr>
            <a:spLocks noGrp="1"/>
          </p:cNvSpPr>
          <p:nvPr>
            <p:ph type="ctrTitle"/>
          </p:nvPr>
        </p:nvSpPr>
        <p:spPr>
          <a:xfrm>
            <a:off x="1517904" y="1517904"/>
            <a:ext cx="9144000" cy="2798064"/>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A96B1FA-5AE6-4D57-B37B-4AA0216007F8}"/>
              </a:ext>
            </a:extLst>
          </p:cNvPr>
          <p:cNvSpPr>
            <a:spLocks noGrp="1"/>
          </p:cNvSpPr>
          <p:nvPr>
            <p:ph type="subTitle" idx="1"/>
          </p:nvPr>
        </p:nvSpPr>
        <p:spPr>
          <a:xfrm>
            <a:off x="1517904" y="4572000"/>
            <a:ext cx="9144000" cy="1527048"/>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01F49B66-DBC3-45EE-A6E1-DE10A6C186C8}"/>
              </a:ext>
            </a:extLst>
          </p:cNvPr>
          <p:cNvSpPr>
            <a:spLocks noGrp="1"/>
          </p:cNvSpPr>
          <p:nvPr>
            <p:ph type="dt" sz="half" idx="10"/>
          </p:nvPr>
        </p:nvSpPr>
        <p:spPr/>
        <p:txBody>
          <a:bodyPr/>
          <a:lstStyle/>
          <a:p>
            <a:pPr algn="r"/>
            <a:fld id="{3F9AFA87-1417-4992-ABD9-27C3BC8CC883}" type="datetimeFigureOut">
              <a:rPr lang="en-US" smtClean="0"/>
              <a:pPr algn="r"/>
              <a:t>9/15/25</a:t>
            </a:fld>
            <a:endParaRPr lang="en-US" dirty="0"/>
          </a:p>
        </p:txBody>
      </p:sp>
      <p:sp>
        <p:nvSpPr>
          <p:cNvPr id="8" name="Footer Placeholder 7">
            <a:extLst>
              <a:ext uri="{FF2B5EF4-FFF2-40B4-BE49-F238E27FC236}">
                <a16:creationId xmlns:a16="http://schemas.microsoft.com/office/drawing/2014/main" id="{241085F0-1967-4B4F-9824-58E9F2E05125}"/>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40AEDEE5-31B5-4868-8C16-47FF43E276A4}"/>
              </a:ext>
            </a:extLst>
          </p:cNvPr>
          <p:cNvSpPr>
            <a:spLocks noGrp="1"/>
          </p:cNvSpPr>
          <p:nvPr>
            <p:ph type="sldNum" sz="quarter" idx="12"/>
          </p:nvPr>
        </p:nvSpPr>
        <p:spPr/>
        <p:txBody>
          <a:bodyPr/>
          <a:lstStyle/>
          <a:p>
            <a:fld id="{CB1E4CB7-CB13-4810-BF18-BE31AFC64F93}" type="slidenum">
              <a:rPr lang="en-US" smtClean="0"/>
              <a:pPr/>
              <a:t>‹#›</a:t>
            </a:fld>
            <a:endParaRPr lang="en-US" sz="1000" dirty="0"/>
          </a:p>
        </p:txBody>
      </p:sp>
    </p:spTree>
    <p:extLst>
      <p:ext uri="{BB962C8B-B14F-4D97-AF65-F5344CB8AC3E}">
        <p14:creationId xmlns:p14="http://schemas.microsoft.com/office/powerpoint/2010/main" val="2315290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7CE36D-6B7B-4D5E-831E-34A4286D6E6A}"/>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5" name="Footer Placeholder 4">
            <a:extLst>
              <a:ext uri="{FF2B5EF4-FFF2-40B4-BE49-F238E27FC236}">
                <a16:creationId xmlns:a16="http://schemas.microsoft.com/office/drawing/2014/main" id="{BA2AD668-6E19-425C-88F7-AF4220662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294728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46C78-A717-4E1F-A742-FD5AECA03B4B}"/>
              </a:ext>
            </a:extLst>
          </p:cNvPr>
          <p:cNvSpPr>
            <a:spLocks noGrp="1"/>
          </p:cNvSpPr>
          <p:nvPr>
            <p:ph type="title"/>
          </p:nvPr>
        </p:nvSpPr>
        <p:spPr>
          <a:xfrm>
            <a:off x="1517904" y="1517904"/>
            <a:ext cx="91440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DA1270D-CCAE-4437-A0C0-052D111DFC80}"/>
              </a:ext>
            </a:extLst>
          </p:cNvPr>
          <p:cNvSpPr>
            <a:spLocks noGrp="1"/>
          </p:cNvSpPr>
          <p:nvPr>
            <p:ph type="body" idx="1"/>
          </p:nvPr>
        </p:nvSpPr>
        <p:spPr>
          <a:xfrm>
            <a:off x="1517904" y="4572000"/>
            <a:ext cx="91440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9F006A-7EEE-4DB0-8F92-D34C0D46C38E}"/>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5" name="Footer Placeholder 4">
            <a:extLst>
              <a:ext uri="{FF2B5EF4-FFF2-40B4-BE49-F238E27FC236}">
                <a16:creationId xmlns:a16="http://schemas.microsoft.com/office/drawing/2014/main" id="{FDA3F2ED-2B0E-44A9-8603-286CA06345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D801C-6B4E-40B6-9D6E-558192264D2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507208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46AA-9418-4C3E-901B-8E2806122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997482-2CA6-4707-976E-6FD4B57BFE66}"/>
              </a:ext>
            </a:extLst>
          </p:cNvPr>
          <p:cNvSpPr>
            <a:spLocks noGrp="1"/>
          </p:cNvSpPr>
          <p:nvPr>
            <p:ph sz="half" idx="1"/>
          </p:nvPr>
        </p:nvSpPr>
        <p:spPr>
          <a:xfrm>
            <a:off x="1517904"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09652-DD12-479C-B639-9452CBA8C019}"/>
              </a:ext>
            </a:extLst>
          </p:cNvPr>
          <p:cNvSpPr>
            <a:spLocks noGrp="1"/>
          </p:cNvSpPr>
          <p:nvPr>
            <p:ph sz="half" idx="2"/>
          </p:nvPr>
        </p:nvSpPr>
        <p:spPr>
          <a:xfrm>
            <a:off x="6336792"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EC7A6-AFB1-4989-A0B4-B422D5B2C69C}"/>
              </a:ext>
            </a:extLst>
          </p:cNvPr>
          <p:cNvSpPr>
            <a:spLocks noGrp="1"/>
          </p:cNvSpPr>
          <p:nvPr>
            <p:ph type="dt" sz="half" idx="10"/>
          </p:nvPr>
        </p:nvSpPr>
        <p:spPr/>
        <p:txBody>
          <a:bodyPr/>
          <a:lstStyle/>
          <a:p>
            <a:fld id="{3F9AFA87-1417-4992-ABD9-27C3BC8CC883}" type="datetimeFigureOut">
              <a:rPr lang="en-US" smtClean="0"/>
              <a:t>9/15/25</a:t>
            </a:fld>
            <a:endParaRPr lang="en-US" dirty="0"/>
          </a:p>
        </p:txBody>
      </p:sp>
      <p:sp>
        <p:nvSpPr>
          <p:cNvPr id="6" name="Footer Placeholder 5">
            <a:extLst>
              <a:ext uri="{FF2B5EF4-FFF2-40B4-BE49-F238E27FC236}">
                <a16:creationId xmlns:a16="http://schemas.microsoft.com/office/drawing/2014/main" id="{F8D2117C-B497-4647-A66B-1887750FB5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E8C7AF-5092-416B-B61C-F41D3C573E0C}"/>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1096760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60001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A24A80-0792-4B3B-BB5A-8B2BD91095A7}"/>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4" name="Footer Placeholder 3">
            <a:extLst>
              <a:ext uri="{FF2B5EF4-FFF2-40B4-BE49-F238E27FC236}">
                <a16:creationId xmlns:a16="http://schemas.microsoft.com/office/drawing/2014/main" id="{4526116E-7A6D-485F-9FA2-25F94D4F40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9ADCC-C5F2-4D90-B153-93DF55858291}"/>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671264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50045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F683-796D-458C-9B32-A385D604DBFC}"/>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FB1F0BD-641B-4148-BCB3-2704218C80B8}"/>
              </a:ext>
            </a:extLst>
          </p:cNvPr>
          <p:cNvSpPr>
            <a:spLocks noGrp="1"/>
          </p:cNvSpPr>
          <p:nvPr>
            <p:ph idx="1"/>
          </p:nvPr>
        </p:nvSpPr>
        <p:spPr>
          <a:xfrm>
            <a:off x="5330952" y="1517904"/>
            <a:ext cx="5330952" cy="45811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B28C843-B846-4456-9720-71B7D4FF4062}"/>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A3A03-31BD-4E7E-879A-A1C71849703C}"/>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6" name="Footer Placeholder 5">
            <a:extLst>
              <a:ext uri="{FF2B5EF4-FFF2-40B4-BE49-F238E27FC236}">
                <a16:creationId xmlns:a16="http://schemas.microsoft.com/office/drawing/2014/main" id="{4EA39078-7D38-4851-A363-B6BC179A5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1FF25E-A25D-47AA-94EB-580A74F01F1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373852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83B4-9B31-4F73-9767-163636522F3A}"/>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C7CFC30-8163-47A0-A97F-3F2C3A3BE73A}"/>
              </a:ext>
            </a:extLst>
          </p:cNvPr>
          <p:cNvSpPr>
            <a:spLocks noGrp="1"/>
          </p:cNvSpPr>
          <p:nvPr>
            <p:ph type="pic" idx="1"/>
          </p:nvPr>
        </p:nvSpPr>
        <p:spPr>
          <a:xfrm>
            <a:off x="5349240" y="764032"/>
            <a:ext cx="6089904" cy="5330952"/>
          </a:xfr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AF1B390-0C23-466E-987C-26420A5F098D}"/>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9CA7C-B9D0-4A72-8061-1E02AA15FE86}"/>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6" name="Footer Placeholder 5">
            <a:extLst>
              <a:ext uri="{FF2B5EF4-FFF2-40B4-BE49-F238E27FC236}">
                <a16:creationId xmlns:a16="http://schemas.microsoft.com/office/drawing/2014/main" id="{C53EFC84-C9FE-4BFA-9B4E-4516A13625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01A469-3EFC-4F94-8482-378582E1C14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723880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454-6F74-46A8-B299-4AF451BFB92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6F55CA9-A0BD-4609-9307-BAF987B26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5E4293-851E-4FA2-BFF2-B646A42369DE}"/>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5" name="Footer Placeholder 4">
            <a:extLst>
              <a:ext uri="{FF2B5EF4-FFF2-40B4-BE49-F238E27FC236}">
                <a16:creationId xmlns:a16="http://schemas.microsoft.com/office/drawing/2014/main" id="{59A907F5-F26D-4A91-8D70-AB54F8B43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8ACBD8-D942-449E-A2B8-358CD1365C0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0891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50897-0C2E-420B-9A38-A8D5C1D72786}"/>
              </a:ext>
            </a:extLst>
          </p:cNvPr>
          <p:cNvSpPr>
            <a:spLocks noGrp="1"/>
          </p:cNvSpPr>
          <p:nvPr>
            <p:ph type="title" orient="vert"/>
          </p:nvPr>
        </p:nvSpPr>
        <p:spPr>
          <a:xfrm>
            <a:off x="8450317" y="1517904"/>
            <a:ext cx="2220731" cy="454678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EDB2173-32A5-4677-A08F-DAB8FD430D1A}"/>
              </a:ext>
            </a:extLst>
          </p:cNvPr>
          <p:cNvSpPr>
            <a:spLocks noGrp="1"/>
          </p:cNvSpPr>
          <p:nvPr>
            <p:ph type="body" orient="vert" idx="1"/>
          </p:nvPr>
        </p:nvSpPr>
        <p:spPr>
          <a:xfrm>
            <a:off x="1517904" y="1517904"/>
            <a:ext cx="6562553" cy="45467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DB124D-B801-4A6A-9DAF-EBC1B98FE4F7}"/>
              </a:ext>
            </a:extLst>
          </p:cNvPr>
          <p:cNvSpPr>
            <a:spLocks noGrp="1"/>
          </p:cNvSpPr>
          <p:nvPr>
            <p:ph type="dt" sz="half" idx="10"/>
          </p:nvPr>
        </p:nvSpPr>
        <p:spPr/>
        <p:txBody>
          <a:bodyPr/>
          <a:lstStyle/>
          <a:p>
            <a:fld id="{3F9AFA87-1417-4992-ABD9-27C3BC8CC883}" type="datetimeFigureOut">
              <a:rPr lang="en-US" smtClean="0"/>
              <a:t>9/15/25</a:t>
            </a:fld>
            <a:endParaRPr lang="en-US"/>
          </a:p>
        </p:txBody>
      </p:sp>
      <p:sp>
        <p:nvSpPr>
          <p:cNvPr id="5" name="Footer Placeholder 4">
            <a:extLst>
              <a:ext uri="{FF2B5EF4-FFF2-40B4-BE49-F238E27FC236}">
                <a16:creationId xmlns:a16="http://schemas.microsoft.com/office/drawing/2014/main" id="{A8DAF8DF-2544-45A5-B62B-BB7948FCC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C232D-131E-4BE6-8E2E-BAF5A30846D6}"/>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556016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fld id="{3F9AFA87-1417-4992-ABD9-27C3BC8CC883}" type="datetimeFigureOut">
              <a:rPr lang="en-US" smtClean="0"/>
              <a:pPr algn="r"/>
              <a:t>9/15/25</a:t>
            </a:fld>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85401719"/>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iimpacts.org/2015/05/"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45BA4C-9B54-4496-821F-9E0985CA9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403AB9-634C-5A4A-5392-1D129C0C2B64}"/>
              </a:ext>
            </a:extLst>
          </p:cNvPr>
          <p:cNvSpPr>
            <a:spLocks noGrp="1"/>
          </p:cNvSpPr>
          <p:nvPr>
            <p:ph type="ctrTitle"/>
          </p:nvPr>
        </p:nvSpPr>
        <p:spPr>
          <a:xfrm>
            <a:off x="762000" y="743804"/>
            <a:ext cx="4102609" cy="1799699"/>
          </a:xfrm>
        </p:spPr>
        <p:txBody>
          <a:bodyPr anchor="ctr">
            <a:normAutofit/>
          </a:bodyPr>
          <a:lstStyle/>
          <a:p>
            <a:pPr algn="l"/>
            <a:r>
              <a:rPr lang="en-UZ" sz="4800" dirty="0"/>
              <a:t>Homework #2</a:t>
            </a:r>
            <a:br>
              <a:rPr lang="en-UZ" sz="5400" dirty="0"/>
            </a:br>
            <a:r>
              <a:rPr lang="en-UZ" sz="5400" dirty="0"/>
              <a:t>DBMS</a:t>
            </a:r>
          </a:p>
        </p:txBody>
      </p:sp>
      <p:sp>
        <p:nvSpPr>
          <p:cNvPr id="3" name="Subtitle 2">
            <a:extLst>
              <a:ext uri="{FF2B5EF4-FFF2-40B4-BE49-F238E27FC236}">
                <a16:creationId xmlns:a16="http://schemas.microsoft.com/office/drawing/2014/main" id="{6B1C9439-77AA-E3E6-5E50-DF7382BA5BC2}"/>
              </a:ext>
            </a:extLst>
          </p:cNvPr>
          <p:cNvSpPr>
            <a:spLocks noGrp="1"/>
          </p:cNvSpPr>
          <p:nvPr>
            <p:ph type="subTitle" idx="1"/>
          </p:nvPr>
        </p:nvSpPr>
        <p:spPr>
          <a:xfrm>
            <a:off x="762000" y="4691564"/>
            <a:ext cx="4440621" cy="1422631"/>
          </a:xfrm>
        </p:spPr>
        <p:txBody>
          <a:bodyPr>
            <a:normAutofit/>
          </a:bodyPr>
          <a:lstStyle/>
          <a:p>
            <a:pPr algn="l"/>
            <a:r>
              <a:rPr lang="en-UZ" sz="1600" i="1" u="sng" dirty="0"/>
              <a:t>Student details</a:t>
            </a:r>
          </a:p>
          <a:p>
            <a:pPr algn="l"/>
            <a:r>
              <a:rPr lang="en-UZ" sz="1800" dirty="0"/>
              <a:t>AKHMEDOV YUSUFJON (</a:t>
            </a:r>
            <a:r>
              <a:rPr lang="en-UZ" sz="1800" b="1" dirty="0"/>
              <a:t>202438404</a:t>
            </a:r>
            <a:r>
              <a:rPr lang="en-UZ" sz="1800" dirty="0"/>
              <a:t>)</a:t>
            </a:r>
          </a:p>
          <a:p>
            <a:pPr algn="l"/>
            <a:r>
              <a:rPr lang="en-UZ" sz="1800" dirty="0"/>
              <a:t>Computer Engineering, 3rd semester</a:t>
            </a:r>
          </a:p>
        </p:txBody>
      </p:sp>
      <p:pic>
        <p:nvPicPr>
          <p:cNvPr id="4" name="Picture 3">
            <a:extLst>
              <a:ext uri="{FF2B5EF4-FFF2-40B4-BE49-F238E27FC236}">
                <a16:creationId xmlns:a16="http://schemas.microsoft.com/office/drawing/2014/main" id="{248A4848-FFF2-C9E9-0A26-5A4C46EB427C}"/>
              </a:ext>
            </a:extLst>
          </p:cNvPr>
          <p:cNvPicPr>
            <a:picLocks noChangeAspect="1"/>
          </p:cNvPicPr>
          <p:nvPr/>
        </p:nvPicPr>
        <p:blipFill>
          <a:blip r:embed="rId2">
            <a:extLst>
              <a:ext uri="{837473B0-CC2E-450A-ABE3-18F120FF3D39}">
                <a1611:picAttrSrcUrl xmlns:a1611="http://schemas.microsoft.com/office/drawing/2016/11/main" r:id="rId3"/>
              </a:ext>
            </a:extLst>
          </a:blip>
          <a:srcRect l="12836" r="12836"/>
          <a:stretch/>
        </p:blipFill>
        <p:spPr>
          <a:xfrm>
            <a:off x="5349241" y="10"/>
            <a:ext cx="6842759" cy="6857990"/>
          </a:xfrm>
          <a:prstGeom prst="rect">
            <a:avLst/>
          </a:prstGeom>
        </p:spPr>
      </p:pic>
      <p:sp>
        <p:nvSpPr>
          <p:cNvPr id="5" name="TextBox 4">
            <a:extLst>
              <a:ext uri="{FF2B5EF4-FFF2-40B4-BE49-F238E27FC236}">
                <a16:creationId xmlns:a16="http://schemas.microsoft.com/office/drawing/2014/main" id="{70A4D4F4-9B0D-4EEE-0ACF-BE202F90BAE8}"/>
              </a:ext>
            </a:extLst>
          </p:cNvPr>
          <p:cNvSpPr txBox="1"/>
          <p:nvPr/>
        </p:nvSpPr>
        <p:spPr>
          <a:xfrm>
            <a:off x="966952" y="2911366"/>
            <a:ext cx="2437847" cy="646331"/>
          </a:xfrm>
          <a:prstGeom prst="rect">
            <a:avLst/>
          </a:prstGeom>
          <a:noFill/>
        </p:spPr>
        <p:txBody>
          <a:bodyPr wrap="none" rtlCol="0">
            <a:spAutoFit/>
          </a:bodyPr>
          <a:lstStyle/>
          <a:p>
            <a:r>
              <a:rPr lang="en-UZ" dirty="0"/>
              <a:t>Due Date 14.09.2025</a:t>
            </a:r>
          </a:p>
          <a:p>
            <a:endParaRPr lang="en-UZ" dirty="0"/>
          </a:p>
        </p:txBody>
      </p:sp>
    </p:spTree>
    <p:extLst>
      <p:ext uri="{BB962C8B-B14F-4D97-AF65-F5344CB8AC3E}">
        <p14:creationId xmlns:p14="http://schemas.microsoft.com/office/powerpoint/2010/main" val="3581132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7483A-09B0-BA31-721B-031D57162DAC}"/>
              </a:ext>
            </a:extLst>
          </p:cNvPr>
          <p:cNvSpPr>
            <a:spLocks noGrp="1"/>
          </p:cNvSpPr>
          <p:nvPr>
            <p:ph type="title"/>
          </p:nvPr>
        </p:nvSpPr>
        <p:spPr>
          <a:xfrm>
            <a:off x="1524000" y="971366"/>
            <a:ext cx="9144000" cy="625221"/>
          </a:xfrm>
        </p:spPr>
        <p:txBody>
          <a:bodyPr>
            <a:normAutofit fontScale="90000"/>
          </a:bodyPr>
          <a:lstStyle/>
          <a:p>
            <a:r>
              <a:rPr lang="en-UZ" dirty="0"/>
              <a:t>HW task: Mockup test</a:t>
            </a:r>
          </a:p>
        </p:txBody>
      </p:sp>
      <p:pic>
        <p:nvPicPr>
          <p:cNvPr id="4" name="Content Placeholder 3">
            <a:extLst>
              <a:ext uri="{FF2B5EF4-FFF2-40B4-BE49-F238E27FC236}">
                <a16:creationId xmlns:a16="http://schemas.microsoft.com/office/drawing/2014/main" id="{2BE9CA49-BDA0-D14B-82E0-BC99C1BB3803}"/>
              </a:ext>
            </a:extLst>
          </p:cNvPr>
          <p:cNvPicPr>
            <a:picLocks noGrp="1" noChangeAspect="1"/>
          </p:cNvPicPr>
          <p:nvPr>
            <p:ph idx="1"/>
          </p:nvPr>
        </p:nvPicPr>
        <p:blipFill>
          <a:blip r:embed="rId2"/>
          <a:srcRect t="11294"/>
          <a:stretch/>
        </p:blipFill>
        <p:spPr>
          <a:xfrm>
            <a:off x="1524000" y="1580405"/>
            <a:ext cx="8418786" cy="5107161"/>
          </a:xfrm>
          <a:prstGeom prst="rect">
            <a:avLst/>
          </a:prstGeom>
        </p:spPr>
      </p:pic>
    </p:spTree>
    <p:extLst>
      <p:ext uri="{BB962C8B-B14F-4D97-AF65-F5344CB8AC3E}">
        <p14:creationId xmlns:p14="http://schemas.microsoft.com/office/powerpoint/2010/main" val="1873372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5154-B84F-BDB0-6AF3-10613CB95226}"/>
              </a:ext>
            </a:extLst>
          </p:cNvPr>
          <p:cNvSpPr>
            <a:spLocks noGrp="1"/>
          </p:cNvSpPr>
          <p:nvPr>
            <p:ph type="title"/>
          </p:nvPr>
        </p:nvSpPr>
        <p:spPr>
          <a:xfrm>
            <a:off x="698097" y="42041"/>
            <a:ext cx="9144000" cy="626206"/>
          </a:xfrm>
        </p:spPr>
        <p:txBody>
          <a:bodyPr>
            <a:normAutofit fontScale="90000"/>
          </a:bodyPr>
          <a:lstStyle/>
          <a:p>
            <a:r>
              <a:rPr lang="en-UZ" u="sng" dirty="0">
                <a:solidFill>
                  <a:srgbClr val="002060"/>
                </a:solidFill>
              </a:rPr>
              <a:t>COMPANY</a:t>
            </a:r>
            <a:r>
              <a:rPr lang="en-UZ" dirty="0">
                <a:solidFill>
                  <a:srgbClr val="002060"/>
                </a:solidFill>
              </a:rPr>
              <a:t> DB Instances</a:t>
            </a:r>
          </a:p>
        </p:txBody>
      </p:sp>
      <p:pic>
        <p:nvPicPr>
          <p:cNvPr id="4" name="Picture 4">
            <a:extLst>
              <a:ext uri="{FF2B5EF4-FFF2-40B4-BE49-F238E27FC236}">
                <a16:creationId xmlns:a16="http://schemas.microsoft.com/office/drawing/2014/main" id="{969C5AF9-56E3-595D-3C4D-CDF3BA2D18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511"/>
          <a:stretch/>
        </p:blipFill>
        <p:spPr bwMode="auto">
          <a:xfrm>
            <a:off x="1030014" y="882868"/>
            <a:ext cx="9301814" cy="556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9278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975AE-A729-CEF6-4406-4906B27D0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F3650-6E83-98E7-7F32-5DB4EBA2B59F}"/>
              </a:ext>
            </a:extLst>
          </p:cNvPr>
          <p:cNvSpPr>
            <a:spLocks noGrp="1"/>
          </p:cNvSpPr>
          <p:nvPr>
            <p:ph type="title"/>
          </p:nvPr>
        </p:nvSpPr>
        <p:spPr>
          <a:xfrm>
            <a:off x="698097" y="42041"/>
            <a:ext cx="9144000" cy="626206"/>
          </a:xfrm>
        </p:spPr>
        <p:txBody>
          <a:bodyPr>
            <a:normAutofit fontScale="90000"/>
          </a:bodyPr>
          <a:lstStyle/>
          <a:p>
            <a:r>
              <a:rPr lang="en-UZ" u="sng" dirty="0">
                <a:solidFill>
                  <a:srgbClr val="002060"/>
                </a:solidFill>
              </a:rPr>
              <a:t>COMPANY</a:t>
            </a:r>
            <a:r>
              <a:rPr lang="en-UZ" dirty="0">
                <a:solidFill>
                  <a:srgbClr val="002060"/>
                </a:solidFill>
              </a:rPr>
              <a:t> DB Instances</a:t>
            </a:r>
          </a:p>
        </p:txBody>
      </p:sp>
      <p:pic>
        <p:nvPicPr>
          <p:cNvPr id="3" name="Picture 4">
            <a:extLst>
              <a:ext uri="{FF2B5EF4-FFF2-40B4-BE49-F238E27FC236}">
                <a16:creationId xmlns:a16="http://schemas.microsoft.com/office/drawing/2014/main" id="{613000E3-797F-CA6D-88CF-6EFF8E9A3C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51"/>
          <a:stretch>
            <a:fillRect/>
          </a:stretch>
        </p:blipFill>
        <p:spPr bwMode="auto">
          <a:xfrm>
            <a:off x="698097" y="759372"/>
            <a:ext cx="9780717" cy="6032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8767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BC09C-8FF0-4A33-ED9A-93B98FE5E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AAB7F-4309-F968-0937-BAAF87D08BDE}"/>
              </a:ext>
            </a:extLst>
          </p:cNvPr>
          <p:cNvSpPr>
            <a:spLocks noGrp="1"/>
          </p:cNvSpPr>
          <p:nvPr>
            <p:ph type="title"/>
          </p:nvPr>
        </p:nvSpPr>
        <p:spPr>
          <a:xfrm>
            <a:off x="698097" y="42041"/>
            <a:ext cx="9144000" cy="626206"/>
          </a:xfrm>
        </p:spPr>
        <p:txBody>
          <a:bodyPr>
            <a:noAutofit/>
          </a:bodyPr>
          <a:lstStyle/>
          <a:p>
            <a:r>
              <a:rPr lang="en-US" sz="2800" dirty="0">
                <a:solidFill>
                  <a:srgbClr val="002060"/>
                </a:solidFill>
                <a:effectLst/>
                <a:latin typeface="Helvetica" pitchFamily="2" charset="0"/>
              </a:rPr>
              <a:t>a. Insert &lt;'</a:t>
            </a:r>
            <a:r>
              <a:rPr lang="en-US" sz="2800" dirty="0" err="1">
                <a:solidFill>
                  <a:srgbClr val="002060"/>
                </a:solidFill>
                <a:effectLst/>
                <a:latin typeface="Helvetica" pitchFamily="2" charset="0"/>
              </a:rPr>
              <a:t>ProductA</a:t>
            </a:r>
            <a:r>
              <a:rPr lang="en-US" sz="2800" dirty="0">
                <a:solidFill>
                  <a:srgbClr val="002060"/>
                </a:solidFill>
                <a:effectLst/>
                <a:latin typeface="Helvetica" pitchFamily="2" charset="0"/>
              </a:rPr>
              <a:t>', 4, 'Bellaire', 2&gt; into PROJECT.</a:t>
            </a:r>
          </a:p>
        </p:txBody>
      </p:sp>
      <p:sp>
        <p:nvSpPr>
          <p:cNvPr id="5" name="TextBox 4">
            <a:extLst>
              <a:ext uri="{FF2B5EF4-FFF2-40B4-BE49-F238E27FC236}">
                <a16:creationId xmlns:a16="http://schemas.microsoft.com/office/drawing/2014/main" id="{8BA106B3-04B9-C8B2-08B2-46724F2CEDBC}"/>
              </a:ext>
            </a:extLst>
          </p:cNvPr>
          <p:cNvSpPr txBox="1"/>
          <p:nvPr/>
        </p:nvSpPr>
        <p:spPr>
          <a:xfrm>
            <a:off x="1545021" y="1240221"/>
            <a:ext cx="9772099" cy="5078313"/>
          </a:xfrm>
          <a:prstGeom prst="rect">
            <a:avLst/>
          </a:prstGeom>
          <a:noFill/>
        </p:spPr>
        <p:txBody>
          <a:bodyPr wrap="none" rtlCol="0">
            <a:spAutoFit/>
          </a:bodyPr>
          <a:lstStyle/>
          <a:p>
            <a:r>
              <a:rPr lang="en-UZ" dirty="0"/>
              <a:t>PROJECT table has attributes of </a:t>
            </a:r>
            <a:r>
              <a:rPr lang="en-US" dirty="0" err="1"/>
              <a:t>Pname</a:t>
            </a:r>
            <a:r>
              <a:rPr lang="en-US" dirty="0"/>
              <a:t>, </a:t>
            </a:r>
            <a:r>
              <a:rPr lang="en-US" dirty="0" err="1"/>
              <a:t>Pnumber</a:t>
            </a:r>
            <a:r>
              <a:rPr lang="en-US" dirty="0"/>
              <a:t>, </a:t>
            </a:r>
            <a:r>
              <a:rPr lang="en-US" dirty="0" err="1"/>
              <a:t>Plocation</a:t>
            </a:r>
            <a:r>
              <a:rPr lang="en-US" dirty="0"/>
              <a:t>, </a:t>
            </a:r>
            <a:r>
              <a:rPr lang="en-US" dirty="0" err="1"/>
              <a:t>Dnum</a:t>
            </a:r>
            <a:r>
              <a:rPr lang="en-US" dirty="0"/>
              <a:t>. </a:t>
            </a:r>
          </a:p>
          <a:p>
            <a:endParaRPr lang="en-US" dirty="0"/>
          </a:p>
          <a:p>
            <a:r>
              <a:rPr lang="en-US" dirty="0"/>
              <a:t>We are given to insert </a:t>
            </a:r>
            <a:r>
              <a:rPr lang="en-US" sz="1800" dirty="0">
                <a:solidFill>
                  <a:srgbClr val="002060"/>
                </a:solidFill>
                <a:effectLst/>
                <a:latin typeface="Helvetica" pitchFamily="2" charset="0"/>
              </a:rPr>
              <a:t>&lt;'</a:t>
            </a:r>
            <a:r>
              <a:rPr lang="en-US" sz="1800" dirty="0" err="1">
                <a:solidFill>
                  <a:srgbClr val="002060"/>
                </a:solidFill>
                <a:effectLst/>
                <a:latin typeface="Helvetica" pitchFamily="2" charset="0"/>
              </a:rPr>
              <a:t>ProductA</a:t>
            </a:r>
            <a:r>
              <a:rPr lang="en-US" sz="1800" dirty="0">
                <a:solidFill>
                  <a:srgbClr val="002060"/>
                </a:solidFill>
                <a:effectLst/>
                <a:latin typeface="Helvetica" pitchFamily="2" charset="0"/>
              </a:rPr>
              <a:t>', 4, 'Bellaire’, 2&gt; </a:t>
            </a:r>
            <a:r>
              <a:rPr lang="en-US" dirty="0"/>
              <a:t>into this table and should discuss all </a:t>
            </a:r>
          </a:p>
          <a:p>
            <a:r>
              <a:rPr lang="en-US" dirty="0"/>
              <a:t>Integrity constraints violations which can occur.</a:t>
            </a:r>
          </a:p>
          <a:p>
            <a:endParaRPr lang="en-US" dirty="0"/>
          </a:p>
          <a:p>
            <a:r>
              <a:rPr lang="en-US" dirty="0"/>
              <a:t>First of all, </a:t>
            </a:r>
            <a:r>
              <a:rPr lang="en-US" dirty="0" err="1"/>
              <a:t>Pname</a:t>
            </a:r>
            <a:r>
              <a:rPr lang="en-US" dirty="0"/>
              <a:t> which is the name of product column has no possible violations when we</a:t>
            </a:r>
          </a:p>
          <a:p>
            <a:r>
              <a:rPr lang="en-US" dirty="0" err="1"/>
              <a:t>Instert</a:t>
            </a:r>
            <a:r>
              <a:rPr lang="en-US" dirty="0"/>
              <a:t> ‘</a:t>
            </a:r>
            <a:r>
              <a:rPr lang="en-US" dirty="0" err="1"/>
              <a:t>ProductA</a:t>
            </a:r>
            <a:r>
              <a:rPr lang="en-US" dirty="0"/>
              <a:t>’, even it might have constraints like unique or primary. </a:t>
            </a:r>
          </a:p>
          <a:p>
            <a:endParaRPr lang="en-US" dirty="0"/>
          </a:p>
          <a:p>
            <a:r>
              <a:rPr lang="en-US" dirty="0"/>
              <a:t>Secondly, </a:t>
            </a:r>
            <a:r>
              <a:rPr lang="en-US" sz="1800" dirty="0">
                <a:solidFill>
                  <a:srgbClr val="002060"/>
                </a:solidFill>
                <a:effectLst/>
                <a:latin typeface="Helvetica" pitchFamily="2" charset="0"/>
              </a:rPr>
              <a:t>4 </a:t>
            </a:r>
            <a:r>
              <a:rPr lang="en-US" dirty="0"/>
              <a:t>to </a:t>
            </a:r>
            <a:r>
              <a:rPr lang="en-US" dirty="0" err="1"/>
              <a:t>Pnumber</a:t>
            </a:r>
            <a:r>
              <a:rPr lang="en-US" dirty="0"/>
              <a:t> attribute: this looks also no having integrity violations because </a:t>
            </a:r>
          </a:p>
          <a:p>
            <a:r>
              <a:rPr lang="en-US" dirty="0"/>
              <a:t>4 as a </a:t>
            </a:r>
            <a:r>
              <a:rPr lang="en-US" dirty="0" err="1"/>
              <a:t>Pnumber</a:t>
            </a:r>
            <a:r>
              <a:rPr lang="en-US" dirty="0"/>
              <a:t> is new value to the PROJECT instance. </a:t>
            </a:r>
          </a:p>
          <a:p>
            <a:endParaRPr lang="en-US" dirty="0"/>
          </a:p>
          <a:p>
            <a:r>
              <a:rPr lang="en-US" dirty="0"/>
              <a:t>Thirdly, </a:t>
            </a:r>
            <a:r>
              <a:rPr lang="en-US" dirty="0" err="1"/>
              <a:t>Plocation</a:t>
            </a:r>
            <a:r>
              <a:rPr lang="en-US" dirty="0"/>
              <a:t> have no integrity constraint violations like </a:t>
            </a:r>
            <a:r>
              <a:rPr lang="en-US" dirty="0" err="1"/>
              <a:t>Pname</a:t>
            </a:r>
            <a:r>
              <a:rPr lang="en-US" dirty="0"/>
              <a:t> when </a:t>
            </a:r>
            <a:r>
              <a:rPr lang="en-US" dirty="0" err="1"/>
              <a:t>insterting</a:t>
            </a:r>
            <a:r>
              <a:rPr lang="en-US" dirty="0"/>
              <a:t> ‘Bellaire’</a:t>
            </a:r>
          </a:p>
          <a:p>
            <a:endParaRPr lang="en-US" dirty="0"/>
          </a:p>
          <a:p>
            <a:r>
              <a:rPr lang="en-US" dirty="0"/>
              <a:t>Finally, here is the thing: 2 is being </a:t>
            </a:r>
            <a:r>
              <a:rPr lang="en-US" dirty="0" err="1"/>
              <a:t>insterted</a:t>
            </a:r>
            <a:r>
              <a:rPr lang="en-US" dirty="0"/>
              <a:t> to </a:t>
            </a:r>
            <a:r>
              <a:rPr lang="en-US" dirty="0" err="1"/>
              <a:t>Dnum</a:t>
            </a:r>
            <a:r>
              <a:rPr lang="en-US" dirty="0"/>
              <a:t> which is Department Number, </a:t>
            </a:r>
          </a:p>
          <a:p>
            <a:r>
              <a:rPr lang="en-US" dirty="0"/>
              <a:t>but considering </a:t>
            </a:r>
            <a:r>
              <a:rPr lang="en-US" dirty="0" err="1"/>
              <a:t>Dnum</a:t>
            </a:r>
            <a:r>
              <a:rPr lang="en-US" dirty="0"/>
              <a:t> has foreign key constraint and referencing to DEPARTMENT table, </a:t>
            </a:r>
          </a:p>
          <a:p>
            <a:r>
              <a:rPr lang="en-US" dirty="0"/>
              <a:t>it will cause Violation of referential integrity error. </a:t>
            </a:r>
            <a:br>
              <a:rPr lang="en-US" dirty="0"/>
            </a:br>
            <a:r>
              <a:rPr lang="en-US" dirty="0"/>
              <a:t>And thus, our query to insert a new product to PROJECT table fails! </a:t>
            </a:r>
          </a:p>
          <a:p>
            <a:endParaRPr lang="en-US" dirty="0"/>
          </a:p>
        </p:txBody>
      </p:sp>
    </p:spTree>
    <p:extLst>
      <p:ext uri="{BB962C8B-B14F-4D97-AF65-F5344CB8AC3E}">
        <p14:creationId xmlns:p14="http://schemas.microsoft.com/office/powerpoint/2010/main" val="1123757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37498-188C-FA0A-DA66-391297995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C32BA-3717-DD0A-C810-EF2C426463C7}"/>
              </a:ext>
            </a:extLst>
          </p:cNvPr>
          <p:cNvSpPr>
            <a:spLocks noGrp="1"/>
          </p:cNvSpPr>
          <p:nvPr>
            <p:ph type="title"/>
          </p:nvPr>
        </p:nvSpPr>
        <p:spPr>
          <a:xfrm>
            <a:off x="698097" y="42041"/>
            <a:ext cx="9144000" cy="626206"/>
          </a:xfrm>
        </p:spPr>
        <p:txBody>
          <a:bodyPr>
            <a:noAutofit/>
          </a:bodyPr>
          <a:lstStyle/>
          <a:p>
            <a:r>
              <a:rPr lang="en-US" sz="2400" dirty="0">
                <a:solidFill>
                  <a:srgbClr val="002060"/>
                </a:solidFill>
                <a:effectLst/>
                <a:latin typeface="Helvetica" pitchFamily="2" charset="0"/>
              </a:rPr>
              <a:t>b. INSERT &lt;'677678989', NULL, '40.0'&gt; INTO WORKS_ON.</a:t>
            </a:r>
          </a:p>
        </p:txBody>
      </p:sp>
      <p:sp>
        <p:nvSpPr>
          <p:cNvPr id="5" name="TextBox 4">
            <a:extLst>
              <a:ext uri="{FF2B5EF4-FFF2-40B4-BE49-F238E27FC236}">
                <a16:creationId xmlns:a16="http://schemas.microsoft.com/office/drawing/2014/main" id="{1421A656-9A62-59C9-FA6F-077A9635414B}"/>
              </a:ext>
            </a:extLst>
          </p:cNvPr>
          <p:cNvSpPr txBox="1"/>
          <p:nvPr/>
        </p:nvSpPr>
        <p:spPr>
          <a:xfrm>
            <a:off x="1545021" y="1240221"/>
            <a:ext cx="9459310" cy="5355312"/>
          </a:xfrm>
          <a:prstGeom prst="rect">
            <a:avLst/>
          </a:prstGeom>
          <a:noFill/>
        </p:spPr>
        <p:txBody>
          <a:bodyPr wrap="square" rtlCol="0">
            <a:spAutoFit/>
          </a:bodyPr>
          <a:lstStyle/>
          <a:p>
            <a:r>
              <a:rPr lang="en-UZ" dirty="0"/>
              <a:t>WORKS_ON table has attributes of: </a:t>
            </a:r>
            <a:br>
              <a:rPr lang="en-UZ" dirty="0"/>
            </a:br>
            <a:r>
              <a:rPr lang="en-US" b="1" dirty="0" err="1"/>
              <a:t>Essn</a:t>
            </a:r>
            <a:r>
              <a:rPr lang="en-US" dirty="0"/>
              <a:t> </a:t>
            </a:r>
            <a:r>
              <a:rPr lang="en-US" dirty="0" err="1"/>
              <a:t>refercening</a:t>
            </a:r>
            <a:r>
              <a:rPr lang="en-US" dirty="0"/>
              <a:t> to </a:t>
            </a:r>
            <a:r>
              <a:rPr lang="en-US" dirty="0" err="1"/>
              <a:t>Essn</a:t>
            </a:r>
            <a:r>
              <a:rPr lang="en-US" dirty="0"/>
              <a:t> of an employee, </a:t>
            </a:r>
            <a:br>
              <a:rPr lang="en-US" dirty="0"/>
            </a:br>
            <a:r>
              <a:rPr lang="en-US" b="1" dirty="0" err="1"/>
              <a:t>Pno</a:t>
            </a:r>
            <a:r>
              <a:rPr lang="en-US" b="1" dirty="0"/>
              <a:t> </a:t>
            </a:r>
            <a:r>
              <a:rPr lang="en-US" dirty="0" err="1"/>
              <a:t>refercening</a:t>
            </a:r>
            <a:r>
              <a:rPr lang="en-US" dirty="0"/>
              <a:t> to </a:t>
            </a:r>
            <a:r>
              <a:rPr lang="en-US" b="1" dirty="0" err="1"/>
              <a:t>Pno</a:t>
            </a:r>
            <a:r>
              <a:rPr lang="en-US" dirty="0"/>
              <a:t> of project number, </a:t>
            </a:r>
          </a:p>
          <a:p>
            <a:r>
              <a:rPr lang="en-US" b="1" dirty="0"/>
              <a:t>Hours</a:t>
            </a:r>
            <a:r>
              <a:rPr lang="en-US" dirty="0"/>
              <a:t> defining worked hours of an employee</a:t>
            </a:r>
          </a:p>
          <a:p>
            <a:endParaRPr lang="en-US" dirty="0"/>
          </a:p>
          <a:p>
            <a:r>
              <a:rPr lang="en-US" dirty="0"/>
              <a:t>We are given to insert </a:t>
            </a:r>
            <a:r>
              <a:rPr lang="en-US" sz="1800" dirty="0">
                <a:solidFill>
                  <a:srgbClr val="002060"/>
                </a:solidFill>
                <a:effectLst/>
                <a:latin typeface="Helvetica" pitchFamily="2" charset="0"/>
              </a:rPr>
              <a:t>&lt;'</a:t>
            </a:r>
            <a:r>
              <a:rPr lang="en-US" sz="1800" dirty="0" err="1">
                <a:solidFill>
                  <a:srgbClr val="002060"/>
                </a:solidFill>
                <a:effectLst/>
                <a:latin typeface="Helvetica" pitchFamily="2" charset="0"/>
              </a:rPr>
              <a:t>ProductA</a:t>
            </a:r>
            <a:r>
              <a:rPr lang="en-US" sz="1800" dirty="0">
                <a:solidFill>
                  <a:srgbClr val="002060"/>
                </a:solidFill>
                <a:effectLst/>
                <a:latin typeface="Helvetica" pitchFamily="2" charset="0"/>
              </a:rPr>
              <a:t>', 4, 'Bellaire’, 2&gt; </a:t>
            </a:r>
            <a:r>
              <a:rPr lang="en-US" dirty="0"/>
              <a:t>into this table and should discuss all </a:t>
            </a:r>
          </a:p>
          <a:p>
            <a:r>
              <a:rPr lang="en-US" dirty="0"/>
              <a:t>Integrity constraints violations which can occur.</a:t>
            </a:r>
          </a:p>
          <a:p>
            <a:endParaRPr lang="en-US" dirty="0"/>
          </a:p>
          <a:p>
            <a:r>
              <a:rPr lang="en-US" dirty="0"/>
              <a:t>First of all, </a:t>
            </a:r>
            <a:r>
              <a:rPr lang="en-US" b="1" dirty="0" err="1"/>
              <a:t>Essn</a:t>
            </a:r>
            <a:r>
              <a:rPr lang="en-US" dirty="0"/>
              <a:t> which is the employee </a:t>
            </a:r>
            <a:r>
              <a:rPr lang="en-US" dirty="0" err="1"/>
              <a:t>ssn</a:t>
            </a:r>
            <a:r>
              <a:rPr lang="en-US" dirty="0"/>
              <a:t> column must match to some employee in EMPLOYEE table, but here ‘677678989’ is not found in employee list, so this will cause foreign key violation.</a:t>
            </a:r>
            <a:br>
              <a:rPr lang="en-US" dirty="0"/>
            </a:br>
            <a:endParaRPr lang="en-US" dirty="0"/>
          </a:p>
          <a:p>
            <a:r>
              <a:rPr lang="en-US" dirty="0"/>
              <a:t>Secondly, </a:t>
            </a:r>
            <a:r>
              <a:rPr lang="en-US" b="1" dirty="0" err="1"/>
              <a:t>Pno</a:t>
            </a:r>
            <a:r>
              <a:rPr lang="en-US" dirty="0"/>
              <a:t> is set to NULL, but this should also match with some project number in PROJECT table. Since NULL is not valid here, it makes another referential integrity problem.</a:t>
            </a:r>
            <a:br>
              <a:rPr lang="en-US" dirty="0"/>
            </a:br>
            <a:r>
              <a:rPr lang="en-US" dirty="0"/>
              <a:t>Thirdly, </a:t>
            </a:r>
            <a:r>
              <a:rPr lang="en-US" b="1" dirty="0"/>
              <a:t>Hours</a:t>
            </a:r>
            <a:r>
              <a:rPr lang="en-US" dirty="0"/>
              <a:t> has value 40.0 and that looks fine because it is numeric and no constraint violated here.</a:t>
            </a:r>
            <a:br>
              <a:rPr lang="en-US" dirty="0"/>
            </a:br>
            <a:r>
              <a:rPr lang="en-US" dirty="0"/>
              <a:t>Finally, the insert query fails because both </a:t>
            </a:r>
            <a:r>
              <a:rPr lang="en-US" b="1" dirty="0" err="1"/>
              <a:t>Essn</a:t>
            </a:r>
            <a:r>
              <a:rPr lang="en-US" dirty="0"/>
              <a:t> and </a:t>
            </a:r>
            <a:r>
              <a:rPr lang="en-US" b="1" dirty="0" err="1"/>
              <a:t>Pno</a:t>
            </a:r>
            <a:r>
              <a:rPr lang="en-US" dirty="0"/>
              <a:t> are not valid with respect to foreign keys.</a:t>
            </a:r>
          </a:p>
        </p:txBody>
      </p:sp>
    </p:spTree>
    <p:extLst>
      <p:ext uri="{BB962C8B-B14F-4D97-AF65-F5344CB8AC3E}">
        <p14:creationId xmlns:p14="http://schemas.microsoft.com/office/powerpoint/2010/main" val="2037392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DB97D-F187-ECE6-CE30-5DC888D54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BC668-73BF-6517-8B1D-4582CF0FB6B0}"/>
              </a:ext>
            </a:extLst>
          </p:cNvPr>
          <p:cNvSpPr>
            <a:spLocks noGrp="1"/>
          </p:cNvSpPr>
          <p:nvPr>
            <p:ph type="title"/>
          </p:nvPr>
        </p:nvSpPr>
        <p:spPr>
          <a:xfrm>
            <a:off x="698097" y="42041"/>
            <a:ext cx="9144000" cy="626206"/>
          </a:xfrm>
        </p:spPr>
        <p:txBody>
          <a:bodyPr>
            <a:noAutofit/>
          </a:bodyPr>
          <a:lstStyle/>
          <a:p>
            <a:r>
              <a:rPr lang="en-US" sz="2000" dirty="0">
                <a:solidFill>
                  <a:srgbClr val="002060"/>
                </a:solidFill>
                <a:latin typeface="Helvetica" pitchFamily="2" charset="0"/>
              </a:rPr>
              <a:t>c</a:t>
            </a:r>
            <a:r>
              <a:rPr lang="en-US" sz="2000" dirty="0">
                <a:solidFill>
                  <a:srgbClr val="002060"/>
                </a:solidFill>
                <a:effectLst/>
                <a:latin typeface="Helvetica" pitchFamily="2" charset="0"/>
              </a:rPr>
              <a:t>. EMPLOYEE table has attributes like </a:t>
            </a:r>
            <a:r>
              <a:rPr lang="en-US" sz="2000" dirty="0" err="1">
                <a:solidFill>
                  <a:srgbClr val="002060"/>
                </a:solidFill>
                <a:effectLst/>
                <a:latin typeface="Helvetica" pitchFamily="2" charset="0"/>
              </a:rPr>
              <a:t>Ssn</a:t>
            </a:r>
            <a:r>
              <a:rPr lang="en-US" sz="2000" dirty="0">
                <a:solidFill>
                  <a:srgbClr val="002060"/>
                </a:solidFill>
                <a:effectLst/>
                <a:latin typeface="Helvetica" pitchFamily="2" charset="0"/>
              </a:rPr>
              <a:t>, Name, Salary, </a:t>
            </a:r>
            <a:r>
              <a:rPr lang="en-US" sz="2000" dirty="0" err="1">
                <a:solidFill>
                  <a:srgbClr val="002060"/>
                </a:solidFill>
                <a:effectLst/>
                <a:latin typeface="Helvetica" pitchFamily="2" charset="0"/>
              </a:rPr>
              <a:t>Super_ssn</a:t>
            </a:r>
            <a:r>
              <a:rPr lang="en-US" sz="2000" dirty="0">
                <a:solidFill>
                  <a:srgbClr val="002060"/>
                </a:solidFill>
                <a:effectLst/>
                <a:latin typeface="Helvetica" pitchFamily="2" charset="0"/>
              </a:rPr>
              <a:t>, </a:t>
            </a:r>
            <a:r>
              <a:rPr lang="en-US" sz="2000" dirty="0" err="1">
                <a:solidFill>
                  <a:srgbClr val="002060"/>
                </a:solidFill>
                <a:effectLst/>
                <a:latin typeface="Helvetica" pitchFamily="2" charset="0"/>
              </a:rPr>
              <a:t>Dno</a:t>
            </a:r>
            <a:r>
              <a:rPr lang="en-US" sz="2000" dirty="0">
                <a:solidFill>
                  <a:srgbClr val="002060"/>
                </a:solidFill>
                <a:effectLst/>
                <a:latin typeface="Helvetica" pitchFamily="2" charset="0"/>
              </a:rPr>
              <a:t> etc.</a:t>
            </a:r>
          </a:p>
        </p:txBody>
      </p:sp>
      <p:sp>
        <p:nvSpPr>
          <p:cNvPr id="5" name="TextBox 4">
            <a:extLst>
              <a:ext uri="{FF2B5EF4-FFF2-40B4-BE49-F238E27FC236}">
                <a16:creationId xmlns:a16="http://schemas.microsoft.com/office/drawing/2014/main" id="{E428C778-B5D4-74C2-AF43-B416B4300653}"/>
              </a:ext>
            </a:extLst>
          </p:cNvPr>
          <p:cNvSpPr txBox="1"/>
          <p:nvPr/>
        </p:nvSpPr>
        <p:spPr>
          <a:xfrm>
            <a:off x="1545021" y="1240221"/>
            <a:ext cx="9459310" cy="4801314"/>
          </a:xfrm>
          <a:prstGeom prst="rect">
            <a:avLst/>
          </a:prstGeom>
          <a:noFill/>
        </p:spPr>
        <p:txBody>
          <a:bodyPr wrap="square" rtlCol="0">
            <a:spAutoFit/>
          </a:bodyPr>
          <a:lstStyle/>
          <a:p>
            <a:r>
              <a:rPr lang="en-US" u="sng" dirty="0"/>
              <a:t>EMPLOYEE table has attributes like </a:t>
            </a:r>
            <a:r>
              <a:rPr lang="en-US" u="sng" dirty="0" err="1"/>
              <a:t>Ssn</a:t>
            </a:r>
            <a:r>
              <a:rPr lang="en-US" u="sng" dirty="0"/>
              <a:t>, Name, Salary, </a:t>
            </a:r>
            <a:r>
              <a:rPr lang="en-US" u="sng" dirty="0" err="1"/>
              <a:t>Super_ssn</a:t>
            </a:r>
            <a:r>
              <a:rPr lang="en-US" u="sng" dirty="0"/>
              <a:t>, </a:t>
            </a:r>
            <a:r>
              <a:rPr lang="en-US" u="sng" dirty="0" err="1"/>
              <a:t>Dno</a:t>
            </a:r>
            <a:r>
              <a:rPr lang="en-US" u="sng" dirty="0"/>
              <a:t> etc.  </a:t>
            </a:r>
            <a:br>
              <a:rPr lang="en-US" dirty="0"/>
            </a:br>
            <a:br>
              <a:rPr lang="en-US" dirty="0"/>
            </a:br>
            <a:r>
              <a:rPr lang="en-US" dirty="0"/>
              <a:t>We are given to delete employee with </a:t>
            </a:r>
            <a:r>
              <a:rPr lang="en-US" dirty="0" err="1"/>
              <a:t>Ssn</a:t>
            </a:r>
            <a:r>
              <a:rPr lang="en-US" dirty="0"/>
              <a:t> = ‘987654321’ and should discuss all Integrity constraints violations which can occur.  </a:t>
            </a:r>
            <a:br>
              <a:rPr lang="en-US" dirty="0"/>
            </a:br>
            <a:br>
              <a:rPr lang="en-US" dirty="0"/>
            </a:br>
            <a:r>
              <a:rPr lang="en-US" dirty="0"/>
              <a:t>First of all, this employee is manager of DEPARTMENT 4 (Administration), so deleting her will leave department manager reference broken. </a:t>
            </a:r>
            <a:br>
              <a:rPr lang="en-US" dirty="0"/>
            </a:br>
            <a:br>
              <a:rPr lang="en-US" dirty="0"/>
            </a:br>
            <a:r>
              <a:rPr lang="en-US" dirty="0"/>
              <a:t>Secondly, she is also supervisor (</a:t>
            </a:r>
            <a:r>
              <a:rPr lang="en-US" dirty="0" err="1"/>
              <a:t>Super_ssn</a:t>
            </a:r>
            <a:r>
              <a:rPr lang="en-US" dirty="0"/>
              <a:t>) for employees Alicia and Ahmad. If deleted, their supervisor link is lost and becomes invalid. </a:t>
            </a:r>
            <a:br>
              <a:rPr lang="en-US" dirty="0"/>
            </a:br>
            <a:br>
              <a:rPr lang="en-US" dirty="0"/>
            </a:br>
            <a:r>
              <a:rPr lang="en-US" dirty="0"/>
              <a:t>Thirdly, she is working on some projects in WORKS_ON table, so deleting will break those references too. </a:t>
            </a:r>
            <a:br>
              <a:rPr lang="en-US" dirty="0"/>
            </a:br>
            <a:br>
              <a:rPr lang="en-US" dirty="0"/>
            </a:br>
            <a:r>
              <a:rPr lang="en-US" dirty="0"/>
              <a:t>Finally, she also has dependent (Abner) in DEPENDENT table, and deleting her will make that tuple dangling. So without cascade delete this is impossible because of many foreign key violations. With cascade option, the delete would remove department 4.</a:t>
            </a:r>
          </a:p>
        </p:txBody>
      </p:sp>
    </p:spTree>
    <p:extLst>
      <p:ext uri="{BB962C8B-B14F-4D97-AF65-F5344CB8AC3E}">
        <p14:creationId xmlns:p14="http://schemas.microsoft.com/office/powerpoint/2010/main" val="3217507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1733E-3852-4153-12C0-6960D0504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D18FB-9721-B852-93DC-C1A4E8B0D9BD}"/>
              </a:ext>
            </a:extLst>
          </p:cNvPr>
          <p:cNvSpPr>
            <a:spLocks noGrp="1"/>
          </p:cNvSpPr>
          <p:nvPr>
            <p:ph type="title"/>
          </p:nvPr>
        </p:nvSpPr>
        <p:spPr>
          <a:xfrm>
            <a:off x="698097" y="42041"/>
            <a:ext cx="9144000" cy="626206"/>
          </a:xfrm>
        </p:spPr>
        <p:txBody>
          <a:bodyPr>
            <a:noAutofit/>
          </a:bodyPr>
          <a:lstStyle/>
          <a:p>
            <a:r>
              <a:rPr lang="en-US" sz="2000" dirty="0">
                <a:solidFill>
                  <a:srgbClr val="002060"/>
                </a:solidFill>
                <a:effectLst/>
                <a:latin typeface="Helvetica" pitchFamily="2" charset="0"/>
              </a:rPr>
              <a:t>d. PROJECT table has attributes of </a:t>
            </a:r>
            <a:r>
              <a:rPr lang="en-US" sz="2000" dirty="0" err="1">
                <a:solidFill>
                  <a:srgbClr val="002060"/>
                </a:solidFill>
                <a:effectLst/>
                <a:latin typeface="Helvetica" pitchFamily="2" charset="0"/>
              </a:rPr>
              <a:t>Pname</a:t>
            </a:r>
            <a:r>
              <a:rPr lang="en-US" sz="2000" dirty="0">
                <a:solidFill>
                  <a:srgbClr val="002060"/>
                </a:solidFill>
                <a:effectLst/>
                <a:latin typeface="Helvetica" pitchFamily="2" charset="0"/>
              </a:rPr>
              <a:t>, </a:t>
            </a:r>
            <a:r>
              <a:rPr lang="en-US" sz="2000" dirty="0" err="1">
                <a:solidFill>
                  <a:srgbClr val="002060"/>
                </a:solidFill>
                <a:effectLst/>
                <a:latin typeface="Helvetica" pitchFamily="2" charset="0"/>
              </a:rPr>
              <a:t>Pnumber</a:t>
            </a:r>
            <a:r>
              <a:rPr lang="en-US" sz="2000" dirty="0">
                <a:solidFill>
                  <a:srgbClr val="002060"/>
                </a:solidFill>
                <a:effectLst/>
                <a:latin typeface="Helvetica" pitchFamily="2" charset="0"/>
              </a:rPr>
              <a:t>, </a:t>
            </a:r>
            <a:r>
              <a:rPr lang="en-US" sz="2000" dirty="0" err="1">
                <a:solidFill>
                  <a:srgbClr val="002060"/>
                </a:solidFill>
                <a:effectLst/>
                <a:latin typeface="Helvetica" pitchFamily="2" charset="0"/>
              </a:rPr>
              <a:t>Plocation</a:t>
            </a:r>
            <a:r>
              <a:rPr lang="en-US" sz="2000" dirty="0">
                <a:solidFill>
                  <a:srgbClr val="002060"/>
                </a:solidFill>
                <a:effectLst/>
                <a:latin typeface="Helvetica" pitchFamily="2" charset="0"/>
              </a:rPr>
              <a:t>, </a:t>
            </a:r>
            <a:r>
              <a:rPr lang="en-US" sz="2000" dirty="0" err="1">
                <a:solidFill>
                  <a:srgbClr val="002060"/>
                </a:solidFill>
                <a:effectLst/>
                <a:latin typeface="Helvetica" pitchFamily="2" charset="0"/>
              </a:rPr>
              <a:t>Dnum</a:t>
            </a:r>
            <a:r>
              <a:rPr lang="en-US" sz="2000" dirty="0">
                <a:solidFill>
                  <a:srgbClr val="002060"/>
                </a:solidFill>
                <a:effectLst/>
                <a:latin typeface="Helvetica" pitchFamily="2" charset="0"/>
              </a:rPr>
              <a:t>.</a:t>
            </a:r>
          </a:p>
        </p:txBody>
      </p:sp>
      <p:sp>
        <p:nvSpPr>
          <p:cNvPr id="5" name="TextBox 4">
            <a:extLst>
              <a:ext uri="{FF2B5EF4-FFF2-40B4-BE49-F238E27FC236}">
                <a16:creationId xmlns:a16="http://schemas.microsoft.com/office/drawing/2014/main" id="{48D0612C-D39B-5776-96DC-9AFF7612973C}"/>
              </a:ext>
            </a:extLst>
          </p:cNvPr>
          <p:cNvSpPr txBox="1"/>
          <p:nvPr/>
        </p:nvSpPr>
        <p:spPr>
          <a:xfrm>
            <a:off x="1545021" y="1240221"/>
            <a:ext cx="9459310" cy="3693319"/>
          </a:xfrm>
          <a:prstGeom prst="rect">
            <a:avLst/>
          </a:prstGeom>
          <a:noFill/>
        </p:spPr>
        <p:txBody>
          <a:bodyPr wrap="square" rtlCol="0">
            <a:spAutoFit/>
          </a:bodyPr>
          <a:lstStyle/>
          <a:p>
            <a:r>
              <a:rPr lang="en-US" dirty="0"/>
              <a:t>PROJECT table has attributes of </a:t>
            </a:r>
            <a:r>
              <a:rPr lang="en-US" dirty="0" err="1"/>
              <a:t>Pname</a:t>
            </a:r>
            <a:r>
              <a:rPr lang="en-US" dirty="0"/>
              <a:t>, </a:t>
            </a:r>
            <a:r>
              <a:rPr lang="en-US" dirty="0" err="1"/>
              <a:t>Pnumber</a:t>
            </a:r>
            <a:r>
              <a:rPr lang="en-US" dirty="0"/>
              <a:t>, </a:t>
            </a:r>
            <a:r>
              <a:rPr lang="en-US" dirty="0" err="1"/>
              <a:t>Plocation</a:t>
            </a:r>
            <a:r>
              <a:rPr lang="en-US" dirty="0"/>
              <a:t>, </a:t>
            </a:r>
            <a:r>
              <a:rPr lang="en-US" dirty="0" err="1"/>
              <a:t>Dnum</a:t>
            </a:r>
            <a:r>
              <a:rPr lang="en-US" dirty="0"/>
              <a:t>.</a:t>
            </a:r>
          </a:p>
          <a:p>
            <a:endParaRPr lang="en-US" dirty="0"/>
          </a:p>
          <a:p>
            <a:r>
              <a:rPr lang="en-US" dirty="0"/>
              <a:t>We are given to delete project with </a:t>
            </a:r>
            <a:r>
              <a:rPr lang="en-US" dirty="0" err="1"/>
              <a:t>Pname</a:t>
            </a:r>
            <a:r>
              <a:rPr lang="en-US" dirty="0"/>
              <a:t> = ‘</a:t>
            </a:r>
            <a:r>
              <a:rPr lang="en-US" dirty="0" err="1"/>
              <a:t>ProductX</a:t>
            </a:r>
            <a:r>
              <a:rPr lang="en-US" dirty="0"/>
              <a:t>’ and should discuss all Integrity constraints violations which can occur.</a:t>
            </a:r>
          </a:p>
          <a:p>
            <a:endParaRPr lang="en-US" dirty="0"/>
          </a:p>
          <a:p>
            <a:r>
              <a:rPr lang="en-US" dirty="0" err="1"/>
              <a:t>Pnumber</a:t>
            </a:r>
            <a:r>
              <a:rPr lang="en-US" dirty="0"/>
              <a:t> of this project is 1, and this number is used in WORKS_ON table by some employees.</a:t>
            </a:r>
            <a:br>
              <a:rPr lang="en-US" dirty="0"/>
            </a:br>
            <a:endParaRPr lang="en-US" dirty="0"/>
          </a:p>
          <a:p>
            <a:r>
              <a:rPr lang="en-US" dirty="0"/>
              <a:t>Secondly, if we try to delete without cascade those WORKS_ON tuples will point to nothing, so that is violation of referential integrity.</a:t>
            </a:r>
            <a:br>
              <a:rPr lang="en-US" dirty="0"/>
            </a:br>
            <a:endParaRPr lang="en-US" dirty="0"/>
          </a:p>
          <a:p>
            <a:r>
              <a:rPr lang="en-US" dirty="0"/>
              <a:t>With cascade option those WORKS_ON tuples which have </a:t>
            </a:r>
            <a:r>
              <a:rPr lang="en-US" dirty="0" err="1"/>
              <a:t>Pno</a:t>
            </a:r>
            <a:r>
              <a:rPr lang="en-US" dirty="0"/>
              <a:t> = 1 will be deleted automatically and then there is no violation.</a:t>
            </a:r>
          </a:p>
        </p:txBody>
      </p:sp>
    </p:spTree>
    <p:extLst>
      <p:ext uri="{BB962C8B-B14F-4D97-AF65-F5344CB8AC3E}">
        <p14:creationId xmlns:p14="http://schemas.microsoft.com/office/powerpoint/2010/main" val="11762585"/>
      </p:ext>
    </p:extLst>
  </p:cSld>
  <p:clrMapOvr>
    <a:masterClrMapping/>
  </p:clrMapOvr>
</p:sld>
</file>

<file path=ppt/theme/theme1.xml><?xml version="1.0" encoding="utf-8"?>
<a:theme xmlns:a="http://schemas.openxmlformats.org/drawingml/2006/main" name="PrismaticVTI">
  <a:themeElements>
    <a:clrScheme name="Prismatic">
      <a:dk1>
        <a:sysClr val="windowText" lastClr="000000"/>
      </a:dk1>
      <a:lt1>
        <a:sysClr val="window" lastClr="FFFFFF"/>
      </a:lt1>
      <a:dk2>
        <a:srgbClr val="131523"/>
      </a:dk2>
      <a:lt2>
        <a:srgbClr val="E7E6E6"/>
      </a:lt2>
      <a:accent1>
        <a:srgbClr val="42B3BD"/>
      </a:accent1>
      <a:accent2>
        <a:srgbClr val="51B851"/>
      </a:accent2>
      <a:accent3>
        <a:srgbClr val="B5A603"/>
      </a:accent3>
      <a:accent4>
        <a:srgbClr val="F58505"/>
      </a:accent4>
      <a:accent5>
        <a:srgbClr val="FA2481"/>
      </a:accent5>
      <a:accent6>
        <a:srgbClr val="9CA2AB"/>
      </a:accent6>
      <a:hlink>
        <a:srgbClr val="FA2481"/>
      </a:hlink>
      <a:folHlink>
        <a:srgbClr val="57618E"/>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docProps/app.xml><?xml version="1.0" encoding="utf-8"?>
<Properties xmlns="http://schemas.openxmlformats.org/officeDocument/2006/extended-properties" xmlns:vt="http://schemas.openxmlformats.org/officeDocument/2006/docPropsVTypes">
  <TotalTime>61</TotalTime>
  <Words>729</Words>
  <Application>Microsoft Macintosh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Aharoni</vt:lpstr>
      <vt:lpstr>Arial</vt:lpstr>
      <vt:lpstr>Avenir Next LT Pro</vt:lpstr>
      <vt:lpstr>Helvetica</vt:lpstr>
      <vt:lpstr>PrismaticVTI</vt:lpstr>
      <vt:lpstr>Homework #2 DBMS</vt:lpstr>
      <vt:lpstr>HW task: Mockup test</vt:lpstr>
      <vt:lpstr>COMPANY DB Instances</vt:lpstr>
      <vt:lpstr>COMPANY DB Instances</vt:lpstr>
      <vt:lpstr>a. Insert &lt;'ProductA', 4, 'Bellaire', 2&gt; into PROJECT.</vt:lpstr>
      <vt:lpstr>b. INSERT &lt;'677678989', NULL, '40.0'&gt; INTO WORKS_ON.</vt:lpstr>
      <vt:lpstr>c. EMPLOYEE table has attributes like Ssn, Name, Salary, Super_ssn, Dno etc.</vt:lpstr>
      <vt:lpstr>d. PROJECT table has attributes of Pname, Pnumber, Plocation, Dnum.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유수프존</dc:creator>
  <cp:lastModifiedBy>유수프존</cp:lastModifiedBy>
  <cp:revision>1</cp:revision>
  <dcterms:created xsi:type="dcterms:W3CDTF">2025-09-15T14:43:44Z</dcterms:created>
  <dcterms:modified xsi:type="dcterms:W3CDTF">2025-09-15T15:45:03Z</dcterms:modified>
</cp:coreProperties>
</file>