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fonts/font1.fntdata" ContentType="application/x-fontdata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65" r:id="rId5"/>
    <p:sldId id="263" r:id="rId6"/>
    <p:sldId id="266" r:id="rId7"/>
    <p:sldId id="268" r:id="rId8"/>
    <p:sldId id="275" r:id="rId9"/>
    <p:sldId id="270" r:id="rId10"/>
    <p:sldId id="271" r:id="rId11"/>
  </p:sldIdLst>
  <p:sldSz cx="12192000" cy="6858000"/>
  <p:notesSz cx="6858000" cy="9144000"/>
  <p:embeddedFontLst>
    <p:embeddedFont>
      <p:font typeface="Gilroy" panose="00000400000000000000" charset="0"/>
      <p:regular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2" userDrawn="1">
          <p15:clr>
            <a:srgbClr val="A4A3A4"/>
          </p15:clr>
        </p15:guide>
        <p15:guide id="2" pos="3844" userDrawn="1">
          <p15:clr>
            <a:srgbClr val="A4A3A4"/>
          </p15:clr>
        </p15:guide>
        <p15:guide id="3" pos="364" userDrawn="1">
          <p15:clr>
            <a:srgbClr val="A4A3A4"/>
          </p15:clr>
        </p15:guide>
        <p15:guide id="4" pos="7384" userDrawn="1">
          <p15:clr>
            <a:srgbClr val="A4A3A4"/>
          </p15:clr>
        </p15:guide>
        <p15:guide id="5" orient="horz" pos="508" userDrawn="1">
          <p15:clr>
            <a:srgbClr val="A4A3A4"/>
          </p15:clr>
        </p15:guide>
        <p15:guide id="6" orient="horz" pos="3854" userDrawn="1">
          <p15:clr>
            <a:srgbClr val="A4A3A4"/>
          </p15:clr>
        </p15:guide>
        <p15:guide id="7" orient="horz" pos="6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485"/>
    <a:srgbClr val="0066FF"/>
    <a:srgbClr val="00CC99"/>
    <a:srgbClr val="A9E7F8"/>
    <a:srgbClr val="EBFFFA"/>
    <a:srgbClr val="D9FFF5"/>
    <a:srgbClr val="005BE2"/>
    <a:srgbClr val="0000FF"/>
    <a:srgbClr val="0099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2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626" y="1158"/>
      </p:cViewPr>
      <p:guideLst>
        <p:guide orient="horz" pos="2262"/>
        <p:guide pos="3844"/>
        <p:guide pos="364"/>
        <p:guide pos="7384"/>
        <p:guide orient="horz" pos="508"/>
        <p:guide orient="horz" pos="3854"/>
        <p:guide orient="horz" pos="6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3.xml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Topic 1</c:v>
                </c:pt>
                <c:pt idx="1">
                  <c:v>Topic  2</c:v>
                </c:pt>
                <c:pt idx="2">
                  <c:v>Topic  3</c:v>
                </c:pt>
                <c:pt idx="3">
                  <c:v>Topic 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rgbClr val="0066FF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Topic 1</c:v>
                </c:pt>
                <c:pt idx="1">
                  <c:v>Topic  2</c:v>
                </c:pt>
                <c:pt idx="2">
                  <c:v>Topic  3</c:v>
                </c:pt>
                <c:pt idx="3">
                  <c:v>Topic 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9868008"/>
        <c:axId val="1309864408"/>
      </c:barChart>
      <c:catAx>
        <c:axId val="1309868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309864408"/>
        <c:crosses val="autoZero"/>
        <c:auto val="1"/>
        <c:lblAlgn val="ctr"/>
        <c:lblOffset val="100"/>
        <c:noMultiLvlLbl val="0"/>
      </c:catAx>
      <c:valAx>
        <c:axId val="130986440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D9FFF5">
                  <a:alpha val="23000"/>
                </a:srgb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309868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f74bd9b-3e74-4c24-aa14-afdaf9e16894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0066FF"/>
            </a:solidFill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005BE2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/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8.2</c:v>
                </c:pt>
                <c:pt idx="1">
                  <c:v>3.2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d99e23-dfe8-4111-bc86-8584743e7e6c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704020202020204" pitchFamily="34" charset="0"/>
                <a:ea typeface="Arial" panose="020B0704020202020204" pitchFamily="34" charset="0"/>
              </a:rPr>
            </a:fld>
            <a:endParaRPr lang="zh-CN" altLang="en-US">
              <a:latin typeface="Arial" panose="020B0704020202020204" pitchFamily="34" charset="0"/>
              <a:ea typeface="Arial" panose="020B07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fld id="{B5648BAE-2246-4BCB-B82B-9BECDCAB5E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704020202020204" pitchFamily="34" charset="0"/>
                <a:ea typeface="Arial" panose="020B0704020202020204" pitchFamily="34" charset="0"/>
              </a:defRPr>
            </a:lvl1pPr>
          </a:lstStyle>
          <a:p>
            <a:fld id="{99552231-DADC-45C8-9F5E-10A047ABF8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704020202020204" pitchFamily="34" charset="0"/>
        <a:ea typeface="Arial" panose="020B07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CCA1E-9CB7-48A3-BE44-2F4FCECEAD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24D6F4-FBAA-4967-BD2F-4B2A3848966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microsoft.com/office/2007/relationships/hdphoto" Target="../media/image9.wdp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4.xml"/><Relationship Id="rId10" Type="http://schemas.openxmlformats.org/officeDocument/2006/relationships/tags" Target="../tags/tag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microsoft.com/office/2007/relationships/hdphoto" Target="../media/image23.wdp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.xml"/><Relationship Id="rId6" Type="http://schemas.microsoft.com/office/2007/relationships/hdphoto" Target="../media/image25.wdp"/><Relationship Id="rId5" Type="http://schemas.openxmlformats.org/officeDocument/2006/relationships/image" Target="../media/image24.png"/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microsoft.com/office/2007/relationships/hdphoto" Target="../media/image4.wdp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hdphoto" Target="../media/image23.wdp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/>
          <p:cNvSpPr/>
          <p:nvPr/>
        </p:nvSpPr>
        <p:spPr>
          <a:xfrm>
            <a:off x="-1" y="-1"/>
            <a:ext cx="9836209" cy="5794049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44457" y="1373763"/>
            <a:ext cx="4779119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en-US" sz="4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704020202020204" pitchFamily="34" charset="0"/>
              </a:rPr>
              <a:t>Portable Towel Drying Bag</a:t>
            </a:r>
            <a:endParaRPr lang="en-US" altLang="en-US" sz="4800" b="0" i="0" u="none" strike="noStrike" dirty="0">
              <a:solidFill>
                <a:schemeClr val="bg1"/>
              </a:solidFill>
              <a:effectLst/>
              <a:latin typeface="+mj-lt"/>
              <a:ea typeface="Arial" panose="020B07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6759" y="4105293"/>
            <a:ext cx="4126565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050" dirty="0">
                <a:solidFill>
                  <a:schemeClr val="bg1"/>
                </a:solidFill>
              </a:rPr>
              <a:t>A consumer product designed to keep towels dry and hygienic</a:t>
            </a:r>
            <a:endParaRPr lang="en-US" altLang="en-US" sz="1050" dirty="0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4457" y="1131318"/>
            <a:ext cx="425524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54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US" sz="1200" dirty="0">
                <a:ea typeface="Arial" panose="020B0704020202020204" pitchFamily="34" charset="0"/>
              </a:rPr>
              <a:t>Smart DryBag:</a:t>
            </a:r>
            <a:endParaRPr lang="en-US" altLang="en-US" sz="1200" dirty="0">
              <a:ea typeface="Arial" panose="020B07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93522" y="6201601"/>
            <a:ext cx="2256222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en-US" sz="1100" b="0" i="0" u="none" strike="noStrike" dirty="0">
                <a:solidFill>
                  <a:schemeClr val="bg2">
                    <a:lumMod val="50000"/>
                  </a:schemeClr>
                </a:solidFill>
                <a:effectLst/>
                <a:ea typeface="Arial" panose="020B0704020202020204" pitchFamily="34" charset="0"/>
              </a:rPr>
              <a:t>www.smartdrybag.com</a:t>
            </a:r>
            <a:endParaRPr lang="en-US" altLang="en-US" sz="1100" b="0" i="0" u="none" strike="noStrike" dirty="0">
              <a:solidFill>
                <a:schemeClr val="bg2">
                  <a:lumMod val="50000"/>
                </a:schemeClr>
              </a:solidFill>
              <a:effectLst/>
              <a:ea typeface="Arial" panose="020B07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04418" y="6201601"/>
            <a:ext cx="28939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100" dirty="0">
                <a:solidFill>
                  <a:srgbClr val="00CC99"/>
                </a:solidFill>
                <a:ea typeface="Arial" panose="020B0704020202020204" pitchFamily="34" charset="0"/>
              </a:rPr>
              <a:t>PRESENTATION</a:t>
            </a:r>
            <a:endParaRPr lang="en-US" altLang="zh-CN" sz="1100" dirty="0"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23809" y="6118633"/>
            <a:ext cx="1925515" cy="422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1100" dirty="0">
                <a:solidFill>
                  <a:srgbClr val="00CC99"/>
                </a:solidFill>
                <a:latin typeface="+mj-lt"/>
                <a:ea typeface="Arial" panose="020B0704020202020204" pitchFamily="34" charset="0"/>
              </a:rPr>
              <a:t>Presented to:</a:t>
            </a:r>
            <a:endParaRPr lang="en-US" altLang="zh-CN" sz="1100" dirty="0">
              <a:solidFill>
                <a:srgbClr val="00CC99"/>
              </a:solidFill>
              <a:latin typeface="+mj-lt"/>
              <a:ea typeface="Arial" panose="020B0704020202020204" pitchFamily="34" charset="0"/>
            </a:endParaRPr>
          </a:p>
          <a:p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WILLIAMS JOHN LINCOLN</a:t>
            </a:r>
            <a:endParaRPr lang="en-US" altLang="zh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42175" y="6118860"/>
            <a:ext cx="1924685" cy="422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00CC99"/>
                </a:solidFill>
                <a:latin typeface="+mj-lt"/>
                <a:ea typeface="Arial" panose="020B0704020202020204" pitchFamily="34" charset="0"/>
              </a:rPr>
              <a:t>Prepared by:</a:t>
            </a:r>
            <a:endParaRPr lang="en-US" altLang="zh-CN" sz="1100" dirty="0">
              <a:solidFill>
                <a:srgbClr val="00CC99"/>
              </a:solidFill>
              <a:latin typeface="+mj-lt"/>
              <a:ea typeface="Arial" panose="020B0704020202020204" pitchFamily="34" charset="0"/>
            </a:endParaRPr>
          </a:p>
          <a:p>
            <a:r>
              <a:rPr lang="en-US" altLang="zh-CN" sz="1050" dirty="0">
                <a:solidFill>
                  <a:schemeClr val="bg2">
                    <a:lumMod val="50000"/>
                  </a:schemeClr>
                </a:solidFill>
              </a:rPr>
              <a:t>AKHMEDOV YUSUFJON</a:t>
            </a:r>
            <a:endParaRPr lang="en-US" altLang="zh-CN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700754" y="4742916"/>
            <a:ext cx="1632247" cy="452927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/>
          <p:cNvSpPr/>
          <p:nvPr/>
        </p:nvSpPr>
        <p:spPr>
          <a:xfrm>
            <a:off x="2478281" y="4724400"/>
            <a:ext cx="7332292" cy="45292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848189" y="4822683"/>
            <a:ext cx="1750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100" dirty="0">
                <a:solidFill>
                  <a:schemeClr val="bg1"/>
                </a:solidFill>
                <a:ea typeface="Arial" panose="020B0704020202020204" pitchFamily="34" charset="0"/>
              </a:rPr>
              <a:t>PRESENTATION</a:t>
            </a:r>
            <a:endParaRPr lang="en-US" altLang="zh-CN" sz="1100" dirty="0">
              <a:solidFill>
                <a:schemeClr val="bg1"/>
              </a:solidFill>
              <a:ea typeface="Arial" panose="020B0704020202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726017" y="4807503"/>
            <a:ext cx="4255241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54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en-US" sz="1200" dirty="0">
                <a:solidFill>
                  <a:srgbClr val="00CC99"/>
                </a:solidFill>
                <a:ea typeface="Arial" panose="020B0704020202020204" pitchFamily="34" charset="0"/>
              </a:rPr>
              <a:t>Entrepreneurship Assignment</a:t>
            </a:r>
            <a:endParaRPr lang="en-US" altLang="en-US" sz="1200" dirty="0"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5174166" y="4962293"/>
            <a:ext cx="4449336" cy="0"/>
          </a:xfrm>
          <a:prstGeom prst="line">
            <a:avLst/>
          </a:prstGeom>
          <a:ln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 rot="5400000" flipH="1">
            <a:off x="944786" y="3757962"/>
            <a:ext cx="103427" cy="412595"/>
            <a:chOff x="5452946" y="434898"/>
            <a:chExt cx="345687" cy="1379033"/>
          </a:xfrm>
        </p:grpSpPr>
        <p:sp>
          <p:nvSpPr>
            <p:cNvPr id="43" name="椭圆 42"/>
            <p:cNvSpPr/>
            <p:nvPr/>
          </p:nvSpPr>
          <p:spPr>
            <a:xfrm>
              <a:off x="5452946" y="434898"/>
              <a:ext cx="345687" cy="345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5452946" y="944137"/>
              <a:ext cx="345687" cy="345687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5452946" y="1468244"/>
              <a:ext cx="345687" cy="345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40" y="180975"/>
            <a:ext cx="884555" cy="835660"/>
          </a:xfrm>
          <a:prstGeom prst="rect">
            <a:avLst/>
          </a:prstGeom>
        </p:spPr>
      </p:pic>
      <p:pic>
        <p:nvPicPr>
          <p:cNvPr id="5" name="Picture 4" descr="pMMS9VQN_422d0e9691064588b94330c1f7cacd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190" y="-52070"/>
            <a:ext cx="4448810" cy="59321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单圆角 7"/>
          <p:cNvSpPr/>
          <p:nvPr/>
        </p:nvSpPr>
        <p:spPr>
          <a:xfrm>
            <a:off x="0" y="2286000"/>
            <a:ext cx="12192000" cy="4572000"/>
          </a:xfrm>
          <a:prstGeom prst="round1Rect">
            <a:avLst>
              <a:gd name="adj" fmla="val 50000"/>
            </a:avLst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844316" y="7792963"/>
          <a:ext cx="2191131" cy="512445"/>
        </p:xfrm>
        <a:graphic>
          <a:graphicData uri="http://schemas.openxmlformats.org/drawingml/2006/table">
            <a:tbl>
              <a:tblPr/>
              <a:tblGrid>
                <a:gridCol w="2191131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704020202020204" pitchFamily="34" charset="0"/>
                          <a:ea typeface="Arial" panose="020B0704020202020204" pitchFamily="34" charset="0"/>
                        </a:rPr>
                        <a:t>包含：封面页，目录页，产品功能页（包含新旧功能对比等），图表页，结束页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704020202020204" pitchFamily="34" charset="0"/>
                        <a:ea typeface="Arial" panose="020B0704020202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9762" y="3740533"/>
            <a:ext cx="2120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2000" dirty="0">
                <a:ln>
                  <a:noFill/>
                </a:ln>
                <a:effectLst/>
                <a:ea typeface="Arial" panose="020B0704020202020204" pitchFamily="34" charset="0"/>
              </a:rPr>
              <a:t>Product </a:t>
            </a:r>
            <a:endParaRPr lang="en-US" altLang="zh-CN" sz="2000" dirty="0">
              <a:ln>
                <a:noFill/>
              </a:ln>
              <a:effectLst/>
              <a:ea typeface="Arial" panose="020B0704020202020204" pitchFamily="34" charset="0"/>
            </a:endParaRPr>
          </a:p>
          <a:p>
            <a:pPr algn="l"/>
            <a:r>
              <a:rPr lang="en-US" altLang="zh-CN" sz="2000" dirty="0">
                <a:ln>
                  <a:noFill/>
                </a:ln>
                <a:effectLst/>
                <a:ea typeface="Arial" panose="020B0704020202020204" pitchFamily="34" charset="0"/>
              </a:rPr>
              <a:t>introduce</a:t>
            </a:r>
            <a:endParaRPr lang="zh-CN" altLang="en-US" sz="2000" dirty="0">
              <a:ln>
                <a:noFill/>
              </a:ln>
              <a:effectLst/>
              <a:ea typeface="Arial" panose="020B07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95504" y="3694878"/>
            <a:ext cx="2120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2000" dirty="0">
                <a:ln>
                  <a:noFill/>
                </a:ln>
                <a:effectLst/>
                <a:ea typeface="Arial" panose="020B0704020202020204" pitchFamily="34" charset="0"/>
              </a:rPr>
              <a:t>Product </a:t>
            </a:r>
            <a:endParaRPr lang="en-US" altLang="zh-CN" sz="2000" dirty="0">
              <a:ln>
                <a:noFill/>
              </a:ln>
              <a:effectLst/>
              <a:ea typeface="Arial" panose="020B0704020202020204" pitchFamily="34" charset="0"/>
            </a:endParaRPr>
          </a:p>
          <a:p>
            <a:pPr algn="l"/>
            <a:r>
              <a:rPr lang="en-US" altLang="zh-CN" sz="2000" dirty="0">
                <a:ln>
                  <a:noFill/>
                </a:ln>
                <a:effectLst/>
                <a:ea typeface="Arial" panose="020B0704020202020204" pitchFamily="34" charset="0"/>
              </a:rPr>
              <a:t>Features</a:t>
            </a:r>
            <a:endParaRPr lang="en-US" altLang="zh-CN" sz="2000" dirty="0">
              <a:ln>
                <a:noFill/>
              </a:ln>
              <a:effectLst/>
              <a:ea typeface="Arial" panose="020B07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5046" y="3697522"/>
            <a:ext cx="2120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2000" dirty="0">
                <a:ln>
                  <a:noFill/>
                </a:ln>
                <a:effectLst/>
                <a:ea typeface="Arial" panose="020B0704020202020204" pitchFamily="34" charset="0"/>
              </a:rPr>
              <a:t>Product Advantages</a:t>
            </a:r>
            <a:endParaRPr lang="en-US" altLang="zh-CN" sz="2000" dirty="0">
              <a:ln>
                <a:noFill/>
              </a:ln>
              <a:effectLst/>
              <a:ea typeface="Arial" panose="020B07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93831" y="3694878"/>
            <a:ext cx="21207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2000" dirty="0">
                <a:ln>
                  <a:noFill/>
                </a:ln>
                <a:effectLst/>
                <a:ea typeface="Arial" panose="020B0704020202020204" pitchFamily="34" charset="0"/>
              </a:rPr>
              <a:t>Product Application</a:t>
            </a:r>
            <a:endParaRPr lang="en-US" altLang="zh-CN" sz="2000" dirty="0">
              <a:ln>
                <a:noFill/>
              </a:ln>
              <a:effectLst/>
              <a:ea typeface="Arial" panose="020B07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4293" y="587357"/>
            <a:ext cx="57972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5200" b="0" i="0" u="none" strike="noStrike">
                <a:ln>
                  <a:gradFill>
                    <a:gsLst>
                      <a:gs pos="0">
                        <a:srgbClr val="0000FF"/>
                      </a:gs>
                      <a:gs pos="100000">
                        <a:srgbClr val="FF33CC"/>
                      </a:gs>
                    </a:gsLst>
                    <a:lin ang="5400000" scaled="1"/>
                  </a:gradFill>
                </a:ln>
                <a:noFill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6000" dirty="0">
                <a:ln>
                  <a:noFill/>
                </a:ln>
                <a:solidFill>
                  <a:srgbClr val="00CC99"/>
                </a:solidFill>
                <a:ea typeface="Arial" panose="020B0704020202020204" pitchFamily="34" charset="0"/>
              </a:rPr>
              <a:t>CONTENTS</a:t>
            </a:r>
            <a:endParaRPr lang="en-US" altLang="zh-CN" sz="6000" dirty="0">
              <a:ln>
                <a:noFill/>
              </a:ln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7511" y="1544578"/>
            <a:ext cx="412656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Presentations are communication tools that can be used as speeches, reports, and more.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" name="图片 18" descr="图片包含 室内, 房间, 绿色, 小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97" t="42764" r="14431"/>
          <a:stretch>
            <a:fillRect/>
          </a:stretch>
        </p:blipFill>
        <p:spPr>
          <a:xfrm>
            <a:off x="6278137" y="123593"/>
            <a:ext cx="6014224" cy="3925228"/>
          </a:xfrm>
          <a:custGeom>
            <a:avLst/>
            <a:gdLst>
              <a:gd name="connsiteX0" fmla="*/ 0 w 7824438"/>
              <a:gd name="connsiteY0" fmla="*/ 0 h 3925228"/>
              <a:gd name="connsiteX1" fmla="*/ 7824438 w 7824438"/>
              <a:gd name="connsiteY1" fmla="*/ 0 h 3925228"/>
              <a:gd name="connsiteX2" fmla="*/ 7824438 w 7824438"/>
              <a:gd name="connsiteY2" fmla="*/ 3925228 h 3925228"/>
              <a:gd name="connsiteX3" fmla="*/ 0 w 7824438"/>
              <a:gd name="connsiteY3" fmla="*/ 3925228 h 3925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4438" h="3925228">
                <a:moveTo>
                  <a:pt x="0" y="0"/>
                </a:moveTo>
                <a:lnTo>
                  <a:pt x="7824438" y="0"/>
                </a:lnTo>
                <a:lnTo>
                  <a:pt x="7824438" y="3925228"/>
                </a:lnTo>
                <a:lnTo>
                  <a:pt x="0" y="3925228"/>
                </a:lnTo>
                <a:close/>
              </a:path>
            </a:pathLst>
          </a:custGeom>
        </p:spPr>
      </p:pic>
      <p:sp>
        <p:nvSpPr>
          <p:cNvPr id="20" name="文本框 19"/>
          <p:cNvSpPr txBox="1"/>
          <p:nvPr/>
        </p:nvSpPr>
        <p:spPr>
          <a:xfrm>
            <a:off x="530466" y="4674004"/>
            <a:ext cx="25336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Presentations are communication tools that can be used as speeches, reports, and more.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633141" y="4571999"/>
            <a:ext cx="43489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0246683" y="38802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CC99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rgbClr val="00CC99"/>
              </a:solidFill>
              <a:latin typeface="+mj-lt"/>
            </a:endParaRPr>
          </a:p>
        </p:txBody>
      </p:sp>
      <p:grpSp>
        <p:nvGrpSpPr>
          <p:cNvPr id="28" name="组合 27"/>
          <p:cNvGrpSpPr/>
          <p:nvPr/>
        </p:nvGrpSpPr>
        <p:grpSpPr>
          <a:xfrm rot="5400000" flipH="1">
            <a:off x="944786" y="2453269"/>
            <a:ext cx="103427" cy="412595"/>
            <a:chOff x="5452946" y="434898"/>
            <a:chExt cx="345687" cy="1379033"/>
          </a:xfrm>
        </p:grpSpPr>
        <p:sp>
          <p:nvSpPr>
            <p:cNvPr id="29" name="椭圆 28"/>
            <p:cNvSpPr/>
            <p:nvPr/>
          </p:nvSpPr>
          <p:spPr>
            <a:xfrm>
              <a:off x="5452946" y="434898"/>
              <a:ext cx="345687" cy="345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5452946" y="944137"/>
              <a:ext cx="345687" cy="345687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5452946" y="1468244"/>
              <a:ext cx="345687" cy="3456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: 对角圆角 31"/>
          <p:cNvSpPr/>
          <p:nvPr/>
        </p:nvSpPr>
        <p:spPr>
          <a:xfrm flipH="1">
            <a:off x="577386" y="5430644"/>
            <a:ext cx="2292814" cy="5687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688899" y="5486399"/>
            <a:ext cx="434897" cy="434897"/>
            <a:chOff x="825191" y="5787483"/>
            <a:chExt cx="479502" cy="479502"/>
          </a:xfrm>
        </p:grpSpPr>
        <p:sp>
          <p:nvSpPr>
            <p:cNvPr id="21" name="椭圆 20"/>
            <p:cNvSpPr/>
            <p:nvPr/>
          </p:nvSpPr>
          <p:spPr>
            <a:xfrm>
              <a:off x="825191" y="5787483"/>
              <a:ext cx="479502" cy="479502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rot="5400000">
              <a:off x="983230" y="5977057"/>
              <a:ext cx="187648" cy="12074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1171664" y="5599070"/>
            <a:ext cx="2120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1400" dirty="0">
                <a:ln>
                  <a:noFill/>
                </a:ln>
                <a:solidFill>
                  <a:srgbClr val="0066FF"/>
                </a:solidFill>
                <a:effectLst/>
                <a:ea typeface="Arial" panose="020B0704020202020204" pitchFamily="34" charset="0"/>
              </a:rPr>
              <a:t>Part One</a:t>
            </a:r>
            <a:endParaRPr lang="zh-CN" altLang="en-US" sz="1400" dirty="0">
              <a:ln>
                <a:noFill/>
              </a:ln>
              <a:solidFill>
                <a:srgbClr val="0066FF"/>
              </a:solidFill>
              <a:effectLst/>
              <a:ea typeface="Arial" panose="020B07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69485" y="4674004"/>
            <a:ext cx="25336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Presentations are communication tools that can be used as speeches, reports, and more.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672160" y="4571999"/>
            <a:ext cx="43489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对角圆角 12"/>
          <p:cNvSpPr/>
          <p:nvPr/>
        </p:nvSpPr>
        <p:spPr>
          <a:xfrm flipH="1">
            <a:off x="3616405" y="5430644"/>
            <a:ext cx="2292814" cy="5687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727918" y="5486399"/>
            <a:ext cx="434897" cy="434897"/>
            <a:chOff x="825191" y="5787483"/>
            <a:chExt cx="479502" cy="479502"/>
          </a:xfrm>
        </p:grpSpPr>
        <p:sp>
          <p:nvSpPr>
            <p:cNvPr id="15" name="椭圆 14"/>
            <p:cNvSpPr/>
            <p:nvPr/>
          </p:nvSpPr>
          <p:spPr>
            <a:xfrm>
              <a:off x="825191" y="5787483"/>
              <a:ext cx="479502" cy="479502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rot="5400000">
              <a:off x="983230" y="5977057"/>
              <a:ext cx="187648" cy="12074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4210683" y="5599070"/>
            <a:ext cx="2120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1400" dirty="0">
                <a:ln>
                  <a:noFill/>
                </a:ln>
                <a:solidFill>
                  <a:srgbClr val="0066FF"/>
                </a:solidFill>
                <a:effectLst/>
                <a:ea typeface="Arial" panose="020B0704020202020204" pitchFamily="34" charset="0"/>
              </a:rPr>
              <a:t>Part One</a:t>
            </a:r>
            <a:endParaRPr lang="zh-CN" altLang="en-US" sz="1400" dirty="0">
              <a:ln>
                <a:noFill/>
              </a:ln>
              <a:solidFill>
                <a:srgbClr val="0066FF"/>
              </a:solidFill>
              <a:effectLst/>
              <a:ea typeface="Arial" panose="020B070402020202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75046" y="4674004"/>
            <a:ext cx="25336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Presentations are communication tools that can be used as speeches, reports, and more.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677721" y="4571999"/>
            <a:ext cx="43489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对角圆角 32"/>
          <p:cNvSpPr/>
          <p:nvPr/>
        </p:nvSpPr>
        <p:spPr>
          <a:xfrm flipH="1">
            <a:off x="6621966" y="5430644"/>
            <a:ext cx="2292814" cy="5687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>
          <a:xfrm>
            <a:off x="6733479" y="5486399"/>
            <a:ext cx="434897" cy="434897"/>
            <a:chOff x="825191" y="5787483"/>
            <a:chExt cx="479502" cy="479502"/>
          </a:xfrm>
        </p:grpSpPr>
        <p:sp>
          <p:nvSpPr>
            <p:cNvPr id="35" name="椭圆 34"/>
            <p:cNvSpPr/>
            <p:nvPr/>
          </p:nvSpPr>
          <p:spPr>
            <a:xfrm>
              <a:off x="825191" y="5787483"/>
              <a:ext cx="479502" cy="479502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等腰三角形 35"/>
            <p:cNvSpPr/>
            <p:nvPr/>
          </p:nvSpPr>
          <p:spPr>
            <a:xfrm rot="5400000">
              <a:off x="983230" y="5977057"/>
              <a:ext cx="187648" cy="12074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/>
        </p:nvSpPr>
        <p:spPr>
          <a:xfrm>
            <a:off x="7216244" y="5599070"/>
            <a:ext cx="2120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1400" dirty="0">
                <a:ln>
                  <a:noFill/>
                </a:ln>
                <a:solidFill>
                  <a:srgbClr val="0066FF"/>
                </a:solidFill>
                <a:effectLst/>
                <a:ea typeface="Arial" panose="020B0704020202020204" pitchFamily="34" charset="0"/>
              </a:rPr>
              <a:t>Part One</a:t>
            </a:r>
            <a:endParaRPr lang="zh-CN" altLang="en-US" sz="1400" dirty="0">
              <a:ln>
                <a:noFill/>
              </a:ln>
              <a:solidFill>
                <a:srgbClr val="0066FF"/>
              </a:solidFill>
              <a:effectLst/>
              <a:ea typeface="Arial" panose="020B0704020202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382852" y="4674004"/>
            <a:ext cx="253364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</a:rPr>
              <a:t>Presentations are communication tools that can be used as speeches, reports, and more.</a:t>
            </a:r>
            <a:endParaRPr lang="zh-CN" altLang="en-US" sz="1050" dirty="0">
              <a:solidFill>
                <a:schemeClr val="bg1"/>
              </a:solidFill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9485527" y="4571999"/>
            <a:ext cx="43489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: 对角圆角 39"/>
          <p:cNvSpPr/>
          <p:nvPr/>
        </p:nvSpPr>
        <p:spPr>
          <a:xfrm flipH="1">
            <a:off x="9429772" y="5430644"/>
            <a:ext cx="2292814" cy="568712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/>
        </p:nvGrpSpPr>
        <p:grpSpPr>
          <a:xfrm>
            <a:off x="9541285" y="5486399"/>
            <a:ext cx="434897" cy="434897"/>
            <a:chOff x="825191" y="5787483"/>
            <a:chExt cx="479502" cy="479502"/>
          </a:xfrm>
        </p:grpSpPr>
        <p:sp>
          <p:nvSpPr>
            <p:cNvPr id="42" name="椭圆 41"/>
            <p:cNvSpPr/>
            <p:nvPr/>
          </p:nvSpPr>
          <p:spPr>
            <a:xfrm>
              <a:off x="825191" y="5787483"/>
              <a:ext cx="479502" cy="479502"/>
            </a:xfrm>
            <a:prstGeom prst="ellipse">
              <a:avLst/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等腰三角形 42"/>
            <p:cNvSpPr/>
            <p:nvPr/>
          </p:nvSpPr>
          <p:spPr>
            <a:xfrm rot="5400000">
              <a:off x="983230" y="5977057"/>
              <a:ext cx="187648" cy="120741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文本框 43"/>
          <p:cNvSpPr txBox="1"/>
          <p:nvPr/>
        </p:nvSpPr>
        <p:spPr>
          <a:xfrm>
            <a:off x="10024050" y="5599070"/>
            <a:ext cx="21207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 fontAlgn="ctr">
              <a:defRPr sz="4800" b="0" i="0" u="none" strike="noStrike">
                <a:ln>
                  <a:solidFill>
                    <a:srgbClr val="64E9F5"/>
                  </a:solidFill>
                </a:ln>
                <a:solidFill>
                  <a:schemeClr val="bg1"/>
                </a:solidFill>
                <a:effectLst>
                  <a:outerShdw blurRad="101600" dist="25400" sx="102000" sy="102000" algn="ctr" rotWithShape="0">
                    <a:srgbClr val="64E9F5">
                      <a:alpha val="39000"/>
                    </a:srgbClr>
                  </a:outerShdw>
                </a:effectLst>
                <a:latin typeface="+mj-lt"/>
                <a:ea typeface="Microsoft YaHei" panose="020B0503020204020204" pitchFamily="34" charset="-122"/>
              </a:defRPr>
            </a:lvl1pPr>
          </a:lstStyle>
          <a:p>
            <a:pPr algn="l"/>
            <a:r>
              <a:rPr lang="en-US" altLang="zh-CN" sz="1400" dirty="0">
                <a:ln>
                  <a:noFill/>
                </a:ln>
                <a:solidFill>
                  <a:srgbClr val="0066FF"/>
                </a:solidFill>
                <a:effectLst/>
                <a:ea typeface="Arial" panose="020B0704020202020204" pitchFamily="34" charset="0"/>
              </a:rPr>
              <a:t>Part One</a:t>
            </a:r>
            <a:endParaRPr lang="zh-CN" altLang="en-US" sz="1400" dirty="0">
              <a:ln>
                <a:noFill/>
              </a:ln>
              <a:solidFill>
                <a:srgbClr val="0066FF"/>
              </a:solidFill>
              <a:effectLst/>
              <a:ea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房间的摆设布局&#10;&#10;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6000"/>
                    </a14:imgEffect>
                    <a14:imgEffect>
                      <a14:saturation sat="110000"/>
                    </a14:imgEffect>
                  </a14:imgLayer>
                </a14:imgProps>
              </a:ext>
            </a:extLst>
          </a:blip>
          <a:srcRect l="47125" t="28978" r="1455" b="1"/>
          <a:stretch>
            <a:fillRect/>
          </a:stretch>
        </p:blipFill>
        <p:spPr>
          <a:xfrm flipH="1">
            <a:off x="0" y="1125538"/>
            <a:ext cx="5533708" cy="5732462"/>
          </a:xfrm>
          <a:custGeom>
            <a:avLst/>
            <a:gdLst>
              <a:gd name="connsiteX0" fmla="*/ 5533708 w 5533708"/>
              <a:gd name="connsiteY0" fmla="*/ 0 h 5732462"/>
              <a:gd name="connsiteX1" fmla="*/ 970776 w 5533708"/>
              <a:gd name="connsiteY1" fmla="*/ 0 h 5732462"/>
              <a:gd name="connsiteX2" fmla="*/ 0 w 5533708"/>
              <a:gd name="connsiteY2" fmla="*/ 970776 h 5732462"/>
              <a:gd name="connsiteX3" fmla="*/ 0 w 5533708"/>
              <a:gd name="connsiteY3" fmla="*/ 5732462 h 5732462"/>
              <a:gd name="connsiteX4" fmla="*/ 5533708 w 5533708"/>
              <a:gd name="connsiteY4" fmla="*/ 5732462 h 5732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33708" h="5732462">
                <a:moveTo>
                  <a:pt x="5533708" y="0"/>
                </a:moveTo>
                <a:lnTo>
                  <a:pt x="970776" y="0"/>
                </a:lnTo>
                <a:cubicBezTo>
                  <a:pt x="434631" y="0"/>
                  <a:pt x="0" y="434631"/>
                  <a:pt x="0" y="970776"/>
                </a:cubicBezTo>
                <a:lnTo>
                  <a:pt x="0" y="5732462"/>
                </a:lnTo>
                <a:lnTo>
                  <a:pt x="5533708" y="5732462"/>
                </a:lnTo>
                <a:close/>
              </a:path>
            </a:pathLst>
          </a:custGeom>
        </p:spPr>
      </p:pic>
      <p:sp>
        <p:nvSpPr>
          <p:cNvPr id="4" name="文本框 3"/>
          <p:cNvSpPr txBox="1"/>
          <p:nvPr/>
        </p:nvSpPr>
        <p:spPr>
          <a:xfrm>
            <a:off x="5533708" y="959532"/>
            <a:ext cx="69307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Product introduce</a:t>
            </a:r>
            <a:endParaRPr lang="zh-CN" altLang="en-US" sz="44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683791" y="1792475"/>
            <a:ext cx="1276941" cy="0"/>
          </a:xfrm>
          <a:prstGeom prst="line">
            <a:avLst/>
          </a:prstGeom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3718195" y="2425873"/>
            <a:ext cx="3872775" cy="3739977"/>
          </a:xfrm>
          <a:prstGeom prst="roundRect">
            <a:avLst>
              <a:gd name="adj" fmla="val 11905"/>
            </a:avLst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4809377" y="5302395"/>
            <a:ext cx="1632247" cy="452927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956812" y="5382162"/>
            <a:ext cx="17500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100" dirty="0">
                <a:solidFill>
                  <a:schemeClr val="bg1"/>
                </a:solidFill>
                <a:ea typeface="Arial" panose="020B0704020202020204" pitchFamily="34" charset="0"/>
              </a:rPr>
              <a:t>PRESENTATION</a:t>
            </a:r>
            <a:endParaRPr lang="en-US" altLang="zh-CN" sz="1100" dirty="0">
              <a:solidFill>
                <a:schemeClr val="bg1"/>
              </a:solidFill>
              <a:ea typeface="Arial" panose="020B07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11484" y="2934521"/>
            <a:ext cx="2844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+3,205750</a:t>
            </a:r>
            <a:endParaRPr lang="zh-CN" altLang="en-US" sz="36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03224" y="3530283"/>
            <a:ext cx="228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u="none" strike="noStrike" dirty="0">
                <a:solidFill>
                  <a:schemeClr val="bg1"/>
                </a:solidFill>
                <a:effectLst/>
                <a:latin typeface="+mn-ea"/>
              </a:rPr>
              <a:t>Product Analysis</a:t>
            </a:r>
            <a:endParaRPr lang="en-US" altLang="zh-CN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98518" y="4119461"/>
            <a:ext cx="2844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Presentations are communication tools that can be used as demonstrations, lectures, speeches, reports, and more.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055557" y="2782669"/>
            <a:ext cx="36205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0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85</a:t>
            </a:r>
            <a:r>
              <a:rPr lang="en-US" altLang="zh-CN" sz="4000" dirty="0">
                <a:solidFill>
                  <a:srgbClr val="00CC99"/>
                </a:solidFill>
                <a:latin typeface="+mj-lt"/>
              </a:rPr>
              <a:t>,</a:t>
            </a:r>
            <a:r>
              <a:rPr lang="en-US" altLang="zh-CN" sz="40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60+</a:t>
            </a:r>
            <a:endParaRPr lang="zh-CN" altLang="en-US" sz="40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8071293" y="3588766"/>
            <a:ext cx="344963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800" dirty="0">
                <a:solidFill>
                  <a:srgbClr val="00CC99"/>
                </a:solidFill>
                <a:latin typeface="+mj-lt"/>
              </a:rPr>
              <a:t>Short description</a:t>
            </a:r>
            <a:endParaRPr lang="zh-CN" altLang="en-US" sz="28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092109" y="4686119"/>
            <a:ext cx="37225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rgbClr val="00CC99"/>
              </a:buClr>
              <a:buFont typeface="Arial" panose="020B0704020202020204" pitchFamily="34" charset="0"/>
              <a:buChar char="l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 that can be used as demonstrations, lectures, speeches, reports, and more. 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buClr>
                <a:srgbClr val="00CC99"/>
              </a:buClr>
              <a:buFont typeface="Arial" panose="020B0704020202020204" pitchFamily="34" charset="0"/>
              <a:buChar char="l"/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buClr>
                <a:srgbClr val="00CC99"/>
              </a:buClr>
              <a:buFont typeface="Arial" panose="020B0704020202020204" pitchFamily="34" charset="0"/>
              <a:buChar char="l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 that can be used as demonstrations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092109" y="6167625"/>
            <a:ext cx="3583954" cy="0"/>
          </a:xfrm>
          <a:prstGeom prst="line">
            <a:avLst/>
          </a:prstGeom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8092109" y="4326297"/>
            <a:ext cx="3583954" cy="0"/>
          </a:xfrm>
          <a:prstGeom prst="line">
            <a:avLst/>
          </a:prstGeom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CC99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rgbClr val="00CC99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rgbClr val="00CC99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rgbClr val="00CC99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rgbClr val="00CC99"/>
              </a:solidFill>
              <a:latin typeface="+mj-lt"/>
              <a:ea typeface="+mj-ea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10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 l="48286" t="57775" r="31505" b="17243"/>
          <a:stretch>
            <a:fillRect/>
          </a:stretch>
        </p:blipFill>
        <p:spPr>
          <a:xfrm flipH="1">
            <a:off x="10137008" y="2425873"/>
            <a:ext cx="1191207" cy="1104410"/>
          </a:xfrm>
          <a:prstGeom prst="round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66738" y="959532"/>
            <a:ext cx="69307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Product introduce</a:t>
            </a:r>
            <a:endParaRPr lang="zh-CN" altLang="en-US" sz="44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16821" y="1792475"/>
            <a:ext cx="1276941" cy="0"/>
          </a:xfrm>
          <a:prstGeom prst="line">
            <a:avLst/>
          </a:prstGeom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: 圆角 7"/>
          <p:cNvSpPr/>
          <p:nvPr/>
        </p:nvSpPr>
        <p:spPr>
          <a:xfrm>
            <a:off x="5253226" y="2018551"/>
            <a:ext cx="11186924" cy="4839449"/>
          </a:xfrm>
          <a:prstGeom prst="roundRect">
            <a:avLst>
              <a:gd name="adj" fmla="val 50000"/>
            </a:avLst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46799" y="6201601"/>
            <a:ext cx="28939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100" dirty="0">
                <a:solidFill>
                  <a:srgbClr val="00CC99"/>
                </a:solidFill>
                <a:ea typeface="Arial" panose="020B0704020202020204" pitchFamily="34" charset="0"/>
              </a:rPr>
              <a:t>PRESENTATION</a:t>
            </a:r>
            <a:endParaRPr lang="en-US" altLang="zh-CN" sz="1100" dirty="0"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CC99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rgbClr val="00CC99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rgbClr val="00CC99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rgbClr val="00CC99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rgbClr val="00CC99"/>
              </a:solidFill>
              <a:latin typeface="+mj-lt"/>
              <a:ea typeface="+mj-ea"/>
            </a:endParaRPr>
          </a:p>
        </p:txBody>
      </p:sp>
      <p:pic>
        <p:nvPicPr>
          <p:cNvPr id="13" name="图片 12" descr="房间的摆设布局&#10;&#10;中度可信度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6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5000" r="5000"/>
          <a:stretch>
            <a:fillRect/>
          </a:stretch>
        </p:blipFill>
        <p:spPr>
          <a:xfrm>
            <a:off x="8539161" y="2791455"/>
            <a:ext cx="3145795" cy="3145795"/>
          </a:xfrm>
          <a:prstGeom prst="ellipse">
            <a:avLst/>
          </a:prstGeom>
        </p:spPr>
      </p:pic>
      <p:sp>
        <p:nvSpPr>
          <p:cNvPr id="14" name="椭圆 13"/>
          <p:cNvSpPr/>
          <p:nvPr/>
        </p:nvSpPr>
        <p:spPr>
          <a:xfrm>
            <a:off x="6438901" y="3011710"/>
            <a:ext cx="779334" cy="7793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0" y="3429000"/>
            <a:ext cx="5581650" cy="0"/>
          </a:xfrm>
          <a:prstGeom prst="line">
            <a:avLst/>
          </a:prstGeom>
          <a:ln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/>
          <p:cNvSpPr/>
          <p:nvPr/>
        </p:nvSpPr>
        <p:spPr>
          <a:xfrm>
            <a:off x="3233073" y="3011710"/>
            <a:ext cx="779334" cy="779334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660125" y="3011710"/>
            <a:ext cx="779334" cy="779334"/>
          </a:xfrm>
          <a:prstGeom prst="ellipse">
            <a:avLst/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形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1179" y="3218658"/>
            <a:ext cx="370380" cy="370380"/>
          </a:xfrm>
          <a:prstGeom prst="rect">
            <a:avLst/>
          </a:prstGeom>
        </p:spPr>
      </p:pic>
      <p:pic>
        <p:nvPicPr>
          <p:cNvPr id="24" name="图形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4608" y="3269320"/>
            <a:ext cx="319359" cy="319359"/>
          </a:xfrm>
          <a:prstGeom prst="rect">
            <a:avLst/>
          </a:prstGeom>
        </p:spPr>
      </p:pic>
      <p:pic>
        <p:nvPicPr>
          <p:cNvPr id="26" name="图形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2789" y="3269321"/>
            <a:ext cx="319359" cy="319359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9"/>
            </p:custDataLst>
          </p:nvPr>
        </p:nvSpPr>
        <p:spPr>
          <a:xfrm>
            <a:off x="477496" y="4078011"/>
            <a:ext cx="2223723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dirty="0">
                <a:solidFill>
                  <a:srgbClr val="0066FF"/>
                </a:solidFill>
                <a:latin typeface="+mj-lt"/>
              </a:rPr>
              <a:t>Topic 01</a:t>
            </a:r>
            <a:endParaRPr lang="zh-CN" altLang="en-US" sz="2400" dirty="0">
              <a:solidFill>
                <a:srgbClr val="0066FF"/>
              </a:solidFill>
              <a:latin typeface="+mj-lt"/>
            </a:endParaRPr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2907998" y="4078011"/>
            <a:ext cx="2019602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dirty="0">
                <a:solidFill>
                  <a:srgbClr val="0066FF"/>
                </a:solidFill>
                <a:latin typeface="+mj-lt"/>
              </a:rPr>
              <a:t>Topic 02</a:t>
            </a:r>
            <a:endParaRPr lang="zh-CN" altLang="en-US" sz="2400" dirty="0">
              <a:solidFill>
                <a:srgbClr val="0066FF"/>
              </a:solidFill>
              <a:latin typeface="+mj-lt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6070171" y="4078011"/>
            <a:ext cx="1943529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+mj-lt"/>
              </a:rPr>
              <a:t>Topic 03</a:t>
            </a:r>
            <a:endParaRPr lang="zh-CN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07044" y="4736921"/>
            <a:ext cx="20980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 that can be used as demonstrations, lectures, speeches, reports,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907998" y="4736921"/>
            <a:ext cx="20980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 that can be used as demonstrations, lectures, speeches, reports,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096000" y="4736921"/>
            <a:ext cx="20980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Presentations are communication tools that can be used as demonstrations, lectures, speeches, reports,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C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66738" y="959532"/>
            <a:ext cx="69307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Product Features</a:t>
            </a:r>
            <a:endParaRPr lang="en-US" altLang="zh-CN" sz="44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16821" y="1792475"/>
            <a:ext cx="127694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/>
          <p:cNvSpPr/>
          <p:nvPr/>
        </p:nvSpPr>
        <p:spPr>
          <a:xfrm>
            <a:off x="716822" y="2705100"/>
            <a:ext cx="755649" cy="723900"/>
          </a:xfrm>
          <a:prstGeom prst="roundRect">
            <a:avLst>
              <a:gd name="adj" fmla="val 196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/>
          <p:cNvSpPr/>
          <p:nvPr/>
        </p:nvSpPr>
        <p:spPr>
          <a:xfrm>
            <a:off x="4654186" y="2705100"/>
            <a:ext cx="755649" cy="723900"/>
          </a:xfrm>
          <a:prstGeom prst="roundRect">
            <a:avLst>
              <a:gd name="adj" fmla="val 19671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/>
          <p:cNvSpPr/>
          <p:nvPr/>
        </p:nvSpPr>
        <p:spPr>
          <a:xfrm>
            <a:off x="8641003" y="2705100"/>
            <a:ext cx="755649" cy="723900"/>
          </a:xfrm>
          <a:prstGeom prst="roundRect">
            <a:avLst>
              <a:gd name="adj" fmla="val 196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chemeClr val="bg1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6" name="图形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35725" y="2886076"/>
            <a:ext cx="406299" cy="406299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634" y="2863900"/>
            <a:ext cx="406299" cy="406299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0191" y="2863900"/>
            <a:ext cx="406299" cy="406299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642783" y="2448867"/>
            <a:ext cx="252556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</a:rPr>
              <a:t>Description</a:t>
            </a:r>
            <a:endParaRPr lang="zh-CN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42783" y="2943809"/>
            <a:ext cx="2388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Presentations are communication tools that can be used as demonstrations,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5616774" y="2448867"/>
            <a:ext cx="252556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</a:rPr>
              <a:t>Description</a:t>
            </a:r>
            <a:endParaRPr lang="zh-CN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616774" y="2943809"/>
            <a:ext cx="2388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Presentations are communication tools that can be used as demonstrations,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32" name="文本框 31"/>
          <p:cNvSpPr txBox="1"/>
          <p:nvPr>
            <p:custDataLst>
              <p:tags r:id="rId7"/>
            </p:custDataLst>
          </p:nvPr>
        </p:nvSpPr>
        <p:spPr>
          <a:xfrm>
            <a:off x="9517238" y="2448867"/>
            <a:ext cx="2525564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lt"/>
              </a:rPr>
              <a:t>Description</a:t>
            </a:r>
            <a:endParaRPr lang="zh-CN" altLang="en-US" sz="2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517238" y="2943809"/>
            <a:ext cx="2388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Presentations are communication tools that can be used as demonstrations,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单圆角 3"/>
          <p:cNvSpPr/>
          <p:nvPr/>
        </p:nvSpPr>
        <p:spPr>
          <a:xfrm>
            <a:off x="-1" y="2625418"/>
            <a:ext cx="6930749" cy="4232581"/>
          </a:xfrm>
          <a:prstGeom prst="round1Rect">
            <a:avLst>
              <a:gd name="adj" fmla="val 14308"/>
            </a:avLst>
          </a:pr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14758" y="959532"/>
            <a:ext cx="693074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Product Features</a:t>
            </a:r>
            <a:endParaRPr lang="en-US" altLang="zh-CN" sz="44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  <a:p>
            <a:pPr algn="l"/>
            <a:endParaRPr lang="zh-CN" altLang="en-US" sz="44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6464841" y="1792475"/>
            <a:ext cx="1276941" cy="0"/>
          </a:xfrm>
          <a:prstGeom prst="line">
            <a:avLst/>
          </a:prstGeom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图表 9"/>
          <p:cNvGraphicFramePr/>
          <p:nvPr/>
        </p:nvGraphicFramePr>
        <p:xfrm>
          <a:off x="539480" y="3106057"/>
          <a:ext cx="5690871" cy="3177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532613" y="1328864"/>
            <a:ext cx="3620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85</a:t>
            </a:r>
            <a:r>
              <a:rPr lang="en-US" altLang="zh-CN" sz="2800" dirty="0">
                <a:solidFill>
                  <a:srgbClr val="00CC99"/>
                </a:solidFill>
                <a:latin typeface="+mj-lt"/>
              </a:rPr>
              <a:t>,</a:t>
            </a:r>
            <a:r>
              <a:rPr lang="en-US" altLang="zh-CN" sz="28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600+</a:t>
            </a:r>
            <a:endParaRPr lang="zh-CN" altLang="en-US" sz="28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297175" y="1328864"/>
            <a:ext cx="36205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75</a:t>
            </a:r>
            <a:r>
              <a:rPr lang="en-US" altLang="zh-CN" sz="2800" dirty="0">
                <a:solidFill>
                  <a:srgbClr val="00CC99"/>
                </a:solidFill>
                <a:latin typeface="+mj-lt"/>
              </a:rPr>
              <a:t>,8</a:t>
            </a:r>
            <a:r>
              <a:rPr lang="en-US" altLang="zh-CN" sz="28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00+</a:t>
            </a:r>
            <a:endParaRPr lang="zh-CN" altLang="en-US" sz="28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45313" y="1923433"/>
            <a:ext cx="2388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97175" y="1923433"/>
            <a:ext cx="2388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312473" y="3293168"/>
            <a:ext cx="43635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 that can be used as demonstrations, lectures, speeches, reports, and more. Most of the time, they're presented before an audience.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7312473" y="2679562"/>
            <a:ext cx="3449638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rgbClr val="00CC99"/>
                </a:solidFill>
                <a:latin typeface="+mj-lt"/>
              </a:rPr>
              <a:t>Short description</a:t>
            </a:r>
            <a:endParaRPr lang="zh-CN" altLang="en-US" sz="24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12473" y="4679064"/>
            <a:ext cx="3620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85%</a:t>
            </a:r>
            <a:endParaRPr lang="zh-CN" altLang="en-US" sz="36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sp>
        <p:nvSpPr>
          <p:cNvPr id="19" name="文本框 18"/>
          <p:cNvSpPr txBox="1"/>
          <p:nvPr>
            <p:custDataLst>
              <p:tags r:id="rId4"/>
            </p:custDataLst>
          </p:nvPr>
        </p:nvSpPr>
        <p:spPr>
          <a:xfrm>
            <a:off x="7312473" y="5421064"/>
            <a:ext cx="3449638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rgbClr val="00CC99"/>
                </a:solidFill>
                <a:latin typeface="+mj-lt"/>
              </a:rPr>
              <a:t>Short</a:t>
            </a:r>
            <a:endParaRPr lang="en-US" altLang="zh-CN" sz="2400" dirty="0">
              <a:solidFill>
                <a:srgbClr val="00CC99"/>
              </a:solidFill>
              <a:latin typeface="+mj-lt"/>
            </a:endParaRPr>
          </a:p>
          <a:p>
            <a:r>
              <a:rPr lang="zh-CN" altLang="en-US" sz="2400" dirty="0">
                <a:solidFill>
                  <a:srgbClr val="00CC99"/>
                </a:solidFill>
                <a:latin typeface="+mj-lt"/>
              </a:rPr>
              <a:t>description</a:t>
            </a:r>
            <a:endParaRPr lang="zh-CN" altLang="en-US" sz="24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9601200" y="4165341"/>
            <a:ext cx="2074863" cy="1999603"/>
          </a:xfrm>
          <a:prstGeom prst="roundRect">
            <a:avLst>
              <a:gd name="adj" fmla="val 12209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4" name="图表 23"/>
          <p:cNvGraphicFramePr/>
          <p:nvPr/>
        </p:nvGraphicFramePr>
        <p:xfrm>
          <a:off x="9494268" y="4346821"/>
          <a:ext cx="2454962" cy="1636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0324512" y="4934308"/>
            <a:ext cx="992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28%</a:t>
            </a:r>
            <a:endParaRPr lang="zh-CN" altLang="en-US" sz="24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CC99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rgbClr val="00CC99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rgbClr val="00CC99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rgbClr val="00CC99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rgbClr val="00CC99"/>
              </a:solidFill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/>
        </p:nvSpPr>
        <p:spPr>
          <a:xfrm>
            <a:off x="8763000" y="2171"/>
            <a:ext cx="3429000" cy="6855829"/>
          </a:xfrm>
          <a:custGeom>
            <a:avLst/>
            <a:gdLst>
              <a:gd name="connsiteX0" fmla="*/ 397516 w 3429000"/>
              <a:gd name="connsiteY0" fmla="*/ 0 h 6855829"/>
              <a:gd name="connsiteX1" fmla="*/ 3429000 w 3429000"/>
              <a:gd name="connsiteY1" fmla="*/ 0 h 6855829"/>
              <a:gd name="connsiteX2" fmla="*/ 3429000 w 3429000"/>
              <a:gd name="connsiteY2" fmla="*/ 6855829 h 6855829"/>
              <a:gd name="connsiteX3" fmla="*/ 397516 w 3429000"/>
              <a:gd name="connsiteY3" fmla="*/ 6855829 h 6855829"/>
              <a:gd name="connsiteX4" fmla="*/ 0 w 3429000"/>
              <a:gd name="connsiteY4" fmla="*/ 6458313 h 6855829"/>
              <a:gd name="connsiteX5" fmla="*/ 0 w 3429000"/>
              <a:gd name="connsiteY5" fmla="*/ 397516 h 6855829"/>
              <a:gd name="connsiteX6" fmla="*/ 397516 w 3429000"/>
              <a:gd name="connsiteY6" fmla="*/ 0 h 6855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6855829">
                <a:moveTo>
                  <a:pt x="397516" y="0"/>
                </a:moveTo>
                <a:lnTo>
                  <a:pt x="3429000" y="0"/>
                </a:lnTo>
                <a:lnTo>
                  <a:pt x="3429000" y="6855829"/>
                </a:lnTo>
                <a:lnTo>
                  <a:pt x="397516" y="6855829"/>
                </a:lnTo>
                <a:cubicBezTo>
                  <a:pt x="177974" y="6855829"/>
                  <a:pt x="0" y="6677855"/>
                  <a:pt x="0" y="6458313"/>
                </a:cubicBezTo>
                <a:lnTo>
                  <a:pt x="0" y="397516"/>
                </a:lnTo>
                <a:cubicBezTo>
                  <a:pt x="0" y="177974"/>
                  <a:pt x="177974" y="0"/>
                  <a:pt x="397516" y="0"/>
                </a:cubicBezTo>
                <a:close/>
              </a:path>
            </a:pathLst>
          </a:cu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1" name="图片 10" descr="房间的摆设布局&#10;&#10;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6000"/>
                    </a14:imgEffect>
                    <a14:imgEffect>
                      <a14:saturation sat="110000"/>
                    </a14:imgEffect>
                  </a14:imgLayer>
                </a14:imgProps>
              </a:ext>
            </a:extLst>
          </a:blip>
          <a:srcRect l="43396" t="52805" r="2128" b="2"/>
          <a:stretch>
            <a:fillRect/>
          </a:stretch>
        </p:blipFill>
        <p:spPr>
          <a:xfrm flipH="1">
            <a:off x="6096000" y="2166188"/>
            <a:ext cx="6096000" cy="3960811"/>
          </a:xfrm>
          <a:custGeom>
            <a:avLst/>
            <a:gdLst>
              <a:gd name="connsiteX0" fmla="*/ 5435852 w 6096000"/>
              <a:gd name="connsiteY0" fmla="*/ 0 h 3960811"/>
              <a:gd name="connsiteX1" fmla="*/ 0 w 6096000"/>
              <a:gd name="connsiteY1" fmla="*/ 0 h 3960811"/>
              <a:gd name="connsiteX2" fmla="*/ 0 w 6096000"/>
              <a:gd name="connsiteY2" fmla="*/ 3960811 h 3960811"/>
              <a:gd name="connsiteX3" fmla="*/ 5435852 w 6096000"/>
              <a:gd name="connsiteY3" fmla="*/ 3960811 h 3960811"/>
              <a:gd name="connsiteX4" fmla="*/ 6096000 w 6096000"/>
              <a:gd name="connsiteY4" fmla="*/ 3300663 h 3960811"/>
              <a:gd name="connsiteX5" fmla="*/ 6096000 w 6096000"/>
              <a:gd name="connsiteY5" fmla="*/ 660148 h 3960811"/>
              <a:gd name="connsiteX6" fmla="*/ 5435852 w 6096000"/>
              <a:gd name="connsiteY6" fmla="*/ 0 h 3960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0" h="3960811">
                <a:moveTo>
                  <a:pt x="5435852" y="0"/>
                </a:moveTo>
                <a:lnTo>
                  <a:pt x="0" y="0"/>
                </a:lnTo>
                <a:lnTo>
                  <a:pt x="0" y="3960811"/>
                </a:lnTo>
                <a:lnTo>
                  <a:pt x="5435852" y="3960811"/>
                </a:lnTo>
                <a:cubicBezTo>
                  <a:pt x="5800442" y="3960811"/>
                  <a:pt x="6096000" y="3665253"/>
                  <a:pt x="6096000" y="3300663"/>
                </a:cubicBezTo>
                <a:lnTo>
                  <a:pt x="6096000" y="660148"/>
                </a:lnTo>
                <a:cubicBezTo>
                  <a:pt x="6096000" y="295558"/>
                  <a:pt x="5800442" y="0"/>
                  <a:pt x="5435852" y="0"/>
                </a:cubicBezTo>
                <a:close/>
              </a:path>
            </a:pathLst>
          </a:custGeom>
        </p:spPr>
      </p:pic>
      <p:sp>
        <p:nvSpPr>
          <p:cNvPr id="12" name="文本框 11"/>
          <p:cNvSpPr txBox="1"/>
          <p:nvPr/>
        </p:nvSpPr>
        <p:spPr>
          <a:xfrm>
            <a:off x="566738" y="959532"/>
            <a:ext cx="693074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Product Advantages</a:t>
            </a:r>
            <a:endParaRPr lang="en-US" altLang="zh-CN" sz="44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  <a:p>
            <a:pPr algn="l"/>
            <a:endParaRPr lang="zh-CN" altLang="en-US" sz="44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16821" y="1792475"/>
            <a:ext cx="1276941" cy="0"/>
          </a:xfrm>
          <a:prstGeom prst="line">
            <a:avLst/>
          </a:prstGeom>
          <a:ln w="12700">
            <a:solidFill>
              <a:srgbClr val="00CC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CC99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chemeClr val="bg1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660291" y="3612738"/>
            <a:ext cx="808677" cy="774700"/>
            <a:chOff x="4607508" y="2705100"/>
            <a:chExt cx="808677" cy="774700"/>
          </a:xfrm>
        </p:grpSpPr>
        <p:sp>
          <p:nvSpPr>
            <p:cNvPr id="16" name="矩形: 圆角 15"/>
            <p:cNvSpPr/>
            <p:nvPr/>
          </p:nvSpPr>
          <p:spPr>
            <a:xfrm>
              <a:off x="4607508" y="2705100"/>
              <a:ext cx="808677" cy="774700"/>
            </a:xfrm>
            <a:prstGeom prst="roundRect">
              <a:avLst>
                <a:gd name="adj" fmla="val 50000"/>
              </a:avLst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形 1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1041" y="2889300"/>
              <a:ext cx="406299" cy="406299"/>
            </a:xfrm>
            <a:prstGeom prst="rect">
              <a:avLst/>
            </a:prstGeom>
          </p:spPr>
        </p:pic>
      </p:grpSp>
      <p:sp>
        <p:nvSpPr>
          <p:cNvPr id="19" name="文本框 18"/>
          <p:cNvSpPr txBox="1"/>
          <p:nvPr/>
        </p:nvSpPr>
        <p:spPr>
          <a:xfrm>
            <a:off x="623888" y="2314353"/>
            <a:ext cx="47791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2800" b="0" i="0" u="none" strike="noStrike" dirty="0">
                <a:solidFill>
                  <a:srgbClr val="0066FF"/>
                </a:solidFill>
                <a:effectLst/>
                <a:latin typeface="+mj-lt"/>
                <a:ea typeface="Arial" panose="020B0704020202020204" pitchFamily="34" charset="0"/>
              </a:rPr>
              <a:t>Product Analysis Presentation</a:t>
            </a:r>
            <a:endParaRPr lang="en-US" altLang="zh-CN" sz="2400" b="0" i="0" u="none" strike="noStrike" dirty="0">
              <a:solidFill>
                <a:srgbClr val="0066FF"/>
              </a:solidFill>
              <a:effectLst/>
              <a:latin typeface="+mj-lt"/>
              <a:ea typeface="Arial" panose="020B0704020202020204" pitchFamily="3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4"/>
          <a:srcRect l="2632" t="16904" r="1142" b="28639"/>
          <a:stretch>
            <a:fillRect/>
          </a:stretch>
        </p:blipFill>
        <p:spPr>
          <a:xfrm>
            <a:off x="623888" y="3636902"/>
            <a:ext cx="1019382" cy="1019382"/>
          </a:xfrm>
          <a:prstGeom prst="ellipse">
            <a:avLst/>
          </a:prstGeom>
        </p:spPr>
      </p:pic>
      <p:pic>
        <p:nvPicPr>
          <p:cNvPr id="24" name="图片 23" descr="房间里有桌子和椅子&#10;&#10;中度可信度描述已自动生成"/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5000"/>
                    </a14:imgEffect>
                    <a14:imgEffect>
                      <a14:saturation sat="125000"/>
                    </a14:imgEffect>
                  </a14:imgLayer>
                </a14:imgProps>
              </a:ext>
            </a:extLst>
          </a:blip>
          <a:srcRect l="10494" t="39561" r="55296" b="14826"/>
          <a:stretch>
            <a:fillRect/>
          </a:stretch>
        </p:blipFill>
        <p:spPr>
          <a:xfrm>
            <a:off x="656635" y="5074803"/>
            <a:ext cx="1019381" cy="1019382"/>
          </a:xfrm>
          <a:prstGeom prst="roundRect">
            <a:avLst>
              <a:gd name="adj" fmla="val 50000"/>
            </a:avLst>
          </a:prstGeom>
        </p:spPr>
      </p:pic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1985059" y="3639242"/>
            <a:ext cx="3449638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rgbClr val="00CC99"/>
                </a:solidFill>
                <a:latin typeface="+mj-lt"/>
              </a:rPr>
              <a:t>Description</a:t>
            </a:r>
            <a:endParaRPr lang="zh-CN" altLang="en-US" sz="2400" dirty="0">
              <a:solidFill>
                <a:srgbClr val="00CC99"/>
              </a:solidFill>
              <a:latin typeface="+mj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995024" y="4100907"/>
            <a:ext cx="39942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CC99"/>
              </a:buClr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rgbClr val="00CC99"/>
              </a:buClr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that can be used as demonstrations, lectures, 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1985059" y="5106490"/>
            <a:ext cx="3449638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2400" dirty="0">
                <a:solidFill>
                  <a:srgbClr val="0066FF"/>
                </a:solidFill>
                <a:latin typeface="+mj-lt"/>
              </a:rPr>
              <a:t>Description</a:t>
            </a:r>
            <a:endParaRPr lang="zh-CN" altLang="en-US" sz="2400" dirty="0">
              <a:solidFill>
                <a:srgbClr val="0066FF"/>
              </a:solidFill>
              <a:latin typeface="+mj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995024" y="5568155"/>
            <a:ext cx="39942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00CC99"/>
              </a:buClr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rgbClr val="00CC99"/>
              </a:buClr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that can be used as demonstrations, lectures, 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46799" y="6201601"/>
            <a:ext cx="28939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100" dirty="0">
                <a:solidFill>
                  <a:srgbClr val="00CC99"/>
                </a:solidFill>
                <a:ea typeface="Arial" panose="020B0704020202020204" pitchFamily="34" charset="0"/>
              </a:rPr>
              <a:t>PRESENTATION</a:t>
            </a:r>
            <a:endParaRPr lang="en-US" altLang="zh-CN" sz="1100" dirty="0"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/>
        </p:nvSpPr>
        <p:spPr>
          <a:xfrm flipH="1" flipV="1">
            <a:off x="0" y="0"/>
            <a:ext cx="12192000" cy="4686300"/>
          </a:xfrm>
          <a:custGeom>
            <a:avLst/>
            <a:gdLst>
              <a:gd name="connsiteX0" fmla="*/ 12192000 w 12192000"/>
              <a:gd name="connsiteY0" fmla="*/ 4686300 h 4686300"/>
              <a:gd name="connsiteX1" fmla="*/ 0 w 12192000"/>
              <a:gd name="connsiteY1" fmla="*/ 4686300 h 4686300"/>
              <a:gd name="connsiteX2" fmla="*/ 0 w 12192000"/>
              <a:gd name="connsiteY2" fmla="*/ 1562100 h 4686300"/>
              <a:gd name="connsiteX3" fmla="*/ 0 w 12192000"/>
              <a:gd name="connsiteY3" fmla="*/ 0 h 4686300"/>
              <a:gd name="connsiteX4" fmla="*/ 1562100 w 12192000"/>
              <a:gd name="connsiteY4" fmla="*/ 1562100 h 4686300"/>
              <a:gd name="connsiteX5" fmla="*/ 10629900 w 12192000"/>
              <a:gd name="connsiteY5" fmla="*/ 1562100 h 4686300"/>
              <a:gd name="connsiteX6" fmla="*/ 12192000 w 12192000"/>
              <a:gd name="connsiteY6" fmla="*/ 3124200 h 468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4686300">
                <a:moveTo>
                  <a:pt x="12192000" y="4686300"/>
                </a:moveTo>
                <a:lnTo>
                  <a:pt x="0" y="4686300"/>
                </a:lnTo>
                <a:lnTo>
                  <a:pt x="0" y="1562100"/>
                </a:lnTo>
                <a:lnTo>
                  <a:pt x="0" y="0"/>
                </a:lnTo>
                <a:cubicBezTo>
                  <a:pt x="0" y="862724"/>
                  <a:pt x="699376" y="1562100"/>
                  <a:pt x="1562100" y="1562100"/>
                </a:cubicBezTo>
                <a:lnTo>
                  <a:pt x="10629900" y="1562100"/>
                </a:lnTo>
                <a:cubicBezTo>
                  <a:pt x="11492624" y="1562100"/>
                  <a:pt x="12192000" y="2261476"/>
                  <a:pt x="12192000" y="3124200"/>
                </a:cubicBezTo>
                <a:close/>
              </a:path>
            </a:pathLst>
          </a:custGeom>
          <a:solidFill>
            <a:srgbClr val="00CC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73845" y="959532"/>
            <a:ext cx="69307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Product Application</a:t>
            </a:r>
            <a:endParaRPr lang="en-US" altLang="zh-CN" sz="44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algn="l"/>
            <a:endParaRPr lang="en-US" altLang="zh-CN" sz="44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algn="l"/>
            <a:endParaRPr lang="zh-CN" altLang="en-US" sz="44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5457529" y="1830575"/>
            <a:ext cx="127694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chemeClr val="bg1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pic>
        <p:nvPicPr>
          <p:cNvPr id="14" name="图片 13" descr="图片包含 室内, 房间, 绿色, 小&#10;&#10;描述已自动生成"/>
          <p:cNvPicPr>
            <a:picLocks noChangeAspect="1"/>
          </p:cNvPicPr>
          <p:nvPr/>
        </p:nvPicPr>
        <p:blipFill rotWithShape="1"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colorTemperature colorTemp="5900"/>
                    </a14:imgEffect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97" t="42764" r="22698" b="14704"/>
          <a:stretch>
            <a:fillRect/>
          </a:stretch>
        </p:blipFill>
        <p:spPr>
          <a:xfrm>
            <a:off x="132846" y="4034521"/>
            <a:ext cx="5089988" cy="2823479"/>
          </a:xfrm>
          <a:custGeom>
            <a:avLst/>
            <a:gdLst>
              <a:gd name="connsiteX0" fmla="*/ 0 w 4542971"/>
              <a:gd name="connsiteY0" fmla="*/ 0 h 2520042"/>
              <a:gd name="connsiteX1" fmla="*/ 4542971 w 4542971"/>
              <a:gd name="connsiteY1" fmla="*/ 0 h 2520042"/>
              <a:gd name="connsiteX2" fmla="*/ 4542971 w 4542971"/>
              <a:gd name="connsiteY2" fmla="*/ 2520042 h 2520042"/>
              <a:gd name="connsiteX3" fmla="*/ 0 w 4542971"/>
              <a:gd name="connsiteY3" fmla="*/ 2520042 h 2520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42971" h="2520042">
                <a:moveTo>
                  <a:pt x="0" y="0"/>
                </a:moveTo>
                <a:lnTo>
                  <a:pt x="4542971" y="0"/>
                </a:lnTo>
                <a:lnTo>
                  <a:pt x="4542971" y="2520042"/>
                </a:lnTo>
                <a:lnTo>
                  <a:pt x="0" y="2520042"/>
                </a:lnTo>
                <a:close/>
              </a:path>
            </a:pathLst>
          </a:custGeom>
        </p:spPr>
      </p:pic>
      <p:sp>
        <p:nvSpPr>
          <p:cNvPr id="15" name="文本框 14"/>
          <p:cNvSpPr txBox="1"/>
          <p:nvPr/>
        </p:nvSpPr>
        <p:spPr>
          <a:xfrm>
            <a:off x="2677840" y="2216632"/>
            <a:ext cx="66785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</a:rPr>
              <a:t>Presentations are communication tools that can be used as demonstrations, lectures, speeches, reports, and more. 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3888" y="3840917"/>
            <a:ext cx="44243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rgbClr val="00CC99"/>
              </a:buClr>
              <a:buFont typeface="Arial" panose="020B0704020202020204" pitchFamily="34" charset="0"/>
              <a:buChar char="l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Presentations are communication tools that can be used as demonstrations, lectures, speeches, reports, and more. 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buClr>
                <a:srgbClr val="00CC99"/>
              </a:buClr>
              <a:buFont typeface="Arial" panose="020B0704020202020204" pitchFamily="34" charset="0"/>
              <a:buChar char="l"/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  <a:p>
            <a:pPr marL="171450" indent="-171450">
              <a:buClr>
                <a:srgbClr val="00CC99"/>
              </a:buClr>
              <a:buFont typeface="Arial" panose="020B0704020202020204" pitchFamily="34" charset="0"/>
              <a:buChar char="l"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Most of the time, they're presented before an audience. 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Clr>
                <a:srgbClr val="00CC99"/>
              </a:buClr>
            </a:pPr>
            <a:endParaRPr lang="en-US" altLang="zh-CN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717372" y="5589729"/>
            <a:ext cx="68225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5400" b="0" i="0" u="none" strike="noStrike" dirty="0">
                <a:solidFill>
                  <a:srgbClr val="00CC99"/>
                </a:solidFill>
                <a:effectLst/>
                <a:latin typeface="+mj-lt"/>
                <a:ea typeface="Arial" panose="020B0704020202020204" pitchFamily="34" charset="0"/>
              </a:rPr>
              <a:t>Product Analysis</a:t>
            </a:r>
            <a:endParaRPr lang="en-US" altLang="zh-CN" sz="4800" b="0" i="0" u="none" strike="noStrike" dirty="0">
              <a:solidFill>
                <a:srgbClr val="00CC99"/>
              </a:solidFill>
              <a:effectLst/>
              <a:latin typeface="+mj-lt"/>
              <a:ea typeface="Arial" panose="020B0704020202020204" pitchFamily="34" charset="0"/>
            </a:endParaRPr>
          </a:p>
        </p:txBody>
      </p:sp>
      <p:pic>
        <p:nvPicPr>
          <p:cNvPr id="18" name="图片 17" descr="房间的摆设布局&#10;&#10;中度可信度描述已自动生成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l="5000" r="5000"/>
          <a:stretch>
            <a:fillRect/>
          </a:stretch>
        </p:blipFill>
        <p:spPr>
          <a:xfrm>
            <a:off x="5951753" y="3774811"/>
            <a:ext cx="1513339" cy="1513339"/>
          </a:xfrm>
          <a:prstGeom prst="ellipse">
            <a:avLst/>
          </a:prstGeom>
        </p:spPr>
      </p:pic>
      <p:pic>
        <p:nvPicPr>
          <p:cNvPr id="20" name="图片 19" descr="房间里的沙发&#10;&#10;中度可信度描述已自动生成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"/>
                    </a14:imgEffect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163" t="40263" r="26817" b="10206"/>
          <a:stretch>
            <a:fillRect/>
          </a:stretch>
        </p:blipFill>
        <p:spPr>
          <a:xfrm>
            <a:off x="10054773" y="3802648"/>
            <a:ext cx="1513339" cy="1513339"/>
          </a:xfrm>
          <a:prstGeom prst="ellipse">
            <a:avLst/>
          </a:prstGeom>
        </p:spPr>
      </p:pic>
      <p:sp>
        <p:nvSpPr>
          <p:cNvPr id="22" name="矩形: 圆角 21"/>
          <p:cNvSpPr/>
          <p:nvPr/>
        </p:nvSpPr>
        <p:spPr>
          <a:xfrm>
            <a:off x="8049642" y="3840918"/>
            <a:ext cx="1428200" cy="14282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7"/>
            </p:custDataLst>
          </p:nvPr>
        </p:nvSpPr>
        <p:spPr>
          <a:xfrm>
            <a:off x="7049628" y="4325776"/>
            <a:ext cx="3449638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+mj-lt"/>
              </a:rPr>
              <a:t>850+</a:t>
            </a:r>
            <a:endParaRPr lang="zh-CN" altLang="en-US" sz="280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CC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房间里有桌子和椅子&#10;&#10;中度可信度描述已自动生成"/>
          <p:cNvPicPr>
            <a:picLocks noChangeAspect="1"/>
          </p:cNvPicPr>
          <p:nvPr/>
        </p:nvPicPr>
        <p:blipFill rotWithShape="1"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8000"/>
                    </a14:imgEffect>
                    <a14:imgEffect>
                      <a14:saturation sat="135000"/>
                    </a14:imgEffect>
                  </a14:imgLayer>
                </a14:imgProps>
              </a:ext>
            </a:extLst>
          </a:blip>
          <a:srcRect l="28320" t="12760" r="24239" b="12226"/>
          <a:stretch>
            <a:fillRect/>
          </a:stretch>
        </p:blipFill>
        <p:spPr>
          <a:xfrm>
            <a:off x="0" y="1192891"/>
            <a:ext cx="4278763" cy="5074312"/>
          </a:xfrm>
          <a:custGeom>
            <a:avLst/>
            <a:gdLst>
              <a:gd name="connsiteX0" fmla="*/ 75766 w 4278763"/>
              <a:gd name="connsiteY0" fmla="*/ 0 h 5074312"/>
              <a:gd name="connsiteX1" fmla="*/ 3861863 w 4278763"/>
              <a:gd name="connsiteY1" fmla="*/ 0 h 5074312"/>
              <a:gd name="connsiteX2" fmla="*/ 4278763 w 4278763"/>
              <a:gd name="connsiteY2" fmla="*/ 416899 h 5074312"/>
              <a:gd name="connsiteX3" fmla="*/ 4278763 w 4278763"/>
              <a:gd name="connsiteY3" fmla="*/ 4657413 h 5074312"/>
              <a:gd name="connsiteX4" fmla="*/ 3861863 w 4278763"/>
              <a:gd name="connsiteY4" fmla="*/ 5074312 h 5074312"/>
              <a:gd name="connsiteX5" fmla="*/ 75766 w 4278763"/>
              <a:gd name="connsiteY5" fmla="*/ 5074312 h 5074312"/>
              <a:gd name="connsiteX6" fmla="*/ 0 w 4278763"/>
              <a:gd name="connsiteY6" fmla="*/ 5066674 h 5074312"/>
              <a:gd name="connsiteX7" fmla="*/ 0 w 4278763"/>
              <a:gd name="connsiteY7" fmla="*/ 7638 h 5074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78763" h="5074312">
                <a:moveTo>
                  <a:pt x="75766" y="0"/>
                </a:moveTo>
                <a:lnTo>
                  <a:pt x="3861863" y="0"/>
                </a:lnTo>
                <a:cubicBezTo>
                  <a:pt x="4092110" y="0"/>
                  <a:pt x="4278763" y="186652"/>
                  <a:pt x="4278763" y="416899"/>
                </a:cubicBezTo>
                <a:lnTo>
                  <a:pt x="4278763" y="4657413"/>
                </a:lnTo>
                <a:cubicBezTo>
                  <a:pt x="4278763" y="4887660"/>
                  <a:pt x="4092110" y="5074312"/>
                  <a:pt x="3861863" y="5074312"/>
                </a:cubicBezTo>
                <a:lnTo>
                  <a:pt x="75766" y="5074312"/>
                </a:lnTo>
                <a:lnTo>
                  <a:pt x="0" y="5066674"/>
                </a:lnTo>
                <a:lnTo>
                  <a:pt x="0" y="7638"/>
                </a:lnTo>
                <a:close/>
              </a:path>
            </a:pathLst>
          </a:custGeom>
        </p:spPr>
      </p:pic>
      <p:sp>
        <p:nvSpPr>
          <p:cNvPr id="4" name="矩形: 圆角 3"/>
          <p:cNvSpPr/>
          <p:nvPr/>
        </p:nvSpPr>
        <p:spPr>
          <a:xfrm>
            <a:off x="2144812" y="2510971"/>
            <a:ext cx="3951188" cy="3154138"/>
          </a:xfrm>
          <a:prstGeom prst="roundRect">
            <a:avLst>
              <a:gd name="adj" fmla="val 119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850301" y="959532"/>
            <a:ext cx="69307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440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Product Application</a:t>
            </a:r>
            <a:endParaRPr lang="zh-CN" altLang="en-US" sz="440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000384" y="1792475"/>
            <a:ext cx="127694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/>
        </p:nvSpPr>
        <p:spPr>
          <a:xfrm>
            <a:off x="9456005" y="5664616"/>
            <a:ext cx="1756627" cy="467703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6995886" y="2693096"/>
            <a:ext cx="6801247" cy="60350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7470708" y="2825573"/>
            <a:ext cx="39470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54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en-US" altLang="zh-CN" sz="1600" b="0" i="0" u="none" strike="noStrike" dirty="0">
                <a:solidFill>
                  <a:srgbClr val="00CC99"/>
                </a:solidFill>
                <a:effectLst/>
                <a:latin typeface="+mj-lt"/>
                <a:ea typeface="Arial" panose="020B0704020202020204" pitchFamily="34" charset="0"/>
              </a:rPr>
              <a:t>Product Analysis </a:t>
            </a:r>
            <a:r>
              <a:rPr lang="en-US" altLang="zh-CN" sz="1600" dirty="0">
                <a:solidFill>
                  <a:srgbClr val="00CC99"/>
                </a:solidFill>
                <a:ea typeface="Arial" panose="020B0704020202020204" pitchFamily="34" charset="0"/>
              </a:rPr>
              <a:t>Template</a:t>
            </a:r>
            <a:endParaRPr lang="en-US" altLang="zh-CN" sz="1600" dirty="0"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606081" y="4123712"/>
            <a:ext cx="2996433" cy="0"/>
          </a:xfrm>
          <a:prstGeom prst="line">
            <a:avLst/>
          </a:prstGeom>
          <a:ln w="12700">
            <a:solidFill>
              <a:srgbClr val="00CC99">
                <a:alpha val="2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2594546" y="3110729"/>
            <a:ext cx="2981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dirty="0">
                <a:ln>
                  <a:noFill/>
                </a:ln>
                <a:solidFill>
                  <a:srgbClr val="0066FF"/>
                </a:solidFill>
                <a:effectLst/>
                <a:latin typeface="+mj-lt"/>
              </a:rPr>
              <a:t>13.765+</a:t>
            </a:r>
            <a:endParaRPr lang="zh-CN" altLang="en-US" sz="3600" dirty="0">
              <a:ln>
                <a:noFill/>
              </a:ln>
              <a:solidFill>
                <a:srgbClr val="0066FF"/>
              </a:solidFill>
              <a:effectLst/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94546" y="4417739"/>
            <a:ext cx="2981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dirty="0">
                <a:ln>
                  <a:noFill/>
                </a:ln>
                <a:solidFill>
                  <a:srgbClr val="00CC99"/>
                </a:solidFill>
                <a:effectLst/>
                <a:latin typeface="+mj-lt"/>
              </a:rPr>
              <a:t>4.765+</a:t>
            </a:r>
            <a:endParaRPr lang="zh-CN" altLang="en-US" sz="3600" dirty="0">
              <a:ln>
                <a:noFill/>
              </a:ln>
              <a:solidFill>
                <a:srgbClr val="00CC99"/>
              </a:solidFill>
              <a:effectLst/>
              <a:latin typeface="+mj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342713" y="3521698"/>
            <a:ext cx="16311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54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0066FF"/>
                </a:solidFill>
                <a:latin typeface="+mj-lt"/>
                <a:ea typeface="Arial" panose="020B0704020202020204" pitchFamily="34" charset="0"/>
              </a:rPr>
              <a:t>Description</a:t>
            </a:r>
            <a:endParaRPr lang="zh-CN" altLang="en-US" sz="1600" dirty="0">
              <a:solidFill>
                <a:srgbClr val="0066FF"/>
              </a:solidFill>
              <a:latin typeface="+mj-lt"/>
              <a:ea typeface="Arial" panose="020B0704020202020204" pitchFamily="34" charset="0"/>
            </a:endParaRPr>
          </a:p>
          <a:p>
            <a:r>
              <a:rPr lang="en-US" altLang="zh-CN" sz="1600" b="0" i="0" u="none" strike="noStrike" dirty="0">
                <a:solidFill>
                  <a:srgbClr val="0066FF"/>
                </a:solidFill>
                <a:effectLst/>
                <a:latin typeface="+mj-lt"/>
                <a:ea typeface="Arial" panose="020B0704020202020204" pitchFamily="34" charset="0"/>
              </a:rPr>
              <a:t> </a:t>
            </a:r>
            <a:endParaRPr lang="en-US" altLang="zh-CN" sz="1600" dirty="0">
              <a:solidFill>
                <a:srgbClr val="0066FF"/>
              </a:solidFill>
              <a:ea typeface="Arial" panose="020B07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42713" y="4804523"/>
            <a:ext cx="16311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54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zh-CN" altLang="en-US" sz="1600" dirty="0">
                <a:solidFill>
                  <a:srgbClr val="00CC99"/>
                </a:solidFill>
                <a:latin typeface="+mj-lt"/>
                <a:ea typeface="Arial" panose="020B0704020202020204" pitchFamily="34" charset="0"/>
              </a:rPr>
              <a:t>Description</a:t>
            </a:r>
            <a:endParaRPr lang="zh-CN" altLang="en-US" sz="1600" dirty="0">
              <a:solidFill>
                <a:srgbClr val="00CC99"/>
              </a:solidFill>
              <a:latin typeface="+mj-lt"/>
              <a:ea typeface="Arial" panose="020B0704020202020204" pitchFamily="34" charset="0"/>
            </a:endParaRPr>
          </a:p>
          <a:p>
            <a:r>
              <a:rPr lang="en-US" altLang="zh-CN" sz="1600" b="0" i="0" u="none" strike="noStrike" dirty="0">
                <a:solidFill>
                  <a:srgbClr val="00CC99"/>
                </a:solidFill>
                <a:effectLst/>
                <a:latin typeface="+mj-lt"/>
                <a:ea typeface="Arial" panose="020B0704020202020204" pitchFamily="34" charset="0"/>
              </a:rPr>
              <a:t> </a:t>
            </a:r>
            <a:endParaRPr lang="en-US" altLang="zh-CN" sz="1600" dirty="0">
              <a:solidFill>
                <a:srgbClr val="00CC99"/>
              </a:solidFill>
              <a:ea typeface="Arial" panose="020B07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971068" y="4538915"/>
            <a:ext cx="48622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</a:rPr>
              <a:t>Presentation are communication tools that can be used as </a:t>
            </a:r>
            <a:r>
              <a:rPr lang="en-US" altLang="zh-CN" sz="1200" dirty="0" err="1">
                <a:solidFill>
                  <a:schemeClr val="bg1"/>
                </a:solidFill>
              </a:rPr>
              <a:t>demontrations</a:t>
            </a:r>
            <a:r>
              <a:rPr lang="en-US" altLang="zh-CN" sz="1200" dirty="0">
                <a:solidFill>
                  <a:schemeClr val="bg1"/>
                </a:solidFill>
              </a:rPr>
              <a:t>, lectures, reports, and more. it is mostly presented before an </a:t>
            </a:r>
            <a:r>
              <a:rPr lang="en-US" altLang="zh-CN" sz="1200" dirty="0" err="1">
                <a:solidFill>
                  <a:schemeClr val="bg1"/>
                </a:solidFill>
              </a:rPr>
              <a:t>audience.It</a:t>
            </a:r>
            <a:r>
              <a:rPr lang="en-US" altLang="zh-CN" sz="1200" dirty="0">
                <a:solidFill>
                  <a:schemeClr val="bg1"/>
                </a:solidFill>
              </a:rPr>
              <a:t> serves a variety of purposes, </a:t>
            </a:r>
            <a:endParaRPr lang="en-US" altLang="zh-CN" sz="1200" dirty="0">
              <a:solidFill>
                <a:schemeClr val="bg1"/>
              </a:solidFill>
            </a:endParaRPr>
          </a:p>
          <a:p>
            <a:r>
              <a:rPr lang="en-US" altLang="zh-CN" sz="1200" dirty="0">
                <a:solidFill>
                  <a:schemeClr val="bg1"/>
                </a:solidFill>
              </a:rPr>
              <a:t>making presentations powerful tools for convincing and teaching.</a:t>
            </a:r>
            <a:endParaRPr lang="zh-CN" altLang="en-US" sz="1200" dirty="0">
              <a:solidFill>
                <a:schemeClr val="bg1"/>
              </a:solidFill>
            </a:endParaRPr>
          </a:p>
          <a:p>
            <a:pPr>
              <a:buClr>
                <a:srgbClr val="00CC99"/>
              </a:buClr>
            </a:pPr>
            <a:endParaRPr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29613" y="3542618"/>
            <a:ext cx="47791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zh-CN" sz="2800" b="0" i="0" u="none" strike="noStrike" dirty="0">
                <a:solidFill>
                  <a:schemeClr val="bg1"/>
                </a:solidFill>
                <a:effectLst/>
                <a:latin typeface="+mj-lt"/>
                <a:ea typeface="Arial" panose="020B0704020202020204" pitchFamily="34" charset="0"/>
              </a:rPr>
              <a:t>Product Analysis Presentation</a:t>
            </a:r>
            <a:endParaRPr lang="en-US" altLang="zh-CN" sz="2400" b="0" i="0" u="none" strike="noStrike" dirty="0">
              <a:solidFill>
                <a:schemeClr val="bg1"/>
              </a:solidFill>
              <a:effectLst/>
              <a:latin typeface="+mj-lt"/>
              <a:ea typeface="Arial" panose="020B0704020202020204" pitchFamily="3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7113053" y="5664627"/>
            <a:ext cx="4322777" cy="467704"/>
            <a:chOff x="10025992" y="4793716"/>
            <a:chExt cx="4322777" cy="452927"/>
          </a:xfrm>
        </p:grpSpPr>
        <p:sp>
          <p:nvSpPr>
            <p:cNvPr id="28" name="矩形: 圆角 27"/>
            <p:cNvSpPr/>
            <p:nvPr/>
          </p:nvSpPr>
          <p:spPr>
            <a:xfrm>
              <a:off x="10025992" y="4793716"/>
              <a:ext cx="1756627" cy="452927"/>
            </a:xfrm>
            <a:prstGeom prst="roundRect">
              <a:avLst>
                <a:gd name="adj" fmla="val 50000"/>
              </a:avLst>
            </a:prstGeom>
            <a:solidFill>
              <a:srgbClr val="006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10356064" y="4856238"/>
              <a:ext cx="1620574" cy="327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20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/>
                  </a:solidFill>
                  <a:ea typeface="Arial" panose="020B0704020202020204" pitchFamily="34" charset="0"/>
                </a:rPr>
                <a:t>Topic 01</a:t>
              </a:r>
              <a:endParaRPr lang="en-US" altLang="zh-CN" sz="1600" dirty="0">
                <a:solidFill>
                  <a:schemeClr val="bg1"/>
                </a:solidFill>
                <a:ea typeface="Arial" panose="020B0704020202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2728195" y="4856238"/>
              <a:ext cx="1620574" cy="3278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fontAlgn="ctr">
                <a:defRPr sz="2000" b="0" i="0" u="none" strike="noStrike">
                  <a:solidFill>
                    <a:srgbClr val="000000"/>
                  </a:solidFill>
                  <a:effectLst/>
                  <a:latin typeface="+mj-lt"/>
                  <a:ea typeface="Microsoft YaHei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/>
                  </a:solidFill>
                  <a:ea typeface="Arial" panose="020B0704020202020204" pitchFamily="34" charset="0"/>
                </a:rPr>
                <a:t>Topic 02</a:t>
              </a:r>
              <a:endParaRPr lang="en-US" altLang="zh-CN" sz="1600" dirty="0">
                <a:solidFill>
                  <a:schemeClr val="bg1"/>
                </a:solidFill>
                <a:ea typeface="Arial" panose="020B07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656635" y="298810"/>
            <a:ext cx="1304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+mj-lt"/>
              </a:rPr>
              <a:t>YOUR  LOGO</a:t>
            </a:r>
            <a:endParaRPr lang="zh-CN" alt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356374" y="344941"/>
            <a:ext cx="23666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PRESENTATION</a:t>
            </a:r>
            <a:endParaRPr lang="en-US" altLang="zh-CN" sz="1200" dirty="0">
              <a:solidFill>
                <a:schemeClr val="bg1"/>
              </a:solidFill>
              <a:latin typeface="+mj-lt"/>
              <a:ea typeface="+mj-ea"/>
            </a:endParaRPr>
          </a:p>
          <a:p>
            <a:pPr algn="r"/>
            <a:r>
              <a:rPr lang="en-US" altLang="zh-CN" sz="1200" dirty="0">
                <a:solidFill>
                  <a:schemeClr val="bg1"/>
                </a:solidFill>
                <a:latin typeface="+mj-lt"/>
                <a:ea typeface="+mj-ea"/>
              </a:rPr>
              <a:t>//SLIDE</a:t>
            </a:r>
            <a:endParaRPr lang="zh-CN" altLang="en-US" sz="1200" dirty="0">
              <a:solidFill>
                <a:schemeClr val="bg1"/>
              </a:solidFill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PA" val="v5.2.10"/>
</p:tagLst>
</file>

<file path=ppt/tags/tag3.xml><?xml version="1.0" encoding="utf-8"?>
<p:tagLst xmlns:p="http://schemas.openxmlformats.org/presentationml/2006/main">
  <p:tag name="PA" val="v5.2.10"/>
</p:tagLst>
</file>

<file path=ppt/tags/tag4.xml><?xml version="1.0" encoding="utf-8"?>
<p:tagLst xmlns:p="http://schemas.openxmlformats.org/presentationml/2006/main">
  <p:tag name="PA" val="v5.2.10"/>
</p:tagLst>
</file>

<file path=ppt/tags/tag5.xml><?xml version="1.0" encoding="utf-8"?>
<p:tagLst xmlns:p="http://schemas.openxmlformats.org/presentationml/2006/main">
  <p:tag name="PA" val="v5.2.10"/>
</p:tagLst>
</file>

<file path=ppt/tags/tag6.xml><?xml version="1.0" encoding="utf-8"?>
<p:tagLst xmlns:p="http://schemas.openxmlformats.org/presentationml/2006/main">
  <p:tag name="PA" val="v5.2.10"/>
</p:tagLst>
</file>

<file path=ppt/tags/tag7.xml><?xml version="1.0" encoding="utf-8"?>
<p:tagLst xmlns:p="http://schemas.openxmlformats.org/presentationml/2006/main">
  <p:tag name="PA" val="v5.2.10"/>
</p:tagLst>
</file>

<file path=ppt/tags/tag8.xml><?xml version="1.0" encoding="utf-8"?>
<p:tagLst xmlns:p="http://schemas.openxmlformats.org/presentationml/2006/main">
  <p:tag name="PA" val="v5.2.10"/>
</p:tagLst>
</file>

<file path=ppt/tags/tag9.xml><?xml version="1.0" encoding="utf-8"?>
<p:tagLst xmlns:p="http://schemas.openxmlformats.org/presentationml/2006/main">
  <p:tag name="PA" val="v5.2.10"/>
</p:tagLst>
</file>

<file path=ppt/tags/tag10.xml><?xml version="1.0" encoding="utf-8"?>
<p:tagLst xmlns:p="http://schemas.openxmlformats.org/presentationml/2006/main">
  <p:tag name="PA" val="v5.2.10"/>
</p:tagLst>
</file>

<file path=ppt/tags/tag11.xml><?xml version="1.0" encoding="utf-8"?>
<p:tagLst xmlns:p="http://schemas.openxmlformats.org/presentationml/2006/main">
  <p:tag name="PA" val="v5.2.10"/>
</p:tagLst>
</file>

<file path=ppt/tags/tag12.xml><?xml version="1.0" encoding="utf-8"?>
<p:tagLst xmlns:p="http://schemas.openxmlformats.org/presentationml/2006/main">
  <p:tag name="PA" val="v5.2.10"/>
</p:tagLst>
</file>

<file path=ppt/tags/tag13.xml><?xml version="1.0" encoding="utf-8"?>
<p:tagLst xmlns:p="http://schemas.openxmlformats.org/presentationml/2006/main">
  <p:tag name="KSO_WPP_MARK_KEY" val="b4d8708e-d25b-4340-bc2d-4b2330e39f1b"/>
  <p:tag name="COMMONDATA" val="eyJoZGlkIjoiODM1YWUzZDdkNDU0ODlhNzIwYTJmZGVjNDNkZGI1Nj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海外商务风细体">
      <a:majorFont>
        <a:latin typeface="Montserrat SemiBold"/>
        <a:ea typeface=""/>
        <a:cs typeface=""/>
      </a:majorFont>
      <a:minorFont>
        <a:latin typeface="Gilro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3269</Words>
  <Application>WPS Sheets</Application>
  <PresentationFormat>宽屏</PresentationFormat>
  <Paragraphs>215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Microsoft YaHei</vt:lpstr>
      <vt:lpstr>汉仪旗黑</vt:lpstr>
      <vt:lpstr>Gilroy</vt:lpstr>
      <vt:lpstr>Montserrat SemiBold</vt:lpstr>
      <vt:lpstr>苹方-简</vt:lpstr>
      <vt:lpstr>Arial Unicode MS</vt:lpstr>
      <vt:lpstr>SimSun</vt:lpstr>
      <vt:lpstr>宋体-简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abbey</dc:creator>
  <cp:lastModifiedBy>yusufaxmad</cp:lastModifiedBy>
  <cp:revision>20</cp:revision>
  <dcterms:created xsi:type="dcterms:W3CDTF">2026-04-02T13:51:16Z</dcterms:created>
  <dcterms:modified xsi:type="dcterms:W3CDTF">2026-04-02T13:51:16Z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57A79F28812789D20C67CE693B3C20C5_41</vt:lpwstr>
  </property>
  <property fmtid="{D5CDD505-2E9C-101B-9397-08002B2CF9AE}" pid="3" name="KSOProductBuildVer">
    <vt:lpwstr>1033-12.1.23155.23155</vt:lpwstr>
  </property>
</Properties>
</file>