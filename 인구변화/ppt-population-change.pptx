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9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</p:sldMasterIdLst>
  <p:notesMasterIdLst>
    <p:notesMasterId r:id="rId14"/>
  </p:notesMasterIdLst>
  <p:handoutMasterIdLst>
    <p:handoutMasterId r:id="rId15"/>
  </p:handoutMasterIdLst>
  <p:sldIdLst>
    <p:sldId id="293" r:id="rId5"/>
    <p:sldId id="268" r:id="rId6"/>
    <p:sldId id="258" r:id="rId7"/>
    <p:sldId id="259" r:id="rId8"/>
    <p:sldId id="264" r:id="rId9"/>
    <p:sldId id="267" r:id="rId10"/>
    <p:sldId id="295" r:id="rId11"/>
    <p:sldId id="273" r:id="rId12"/>
    <p:sldId id="277" r:id="rId13"/>
  </p:sldIdLst>
  <p:sldSz cx="9144000" cy="5143500"/>
  <p:notesSz cx="6858000" cy="9144000"/>
  <p:defaultTextStyle>
    <a:defPPr>
      <a:defRPr lang="zh-CN"/>
    </a:defPPr>
    <a:lvl1pPr marL="0" lvl="0" indent="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1pPr>
    <a:lvl2pPr marL="342900" lvl="1" indent="1143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704020202020204" pitchFamily="34" charset="0"/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2pPr>
    <a:lvl3pPr marL="685800" lvl="2" indent="2286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3pPr>
    <a:lvl4pPr marL="1028700" lvl="3" indent="3429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704020202020204" pitchFamily="34" charset="0"/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4pPr>
    <a:lvl5pPr marL="1371600" lvl="4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5pPr>
    <a:lvl6pPr marL="2286000" lvl="5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6pPr>
    <a:lvl7pPr marL="2743200" lvl="6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7pPr>
    <a:lvl8pPr marL="3200400" lvl="7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8pPr>
    <a:lvl9pPr marL="3657600" lvl="8" indent="457200" algn="l" defTabSz="6858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1300"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484F"/>
    <a:srgbClr val="563F6B"/>
    <a:srgbClr val="FBB835"/>
    <a:srgbClr val="3C9DAD"/>
    <a:srgbClr val="E2E8EB"/>
    <a:srgbClr val="D75531"/>
    <a:srgbClr val="A61E42"/>
    <a:srgbClr val="B34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84"/>
    <p:restoredTop sz="94660"/>
  </p:normalViewPr>
  <p:slideViewPr>
    <p:cSldViewPr snapToGrid="0" showGuides="1">
      <p:cViewPr>
        <p:scale>
          <a:sx n="72" d="100"/>
          <a:sy n="72" d="100"/>
        </p:scale>
        <p:origin x="1718" y="749"/>
      </p:cViewPr>
      <p:guideLst>
        <p:guide pos="2880"/>
        <p:guide orient="horz" pos="16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704020202020204" pitchFamily="34" charset="0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704020202020204" pitchFamily="34" charset="0"/>
              </a:defRPr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itchFamily="34" charset="0"/>
                <a:ea typeface="Arial" panose="020B0704020202020204" pitchFamily="34" charset="0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024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Click to edit Master text style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Second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Third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Fourth level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strike="noStrike" noProof="0" smtClean="0">
                <a:ln>
                  <a:noFill/>
                </a:ln>
                <a:effectLst/>
                <a:uLnTx/>
                <a:uFillTx/>
                <a:sym typeface="+mn-ea"/>
              </a:rPr>
              <a:t>Fifth level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704020202020204" pitchFamily="34" charset="0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704020202020204" pitchFamily="34" charset="0"/>
              </a:defRPr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itchFamily="34" charset="0"/>
                <a:ea typeface="Arial" panose="020B0704020202020204" pitchFamily="34" charset="0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704020202020204" pitchFamily="34" charset="0"/>
        <a:cs typeface="+mn-cs"/>
        <a:sym typeface="Arial" panose="020B07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704020202020204" pitchFamily="34" charset="0"/>
        <a:cs typeface="+mn-cs"/>
        <a:sym typeface="Arial" panose="020B07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704020202020204" pitchFamily="34" charset="0"/>
        <a:cs typeface="+mn-cs"/>
        <a:sym typeface="Arial" panose="020B07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704020202020204" pitchFamily="34" charset="0"/>
        <a:cs typeface="+mn-cs"/>
        <a:sym typeface="Arial" panose="020B07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704020202020204" pitchFamily="34" charset="0"/>
        <a:cs typeface="+mn-cs"/>
        <a:sym typeface="Arial" panose="020B07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2"/>
          <a:srcRect l="2" t="22479" r="87" b="39182"/>
          <a:stretch>
            <a:fillRect/>
          </a:stretch>
        </p:blipFill>
        <p:spPr>
          <a:xfrm>
            <a:off x="0" y="995363"/>
            <a:ext cx="9136063" cy="267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6"/>
          <p:cNvPicPr>
            <a:picLocks noChangeAspect="1"/>
          </p:cNvPicPr>
          <p:nvPr userDrawn="1"/>
        </p:nvPicPr>
        <p:blipFill>
          <a:blip r:embed="rId2"/>
          <a:srcRect l="-2" t="2913" r="-119" b="12445"/>
          <a:stretch>
            <a:fillRect/>
          </a:stretch>
        </p:blipFill>
        <p:spPr>
          <a:xfrm>
            <a:off x="0" y="0"/>
            <a:ext cx="9155113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563F6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6"/>
          <p:cNvPicPr>
            <a:picLocks noChangeAspect="1"/>
          </p:cNvPicPr>
          <p:nvPr userDrawn="1"/>
        </p:nvPicPr>
        <p:blipFill>
          <a:blip r:embed="rId2"/>
          <a:srcRect l="2" t="22479" r="87" b="39182"/>
          <a:stretch>
            <a:fillRect/>
          </a:stretch>
        </p:blipFill>
        <p:spPr>
          <a:xfrm>
            <a:off x="0" y="995363"/>
            <a:ext cx="9136063" cy="267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6"/>
          <p:cNvPicPr>
            <a:picLocks noChangeAspect="1"/>
          </p:cNvPicPr>
          <p:nvPr userDrawn="1"/>
        </p:nvPicPr>
        <p:blipFill>
          <a:blip r:embed="rId2"/>
          <a:srcRect l="-2" t="2913" r="-119" b="12445"/>
          <a:stretch>
            <a:fillRect/>
          </a:stretch>
        </p:blipFill>
        <p:spPr>
          <a:xfrm>
            <a:off x="0" y="0"/>
            <a:ext cx="9155113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563F6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2"/>
          <a:srcRect l="2" t="22479" r="87" b="39182"/>
          <a:stretch>
            <a:fillRect/>
          </a:stretch>
        </p:blipFill>
        <p:spPr>
          <a:xfrm>
            <a:off x="0" y="995363"/>
            <a:ext cx="9136063" cy="2670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6"/>
          <p:cNvPicPr>
            <a:picLocks noChangeAspect="1"/>
          </p:cNvPicPr>
          <p:nvPr userDrawn="1"/>
        </p:nvPicPr>
        <p:blipFill>
          <a:blip r:embed="rId2"/>
          <a:srcRect l="-2" t="2913" r="-119" b="12445"/>
          <a:stretch>
            <a:fillRect/>
          </a:stretch>
        </p:blipFill>
        <p:spPr>
          <a:xfrm>
            <a:off x="0" y="0"/>
            <a:ext cx="9155113" cy="515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563F6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</a:t>
            </a:r>
            <a:r>
              <a:rPr lang="zh-CN" altLang="zh-CN" dirty="0"/>
              <a:t>text</a:t>
            </a:r>
            <a:r>
              <a:rPr lang="zh-CN" altLang="en-US" dirty="0"/>
              <a:t>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7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704020202020204" pitchFamily="34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Arial" panose="020B0704020202020204" pitchFamily="34" charset="0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Arial" panose="020B07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Arial" panose="020B0704020202020204" pitchFamily="34" charset="0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704020202020204" pitchFamily="34" charset="0"/>
        <a:buChar char="•"/>
        <a:defRPr sz="21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21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5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3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3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</a:t>
            </a:r>
            <a:r>
              <a:rPr lang="zh-CN" altLang="zh-CN" dirty="0"/>
              <a:t>text</a:t>
            </a:r>
            <a:r>
              <a:rPr lang="zh-CN" altLang="en-US" dirty="0"/>
              <a:t>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7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704020202020204" pitchFamily="34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Arial" panose="020B0704020202020204" pitchFamily="34" charset="0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Arial" panose="020B07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Arial" panose="020B0704020202020204" pitchFamily="34" charset="0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704020202020204" pitchFamily="34" charset="0"/>
        <a:buChar char="•"/>
        <a:defRPr sz="21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21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5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3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3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Click to edit Master </a:t>
            </a:r>
            <a:r>
              <a:rPr lang="zh-CN" altLang="zh-CN" dirty="0"/>
              <a:t>text</a:t>
            </a:r>
            <a:r>
              <a:rPr lang="zh-CN" altLang="en-US" dirty="0"/>
              <a:t> style</a:t>
            </a:r>
            <a:endParaRPr lang="zh-CN" altLang="en-US" dirty="0"/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704020202020204" pitchFamily="34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704020202020204" pitchFamily="34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2CD3D83-FD9A-4A97-ABD2-93984F02A68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Arial" panose="020B0704020202020204" pitchFamily="34" charset="0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Arial" panose="020B07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hf sldNum="0" hdr="0" ftr="0" dt="0"/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Arial" panose="020B0704020202020204" pitchFamily="34" charset="0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704020202020204" pitchFamily="34" charset="0"/>
        <a:buChar char="•"/>
        <a:defRPr sz="21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21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5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3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704020202020204" pitchFamily="34" charset="0"/>
        <a:buChar char="•"/>
        <a:defRPr sz="1300" kern="1200">
          <a:solidFill>
            <a:schemeClr val="tx1"/>
          </a:solidFill>
          <a:latin typeface="+mn-lt"/>
          <a:ea typeface="Arial" panose="020B0704020202020204" pitchFamily="34" charset="0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webp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jpe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9144000" cy="5661025"/>
          </a:xfrm>
          <a:prstGeom prst="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  <p:grpSp>
        <p:nvGrpSpPr>
          <p:cNvPr id="11266" name="组合 18"/>
          <p:cNvGrpSpPr/>
          <p:nvPr/>
        </p:nvGrpSpPr>
        <p:grpSpPr>
          <a:xfrm>
            <a:off x="7721600" y="0"/>
            <a:ext cx="1422400" cy="1555750"/>
            <a:chOff x="6841065" y="0"/>
            <a:chExt cx="2302935" cy="3177116"/>
          </a:xfrm>
        </p:grpSpPr>
        <p:cxnSp>
          <p:nvCxnSpPr>
            <p:cNvPr id="20" name="直接连接符 19"/>
            <p:cNvCxnSpPr/>
            <p:nvPr/>
          </p:nvCxnSpPr>
          <p:spPr>
            <a:xfrm flipH="1">
              <a:off x="6841065" y="0"/>
              <a:ext cx="2302935" cy="2301788"/>
            </a:xfrm>
            <a:prstGeom prst="line">
              <a:avLst/>
            </a:prstGeom>
            <a:ln w="3175">
              <a:solidFill>
                <a:srgbClr val="D75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6841065" y="269083"/>
              <a:ext cx="2302935" cy="2301788"/>
            </a:xfrm>
            <a:prstGeom prst="line">
              <a:avLst/>
            </a:prstGeom>
            <a:ln w="3175">
              <a:solidFill>
                <a:srgbClr val="3C9D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841065" y="570584"/>
              <a:ext cx="2302935" cy="2305031"/>
            </a:xfrm>
            <a:prstGeom prst="line">
              <a:avLst/>
            </a:prstGeom>
            <a:ln w="3175">
              <a:solidFill>
                <a:srgbClr val="FBB8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841065" y="875328"/>
              <a:ext cx="2302935" cy="2301788"/>
            </a:xfrm>
            <a:prstGeom prst="line">
              <a:avLst/>
            </a:prstGeom>
            <a:ln w="3175">
              <a:solidFill>
                <a:srgbClr val="563F6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1" name="文本框 23"/>
          <p:cNvSpPr txBox="1"/>
          <p:nvPr/>
        </p:nvSpPr>
        <p:spPr>
          <a:xfrm>
            <a:off x="-317" y="2659380"/>
            <a:ext cx="8006715" cy="23069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defTabSz="913130"/>
            <a:r>
              <a:rPr lang="ko-KR" altLang="en-US" sz="48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704020202020204" pitchFamily="34" charset="0"/>
                <a:ea typeface="Arial" panose="020B0704020202020204" pitchFamily="34" charset="0"/>
              </a:rPr>
              <a:t>국제이동 증가와 </a:t>
            </a:r>
            <a:endParaRPr lang="ko-KR" altLang="en-US" sz="4800" b="1" dirty="0">
              <a:solidFill>
                <a:schemeClr val="bg1"/>
              </a:solidFill>
              <a:highlight>
                <a:srgbClr val="000000"/>
              </a:highlight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algn="l" defTabSz="913130"/>
            <a:r>
              <a:rPr lang="ko-KR" altLang="en-US" sz="48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704020202020204" pitchFamily="34" charset="0"/>
                <a:ea typeface="Arial" panose="020B0704020202020204" pitchFamily="34" charset="0"/>
              </a:rPr>
              <a:t>다문화가족 지원정책의 현황 </a:t>
            </a:r>
            <a:endParaRPr lang="ko-KR" altLang="en-US" sz="4800" b="1" dirty="0">
              <a:solidFill>
                <a:schemeClr val="bg1"/>
              </a:solidFill>
              <a:highlight>
                <a:srgbClr val="000000"/>
              </a:highlight>
              <a:latin typeface="Arial" panose="020B0704020202020204" pitchFamily="34" charset="0"/>
              <a:ea typeface="Arial" panose="020B0704020202020204" pitchFamily="34" charset="0"/>
            </a:endParaRPr>
          </a:p>
          <a:p>
            <a:pPr algn="l" defTabSz="913130"/>
            <a:r>
              <a:rPr lang="ko-KR" altLang="en-US" sz="48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704020202020204" pitchFamily="34" charset="0"/>
                <a:ea typeface="Arial" panose="020B0704020202020204" pitchFamily="34" charset="0"/>
              </a:rPr>
              <a:t>및 개선방안</a:t>
            </a:r>
            <a:endParaRPr lang="ko-KR" altLang="en-US" sz="4800" b="1" dirty="0">
              <a:solidFill>
                <a:schemeClr val="bg1"/>
              </a:solidFill>
              <a:highlight>
                <a:srgbClr val="000000"/>
              </a:highlight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11272" name="文本框 5"/>
          <p:cNvSpPr txBox="1"/>
          <p:nvPr/>
        </p:nvSpPr>
        <p:spPr>
          <a:xfrm>
            <a:off x="5662295" y="4760278"/>
            <a:ext cx="348170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defTabSz="684530"/>
            <a:r>
              <a:rPr lang="ko-KR" altLang="en-US" sz="2800" dirty="0">
                <a:solidFill>
                  <a:schemeClr val="bg1"/>
                </a:solidFill>
                <a:highlight>
                  <a:srgbClr val="808080"/>
                </a:highlight>
                <a:latin typeface="Arial" panose="020B0704020202020204" pitchFamily="34" charset="0"/>
                <a:ea typeface="Arial" panose="020B0704020202020204" pitchFamily="34" charset="0"/>
              </a:rPr>
              <a:t>유수프존</a:t>
            </a:r>
            <a:r>
              <a:rPr lang="en-US" altLang="ko-KR" sz="2800" dirty="0">
                <a:solidFill>
                  <a:schemeClr val="bg1"/>
                </a:solidFill>
                <a:highlight>
                  <a:srgbClr val="808080"/>
                </a:highlight>
                <a:latin typeface="Arial" panose="020B0704020202020204" pitchFamily="34" charset="0"/>
                <a:ea typeface="Arial" panose="020B0704020202020204" pitchFamily="34" charset="0"/>
              </a:rPr>
              <a:t> 202438404</a:t>
            </a:r>
            <a:endParaRPr lang="en-US" altLang="ko-KR" sz="2800" dirty="0">
              <a:solidFill>
                <a:schemeClr val="bg1"/>
              </a:solidFill>
              <a:highlight>
                <a:srgbClr val="808080"/>
              </a:highlight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/>
      <p:bldP spid="1127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13155" y="717550"/>
            <a:ext cx="1311275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ko-KR" altLang="en-US" sz="4050" b="1" kern="1200" cap="none" spc="0" normalizeH="0" baseline="0" noProof="0">
                <a:solidFill>
                  <a:srgbClr val="3E484F"/>
                </a:solidFill>
                <a:latin typeface="Arial" panose="020B0704020202020204" pitchFamily="34" charset="0"/>
                <a:ea typeface="+mn-ea"/>
                <a:cs typeface="+mn-cs"/>
                <a:sym typeface="+mn-ea"/>
              </a:rPr>
              <a:t>목차</a:t>
            </a:r>
            <a:endParaRPr kumimoji="0" lang="ko-KR" altLang="en-US" sz="4050" b="1" kern="1200" cap="none" spc="0" normalizeH="0" baseline="0" noProof="0">
              <a:solidFill>
                <a:srgbClr val="3E484F"/>
              </a:solidFill>
              <a:latin typeface="Arial" panose="020B0704020202020204" pitchFamily="34" charset="0"/>
              <a:ea typeface="+mn-ea"/>
              <a:cs typeface="+mn-cs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572000" y="1017588"/>
            <a:ext cx="0" cy="463550"/>
          </a:xfrm>
          <a:prstGeom prst="line">
            <a:avLst/>
          </a:prstGeom>
          <a:ln>
            <a:solidFill>
              <a:srgbClr val="3E48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91" name="文本框 24"/>
          <p:cNvSpPr txBox="1"/>
          <p:nvPr/>
        </p:nvSpPr>
        <p:spPr>
          <a:xfrm>
            <a:off x="5522913" y="1884363"/>
            <a:ext cx="2894965" cy="4140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ko-KR" altLang="en-US" sz="2100" b="1" dirty="0">
                <a:solidFill>
                  <a:srgbClr val="FF0000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국제 이주란 무엇인가?</a:t>
            </a:r>
            <a:endParaRPr lang="ko-KR" altLang="en-US" sz="2100" b="1" dirty="0">
              <a:solidFill>
                <a:srgbClr val="FF0000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12292" name="文本框 25"/>
          <p:cNvSpPr txBox="1"/>
          <p:nvPr/>
        </p:nvSpPr>
        <p:spPr>
          <a:xfrm>
            <a:off x="5522913" y="2503488"/>
            <a:ext cx="3147060" cy="4140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ko-KR" altLang="en-US" sz="2100" b="1" dirty="0">
                <a:solidFill>
                  <a:srgbClr val="3C9DAD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현행 정책 및 지원 시스템</a:t>
            </a:r>
            <a:endParaRPr lang="ko-KR" altLang="en-US" sz="2100" b="1" dirty="0">
              <a:solidFill>
                <a:srgbClr val="3C9DAD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12293" name="文本框 26"/>
          <p:cNvSpPr txBox="1"/>
          <p:nvPr/>
        </p:nvSpPr>
        <p:spPr>
          <a:xfrm>
            <a:off x="5522913" y="3154363"/>
            <a:ext cx="1857375" cy="4140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ko-KR" altLang="en-US" sz="2100" b="1" dirty="0">
                <a:solidFill>
                  <a:srgbClr val="FBB835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긍정적인 측면</a:t>
            </a:r>
            <a:endParaRPr lang="ko-KR" altLang="en-US" sz="2100" b="1" dirty="0">
              <a:solidFill>
                <a:srgbClr val="FBB835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12294" name="文本框 27"/>
          <p:cNvSpPr txBox="1"/>
          <p:nvPr/>
        </p:nvSpPr>
        <p:spPr>
          <a:xfrm>
            <a:off x="5522913" y="3749675"/>
            <a:ext cx="1249680" cy="4140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ko-KR" altLang="en-US" sz="2100" b="1" dirty="0">
                <a:solidFill>
                  <a:srgbClr val="563F6B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개선방안</a:t>
            </a:r>
            <a:endParaRPr lang="ko-KR" altLang="en-US" sz="2100" b="1" dirty="0">
              <a:solidFill>
                <a:srgbClr val="563F6B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grpSp>
        <p:nvGrpSpPr>
          <p:cNvPr id="12295" name="组合 7"/>
          <p:cNvGrpSpPr/>
          <p:nvPr/>
        </p:nvGrpSpPr>
        <p:grpSpPr>
          <a:xfrm>
            <a:off x="4816475" y="1858963"/>
            <a:ext cx="598488" cy="473075"/>
            <a:chOff x="4840749" y="1859132"/>
            <a:chExt cx="598249" cy="473011"/>
          </a:xfrm>
        </p:grpSpPr>
        <p:sp>
          <p:nvSpPr>
            <p:cNvPr id="17" name="矩形 16"/>
            <p:cNvSpPr/>
            <p:nvPr/>
          </p:nvSpPr>
          <p:spPr>
            <a:xfrm>
              <a:off x="4862953" y="1859132"/>
              <a:ext cx="474222" cy="473011"/>
            </a:xfrm>
            <a:prstGeom prst="rect">
              <a:avLst/>
            </a:prstGeom>
            <a:solidFill>
              <a:srgbClr val="D755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297" name="文本框 23"/>
            <p:cNvSpPr txBox="1"/>
            <p:nvPr/>
          </p:nvSpPr>
          <p:spPr>
            <a:xfrm>
              <a:off x="4840749" y="1895322"/>
              <a:ext cx="598249" cy="3987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 b="1" i="1" dirty="0">
                  <a:solidFill>
                    <a:schemeClr val="bg1"/>
                  </a:solidFill>
                  <a:latin typeface="Arial" panose="020B0704020202020204" pitchFamily="34" charset="0"/>
                  <a:ea typeface="SimSun" pitchFamily="2" charset="-122"/>
                </a:rPr>
                <a:t>01</a:t>
              </a:r>
              <a:endParaRPr lang="en-US" altLang="zh-CN" sz="2000" b="1" i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0"/>
              </a:endParaRPr>
            </a:p>
          </p:txBody>
        </p:sp>
      </p:grpSp>
      <p:grpSp>
        <p:nvGrpSpPr>
          <p:cNvPr id="12298" name="组合 5"/>
          <p:cNvGrpSpPr/>
          <p:nvPr/>
        </p:nvGrpSpPr>
        <p:grpSpPr>
          <a:xfrm>
            <a:off x="4816475" y="3095625"/>
            <a:ext cx="598488" cy="473075"/>
            <a:chOff x="4850446" y="3095933"/>
            <a:chExt cx="598943" cy="473011"/>
          </a:xfrm>
        </p:grpSpPr>
        <p:sp>
          <p:nvSpPr>
            <p:cNvPr id="20" name="矩形 19"/>
            <p:cNvSpPr/>
            <p:nvPr/>
          </p:nvSpPr>
          <p:spPr>
            <a:xfrm>
              <a:off x="4874290" y="3095933"/>
              <a:ext cx="473686" cy="473011"/>
            </a:xfrm>
            <a:prstGeom prst="rect">
              <a:avLst/>
            </a:prstGeom>
            <a:solidFill>
              <a:srgbClr val="FBB8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300" name="文本框 24"/>
            <p:cNvSpPr txBox="1"/>
            <p:nvPr/>
          </p:nvSpPr>
          <p:spPr>
            <a:xfrm>
              <a:off x="4850446" y="3116250"/>
              <a:ext cx="598943" cy="3987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 b="1" i="1" dirty="0">
                  <a:solidFill>
                    <a:schemeClr val="bg1"/>
                  </a:solidFill>
                  <a:latin typeface="Arial" panose="020B0704020202020204" pitchFamily="34" charset="0"/>
                  <a:ea typeface="SimSun" pitchFamily="2" charset="-122"/>
                </a:rPr>
                <a:t>03</a:t>
              </a:r>
              <a:endParaRPr lang="en-US" altLang="zh-CN" sz="2000" b="1" i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0"/>
              </a:endParaRPr>
            </a:p>
          </p:txBody>
        </p:sp>
      </p:grpSp>
      <p:grpSp>
        <p:nvGrpSpPr>
          <p:cNvPr id="12301" name="组合 6"/>
          <p:cNvGrpSpPr/>
          <p:nvPr/>
        </p:nvGrpSpPr>
        <p:grpSpPr>
          <a:xfrm>
            <a:off x="4821238" y="3713163"/>
            <a:ext cx="593725" cy="473075"/>
            <a:chOff x="4881703" y="3712850"/>
            <a:chExt cx="593527" cy="473011"/>
          </a:xfrm>
        </p:grpSpPr>
        <p:sp>
          <p:nvSpPr>
            <p:cNvPr id="23" name="矩形 22"/>
            <p:cNvSpPr/>
            <p:nvPr/>
          </p:nvSpPr>
          <p:spPr>
            <a:xfrm>
              <a:off x="4902311" y="3712850"/>
              <a:ext cx="473998" cy="473011"/>
            </a:xfrm>
            <a:prstGeom prst="rect">
              <a:avLst/>
            </a:prstGeom>
            <a:solidFill>
              <a:srgbClr val="563F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303" name="文本框 25"/>
            <p:cNvSpPr txBox="1"/>
            <p:nvPr/>
          </p:nvSpPr>
          <p:spPr>
            <a:xfrm>
              <a:off x="4881703" y="3749040"/>
              <a:ext cx="593527" cy="3987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 b="1" i="1" dirty="0">
                  <a:solidFill>
                    <a:schemeClr val="bg1"/>
                  </a:solidFill>
                  <a:latin typeface="Arial" panose="020B0704020202020204" pitchFamily="34" charset="0"/>
                  <a:ea typeface="SimSun" pitchFamily="2" charset="-122"/>
                </a:rPr>
                <a:t>04</a:t>
              </a:r>
              <a:endParaRPr lang="en-US" altLang="zh-CN" sz="2000" b="1" i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0"/>
              </a:endParaRPr>
            </a:p>
          </p:txBody>
        </p:sp>
      </p:grpSp>
      <p:grpSp>
        <p:nvGrpSpPr>
          <p:cNvPr id="12304" name="组合 3"/>
          <p:cNvGrpSpPr/>
          <p:nvPr/>
        </p:nvGrpSpPr>
        <p:grpSpPr>
          <a:xfrm>
            <a:off x="4816475" y="2476500"/>
            <a:ext cx="598488" cy="473075"/>
            <a:chOff x="4827640" y="2476049"/>
            <a:chExt cx="599574" cy="473011"/>
          </a:xfrm>
        </p:grpSpPr>
        <p:sp>
          <p:nvSpPr>
            <p:cNvPr id="26" name="矩形 25"/>
            <p:cNvSpPr/>
            <p:nvPr/>
          </p:nvSpPr>
          <p:spPr>
            <a:xfrm>
              <a:off x="4851484" y="2476049"/>
              <a:ext cx="473682" cy="473011"/>
            </a:xfrm>
            <a:prstGeom prst="rect">
              <a:avLst/>
            </a:prstGeom>
            <a:solidFill>
              <a:srgbClr val="3C9D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306" name="文本框 27"/>
            <p:cNvSpPr txBox="1"/>
            <p:nvPr/>
          </p:nvSpPr>
          <p:spPr>
            <a:xfrm>
              <a:off x="4827640" y="2512239"/>
              <a:ext cx="599574" cy="39872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2000" b="1" i="1" dirty="0">
                  <a:solidFill>
                    <a:schemeClr val="bg1"/>
                  </a:solidFill>
                  <a:latin typeface="Arial" panose="020B0704020202020204" pitchFamily="34" charset="0"/>
                  <a:ea typeface="SimSun" pitchFamily="2" charset="-122"/>
                </a:rPr>
                <a:t>02</a:t>
              </a:r>
              <a:endParaRPr lang="en-US" altLang="zh-CN" sz="2000" b="1" i="1" dirty="0">
                <a:solidFill>
                  <a:schemeClr val="bg1"/>
                </a:solidFill>
                <a:latin typeface="Arial" panose="020B0704020202020204" pitchFamily="34" charset="0"/>
                <a:ea typeface="Arial" panose="020B0704020202020204" pitchFamily="34" charset="0"/>
              </a:endParaRPr>
            </a:p>
          </p:txBody>
        </p:sp>
      </p:grpSp>
      <p:cxnSp>
        <p:nvCxnSpPr>
          <p:cNvPr id="28" name="直接连接符 27"/>
          <p:cNvCxnSpPr/>
          <p:nvPr/>
        </p:nvCxnSpPr>
        <p:spPr>
          <a:xfrm>
            <a:off x="4572000" y="1862138"/>
            <a:ext cx="0" cy="2300288"/>
          </a:xfrm>
          <a:prstGeom prst="line">
            <a:avLst/>
          </a:prstGeom>
          <a:ln>
            <a:solidFill>
              <a:srgbClr val="3E48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09" name="组合 33"/>
          <p:cNvGrpSpPr/>
          <p:nvPr/>
        </p:nvGrpSpPr>
        <p:grpSpPr>
          <a:xfrm>
            <a:off x="7721600" y="0"/>
            <a:ext cx="1422400" cy="1555750"/>
            <a:chOff x="6841065" y="0"/>
            <a:chExt cx="2302935" cy="3177116"/>
          </a:xfrm>
        </p:grpSpPr>
        <p:cxnSp>
          <p:nvCxnSpPr>
            <p:cNvPr id="35" name="直接连接符 34"/>
            <p:cNvCxnSpPr/>
            <p:nvPr/>
          </p:nvCxnSpPr>
          <p:spPr>
            <a:xfrm flipH="1">
              <a:off x="6841065" y="0"/>
              <a:ext cx="2302935" cy="2301788"/>
            </a:xfrm>
            <a:prstGeom prst="line">
              <a:avLst/>
            </a:prstGeom>
            <a:ln w="3175">
              <a:solidFill>
                <a:srgbClr val="D75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6841065" y="269083"/>
              <a:ext cx="2302935" cy="2301788"/>
            </a:xfrm>
            <a:prstGeom prst="line">
              <a:avLst/>
            </a:prstGeom>
            <a:ln w="3175">
              <a:solidFill>
                <a:srgbClr val="3C9D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>
              <a:off x="6841065" y="570584"/>
              <a:ext cx="2302935" cy="2305031"/>
            </a:xfrm>
            <a:prstGeom prst="line">
              <a:avLst/>
            </a:prstGeom>
            <a:ln w="3175">
              <a:solidFill>
                <a:srgbClr val="FBB8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>
              <a:off x="6841065" y="875328"/>
              <a:ext cx="2302935" cy="2301788"/>
            </a:xfrm>
            <a:prstGeom prst="line">
              <a:avLst/>
            </a:prstGeom>
            <a:ln w="3175">
              <a:solidFill>
                <a:srgbClr val="563F6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22350" y="1684020"/>
            <a:ext cx="2895600" cy="2663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矩形 24"/>
          <p:cNvSpPr/>
          <p:nvPr/>
        </p:nvSpPr>
        <p:spPr>
          <a:xfrm>
            <a:off x="0" y="968375"/>
            <a:ext cx="2111375" cy="3206750"/>
          </a:xfrm>
          <a:prstGeom prst="rect">
            <a:avLst/>
          </a:prstGeom>
          <a:solidFill>
            <a:srgbClr val="D75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0" y="-3175"/>
            <a:ext cx="671513" cy="671513"/>
          </a:xfrm>
          <a:prstGeom prst="rect">
            <a:avLst/>
          </a:prstGeom>
          <a:solidFill>
            <a:srgbClr val="D75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24" name="文本框 5"/>
          <p:cNvSpPr txBox="1"/>
          <p:nvPr/>
        </p:nvSpPr>
        <p:spPr>
          <a:xfrm>
            <a:off x="735013" y="131763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defTabSz="684530"/>
            <a:r>
              <a:rPr lang="ko-KR" altLang="en-US" sz="2400" dirty="0">
                <a:solidFill>
                  <a:srgbClr val="3E484F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서론</a:t>
            </a:r>
            <a:endParaRPr lang="ko-KR" altLang="en-US" sz="2400" dirty="0">
              <a:solidFill>
                <a:srgbClr val="3E484F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grpSp>
        <p:nvGrpSpPr>
          <p:cNvPr id="13325" name="组合 18"/>
          <p:cNvGrpSpPr/>
          <p:nvPr/>
        </p:nvGrpSpPr>
        <p:grpSpPr>
          <a:xfrm>
            <a:off x="7721600" y="0"/>
            <a:ext cx="1422400" cy="1555750"/>
            <a:chOff x="6841065" y="0"/>
            <a:chExt cx="2302935" cy="3177116"/>
          </a:xfrm>
        </p:grpSpPr>
        <p:cxnSp>
          <p:nvCxnSpPr>
            <p:cNvPr id="20" name="直接连接符 19"/>
            <p:cNvCxnSpPr/>
            <p:nvPr/>
          </p:nvCxnSpPr>
          <p:spPr>
            <a:xfrm flipH="1">
              <a:off x="6841065" y="0"/>
              <a:ext cx="2302935" cy="2301788"/>
            </a:xfrm>
            <a:prstGeom prst="line">
              <a:avLst/>
            </a:prstGeom>
            <a:ln w="3175">
              <a:solidFill>
                <a:srgbClr val="D75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6841065" y="269083"/>
              <a:ext cx="2302935" cy="2301788"/>
            </a:xfrm>
            <a:prstGeom prst="line">
              <a:avLst/>
            </a:prstGeom>
            <a:ln w="3175">
              <a:solidFill>
                <a:srgbClr val="3C9D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841065" y="570584"/>
              <a:ext cx="2302935" cy="2305031"/>
            </a:xfrm>
            <a:prstGeom prst="line">
              <a:avLst/>
            </a:prstGeom>
            <a:ln w="3175">
              <a:solidFill>
                <a:srgbClr val="FBB8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841065" y="875328"/>
              <a:ext cx="2302935" cy="2301788"/>
            </a:xfrm>
            <a:prstGeom prst="line">
              <a:avLst/>
            </a:prstGeom>
            <a:ln w="3175">
              <a:solidFill>
                <a:srgbClr val="563F6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118235" y="968375"/>
            <a:ext cx="2286635" cy="320675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489960" y="968375"/>
            <a:ext cx="2440305" cy="320675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015990" y="968375"/>
            <a:ext cx="1887855" cy="3207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-3175"/>
            <a:ext cx="671513" cy="671513"/>
          </a:xfrm>
          <a:prstGeom prst="rect">
            <a:avLst/>
          </a:prstGeom>
          <a:solidFill>
            <a:srgbClr val="D75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42" name="组合 17"/>
          <p:cNvGrpSpPr/>
          <p:nvPr/>
        </p:nvGrpSpPr>
        <p:grpSpPr>
          <a:xfrm>
            <a:off x="4852988" y="762000"/>
            <a:ext cx="1420812" cy="1555750"/>
            <a:chOff x="6841065" y="0"/>
            <a:chExt cx="2302935" cy="3177116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6841065" y="0"/>
              <a:ext cx="2302935" cy="2301788"/>
            </a:xfrm>
            <a:prstGeom prst="line">
              <a:avLst/>
            </a:prstGeom>
            <a:ln w="3175">
              <a:solidFill>
                <a:srgbClr val="D75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6841065" y="269083"/>
              <a:ext cx="2302935" cy="2301788"/>
            </a:xfrm>
            <a:prstGeom prst="line">
              <a:avLst/>
            </a:prstGeom>
            <a:ln w="3175">
              <a:solidFill>
                <a:srgbClr val="3C9D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6841065" y="570584"/>
              <a:ext cx="2302935" cy="2305031"/>
            </a:xfrm>
            <a:prstGeom prst="line">
              <a:avLst/>
            </a:prstGeom>
            <a:ln w="3175">
              <a:solidFill>
                <a:srgbClr val="FBB8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841065" y="875328"/>
              <a:ext cx="2302935" cy="2301788"/>
            </a:xfrm>
            <a:prstGeom prst="line">
              <a:avLst/>
            </a:prstGeom>
            <a:ln w="3175">
              <a:solidFill>
                <a:srgbClr val="563F6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47" name="组合 22"/>
          <p:cNvGrpSpPr/>
          <p:nvPr/>
        </p:nvGrpSpPr>
        <p:grpSpPr>
          <a:xfrm>
            <a:off x="0" y="3389313"/>
            <a:ext cx="1422400" cy="1555750"/>
            <a:chOff x="6841065" y="0"/>
            <a:chExt cx="2302935" cy="3177116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6841065" y="0"/>
              <a:ext cx="2302935" cy="2301788"/>
            </a:xfrm>
            <a:prstGeom prst="line">
              <a:avLst/>
            </a:prstGeom>
            <a:ln w="3175">
              <a:solidFill>
                <a:srgbClr val="D75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6841065" y="269081"/>
              <a:ext cx="2302935" cy="2301788"/>
            </a:xfrm>
            <a:prstGeom prst="line">
              <a:avLst/>
            </a:prstGeom>
            <a:ln w="3175">
              <a:solidFill>
                <a:srgbClr val="3C9D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6841065" y="570584"/>
              <a:ext cx="2302935" cy="2305029"/>
            </a:xfrm>
            <a:prstGeom prst="line">
              <a:avLst/>
            </a:prstGeom>
            <a:ln w="3175">
              <a:solidFill>
                <a:srgbClr val="FBB8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6841065" y="875328"/>
              <a:ext cx="2302935" cy="2301788"/>
            </a:xfrm>
            <a:prstGeom prst="line">
              <a:avLst/>
            </a:prstGeom>
            <a:ln w="3175">
              <a:solidFill>
                <a:srgbClr val="563F6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52" name="文本框 5"/>
          <p:cNvSpPr txBox="1"/>
          <p:nvPr/>
        </p:nvSpPr>
        <p:spPr>
          <a:xfrm>
            <a:off x="735013" y="131763"/>
            <a:ext cx="32645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defTabSz="684530"/>
            <a:r>
              <a:rPr lang="ko-KR" altLang="en-US" sz="2400" dirty="0">
                <a:solidFill>
                  <a:srgbClr val="3E484F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국제 이주란 무엇인가?</a:t>
            </a:r>
            <a:endParaRPr lang="ko-KR" altLang="en-US" sz="2400" dirty="0">
              <a:solidFill>
                <a:srgbClr val="3E484F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17525" y="761365"/>
            <a:ext cx="3945890" cy="367601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853305" y="761365"/>
            <a:ext cx="3811270" cy="36766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17525" y="4550410"/>
            <a:ext cx="4572000" cy="2914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http://nationalatlas.ngii.go.kr/pages/page_2733.php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-3175"/>
            <a:ext cx="671513" cy="671513"/>
          </a:xfrm>
          <a:prstGeom prst="rect">
            <a:avLst/>
          </a:prstGeom>
          <a:solidFill>
            <a:srgbClr val="3C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0" name="文本框 5"/>
          <p:cNvSpPr txBox="1"/>
          <p:nvPr/>
        </p:nvSpPr>
        <p:spPr>
          <a:xfrm>
            <a:off x="754063" y="115888"/>
            <a:ext cx="35687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defTabSz="684530"/>
            <a:r>
              <a:rPr lang="ko-KR" altLang="en-US" sz="2400" dirty="0">
                <a:solidFill>
                  <a:srgbClr val="3E484F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현재의 정책 및 지원 제도</a:t>
            </a:r>
            <a:endParaRPr lang="ko-KR" altLang="en-US" sz="2400" dirty="0">
              <a:solidFill>
                <a:srgbClr val="3E484F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524125" y="796925"/>
            <a:ext cx="3414713" cy="1949450"/>
          </a:xfrm>
          <a:custGeom>
            <a:avLst/>
            <a:gdLst>
              <a:gd name="connsiteX0" fmla="*/ 0 w 3413760"/>
              <a:gd name="connsiteY0" fmla="*/ 0 h 1950720"/>
              <a:gd name="connsiteX1" fmla="*/ 3413760 w 3413760"/>
              <a:gd name="connsiteY1" fmla="*/ 0 h 1950720"/>
              <a:gd name="connsiteX2" fmla="*/ 3413760 w 3413760"/>
              <a:gd name="connsiteY2" fmla="*/ 1950720 h 1950720"/>
              <a:gd name="connsiteX3" fmla="*/ 0 w 3413760"/>
              <a:gd name="connsiteY3" fmla="*/ 1950720 h 1950720"/>
              <a:gd name="connsiteX4" fmla="*/ 0 w 3413760"/>
              <a:gd name="connsiteY4" fmla="*/ 0 h 1950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3760" h="1950720">
                <a:moveTo>
                  <a:pt x="0" y="0"/>
                </a:moveTo>
                <a:lnTo>
                  <a:pt x="3413760" y="0"/>
                </a:lnTo>
                <a:lnTo>
                  <a:pt x="3413760" y="1950720"/>
                </a:lnTo>
                <a:lnTo>
                  <a:pt x="0" y="19507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462280" tIns="0" rIns="462280" bIns="462280" spcCol="1270" anchor="ctr"/>
          <a:lstStyle/>
          <a:p>
            <a:pPr marL="0" marR="0" lvl="0" indent="0" algn="l" defTabSz="28892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6500" b="0" i="0" u="none" strike="noStrike" kern="1200" cap="none" spc="0" normalizeH="0" baseline="0" noProof="0">
              <a:ln>
                <a:noFill/>
              </a:ln>
              <a:solidFill>
                <a:schemeClr val="tx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844550" y="862965"/>
            <a:ext cx="2347595" cy="165227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259830" y="862965"/>
            <a:ext cx="2294255" cy="333502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3456305" y="862965"/>
            <a:ext cx="2539365" cy="333502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819785" y="2571750"/>
            <a:ext cx="2387600" cy="1652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-3175"/>
            <a:ext cx="671513" cy="671513"/>
          </a:xfrm>
          <a:prstGeom prst="rect">
            <a:avLst/>
          </a:prstGeom>
          <a:solidFill>
            <a:srgbClr val="FBB8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78" name="文本框 5"/>
          <p:cNvSpPr txBox="1"/>
          <p:nvPr/>
        </p:nvSpPr>
        <p:spPr>
          <a:xfrm>
            <a:off x="754063" y="115888"/>
            <a:ext cx="20961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defTabSz="684530"/>
            <a:r>
              <a:rPr lang="ko-KR" altLang="en-US" sz="2400" dirty="0">
                <a:solidFill>
                  <a:srgbClr val="3E484F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긍정적인 측면</a:t>
            </a:r>
            <a:endParaRPr lang="ko-KR" altLang="en-US" sz="2400" dirty="0">
              <a:solidFill>
                <a:srgbClr val="3E484F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755015" y="939800"/>
            <a:ext cx="2349500" cy="184213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3223260" y="885825"/>
            <a:ext cx="2531745" cy="189611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5873750" y="885825"/>
            <a:ext cx="2532380" cy="18961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50900" y="3045460"/>
            <a:ext cx="2253615" cy="88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ko-KR" altLang="en-US" sz="3600" b="1">
                <a:ln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다양한 </a:t>
            </a:r>
            <a:endParaRPr lang="ko-KR" altLang="en-US" sz="3600" b="1">
              <a:ln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 algn="ctr"/>
            <a:r>
              <a:rPr lang="ko-KR" altLang="en-US" sz="3600" b="1">
                <a:ln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직장 환경</a:t>
            </a:r>
            <a:endParaRPr lang="ko-KR" altLang="en-US" sz="3600" b="1">
              <a:ln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231515" y="3045460"/>
            <a:ext cx="2253615" cy="88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ko-KR" altLang="en-US" sz="360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유학생 </a:t>
            </a:r>
            <a:endParaRPr lang="ko-KR" altLang="en-US" sz="360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  <a:p>
            <a:pPr algn="ctr"/>
            <a:r>
              <a:rPr lang="ko-KR" altLang="en-US" sz="360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증가</a:t>
            </a:r>
            <a:endParaRPr lang="ko-KR" altLang="en-US" sz="360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755005" y="3045460"/>
            <a:ext cx="2253615" cy="883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ko-KR" altLang="en-US" sz="360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다문화가족의 증가</a:t>
            </a:r>
            <a:endParaRPr lang="ko-KR" altLang="en-US" sz="360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矩形 39"/>
          <p:cNvSpPr/>
          <p:nvPr/>
        </p:nvSpPr>
        <p:spPr>
          <a:xfrm>
            <a:off x="0" y="-3175"/>
            <a:ext cx="671513" cy="671513"/>
          </a:xfrm>
          <a:prstGeom prst="rect">
            <a:avLst/>
          </a:prstGeom>
          <a:solidFill>
            <a:srgbClr val="FBB8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78" name="文本框 5"/>
          <p:cNvSpPr txBox="1"/>
          <p:nvPr/>
        </p:nvSpPr>
        <p:spPr>
          <a:xfrm>
            <a:off x="754063" y="115888"/>
            <a:ext cx="20961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defTabSz="684530"/>
            <a:r>
              <a:rPr lang="ko-KR" altLang="en-US" sz="2400" dirty="0">
                <a:solidFill>
                  <a:srgbClr val="3E484F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문제점과 한계</a:t>
            </a:r>
            <a:endParaRPr lang="ko-KR" altLang="en-US" sz="2400" dirty="0">
              <a:solidFill>
                <a:srgbClr val="3E484F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671830" y="1226185"/>
            <a:ext cx="3693795" cy="258064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4629150" y="1226185"/>
            <a:ext cx="3694430" cy="2581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9705" name="组合 18"/>
          <p:cNvGrpSpPr/>
          <p:nvPr/>
        </p:nvGrpSpPr>
        <p:grpSpPr>
          <a:xfrm>
            <a:off x="7721600" y="0"/>
            <a:ext cx="1422400" cy="1555750"/>
            <a:chOff x="6841065" y="0"/>
            <a:chExt cx="2302935" cy="3177116"/>
          </a:xfrm>
        </p:grpSpPr>
        <p:cxnSp>
          <p:nvCxnSpPr>
            <p:cNvPr id="20" name="直接连接符 19"/>
            <p:cNvCxnSpPr/>
            <p:nvPr/>
          </p:nvCxnSpPr>
          <p:spPr>
            <a:xfrm flipH="1">
              <a:off x="6841065" y="0"/>
              <a:ext cx="2302935" cy="2301788"/>
            </a:xfrm>
            <a:prstGeom prst="line">
              <a:avLst/>
            </a:prstGeom>
            <a:ln w="3175">
              <a:solidFill>
                <a:srgbClr val="D75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6841065" y="269083"/>
              <a:ext cx="2302935" cy="2301788"/>
            </a:xfrm>
            <a:prstGeom prst="line">
              <a:avLst/>
            </a:prstGeom>
            <a:ln w="3175">
              <a:solidFill>
                <a:srgbClr val="3C9D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841065" y="570584"/>
              <a:ext cx="2302935" cy="2305031"/>
            </a:xfrm>
            <a:prstGeom prst="line">
              <a:avLst/>
            </a:prstGeom>
            <a:ln w="3175">
              <a:solidFill>
                <a:srgbClr val="FBB8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6841065" y="875328"/>
              <a:ext cx="2302935" cy="2301788"/>
            </a:xfrm>
            <a:prstGeom prst="line">
              <a:avLst/>
            </a:prstGeom>
            <a:ln w="3175">
              <a:solidFill>
                <a:srgbClr val="563F6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矩形 29"/>
          <p:cNvSpPr/>
          <p:nvPr/>
        </p:nvSpPr>
        <p:spPr>
          <a:xfrm>
            <a:off x="0" y="-3175"/>
            <a:ext cx="671513" cy="671513"/>
          </a:xfrm>
          <a:prstGeom prst="rect">
            <a:avLst/>
          </a:prstGeom>
          <a:solidFill>
            <a:srgbClr val="563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16" name="文本框 5"/>
          <p:cNvSpPr txBox="1"/>
          <p:nvPr/>
        </p:nvSpPr>
        <p:spPr>
          <a:xfrm>
            <a:off x="754063" y="115888"/>
            <a:ext cx="30778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 defTabSz="684530"/>
            <a:r>
              <a:rPr lang="ko-KR" altLang="en-US" sz="2400" dirty="0">
                <a:solidFill>
                  <a:srgbClr val="563F6B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개선 방안 제안</a:t>
            </a:r>
            <a:r>
              <a:rPr lang="en-US" altLang="ko-KR" sz="2400" dirty="0">
                <a:solidFill>
                  <a:srgbClr val="563F6B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&amp; </a:t>
            </a:r>
            <a:r>
              <a:rPr lang="ko-KR" altLang="en-US" sz="2400" dirty="0">
                <a:solidFill>
                  <a:srgbClr val="563F6B"/>
                </a:solidFill>
                <a:latin typeface="Arial" panose="020B0704020202020204" pitchFamily="34" charset="0"/>
                <a:ea typeface="Arial" panose="020B0704020202020204" pitchFamily="34" charset="0"/>
              </a:rPr>
              <a:t>결론</a:t>
            </a:r>
            <a:endParaRPr lang="ko-KR" altLang="en-US" sz="2400" dirty="0">
              <a:solidFill>
                <a:srgbClr val="563F6B"/>
              </a:solidFill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71830" y="789940"/>
            <a:ext cx="3379470" cy="37846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704020202020204" pitchFamily="34" charset="0"/>
            </a:pPr>
            <a:r>
              <a:rPr lang="ko-KR" altLang="en-US" sz="1600" i="1"/>
              <a:t>개선방안</a:t>
            </a:r>
            <a:endParaRPr lang="ko-KR" altLang="en-US" sz="1600" i="1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다문화 이해 교육 확대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다양성 교육 강화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편견·차별 감소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지역사회 교류 활성화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사회통합 촉진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 sz="1600"/>
          </a:p>
          <a:p>
            <a:pPr>
              <a:buFont typeface="Arial" panose="020B0704020202020204" pitchFamily="34" charset="0"/>
            </a:pPr>
            <a:r>
              <a:rPr lang="ko-KR" altLang="en-US" sz="1600" i="1"/>
              <a:t>결론</a:t>
            </a:r>
            <a:endParaRPr lang="ko-KR" altLang="en-US" sz="1600" i="1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국제이동의 중요성 증가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다문화가족의 사회적 역할 확대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정책 지원의 지속적 필요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인식 개선과 사회통합 중요</a:t>
            </a:r>
            <a:endParaRPr lang="ko-KR" altLang="en-US" sz="1600" b="1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ko-KR" altLang="en-US" sz="1600" b="1"/>
              <a:t>포용적 사회 구축 필요</a:t>
            </a:r>
            <a:endParaRPr lang="ko-KR" altLang="en-US" sz="1600" b="1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4156075" y="668655"/>
            <a:ext cx="3379470" cy="211201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156075" y="2987675"/>
            <a:ext cx="3379470" cy="18027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1746" name="组合 9"/>
          <p:cNvGrpSpPr/>
          <p:nvPr/>
        </p:nvGrpSpPr>
        <p:grpSpPr>
          <a:xfrm>
            <a:off x="7280275" y="0"/>
            <a:ext cx="1863725" cy="2571750"/>
            <a:chOff x="6841065" y="0"/>
            <a:chExt cx="2302935" cy="3177116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6841065" y="0"/>
              <a:ext cx="2302935" cy="2302429"/>
            </a:xfrm>
            <a:prstGeom prst="line">
              <a:avLst/>
            </a:prstGeom>
            <a:ln w="28575">
              <a:solidFill>
                <a:srgbClr val="D75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H="1">
              <a:off x="6841065" y="268683"/>
              <a:ext cx="2302935" cy="2302429"/>
            </a:xfrm>
            <a:prstGeom prst="line">
              <a:avLst/>
            </a:prstGeom>
            <a:ln w="28575">
              <a:solidFill>
                <a:srgbClr val="3C9D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6841065" y="570705"/>
              <a:ext cx="2302935" cy="2304389"/>
            </a:xfrm>
            <a:prstGeom prst="line">
              <a:avLst/>
            </a:prstGeom>
            <a:ln w="28575">
              <a:solidFill>
                <a:srgbClr val="FBB8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>
              <a:off x="6841065" y="874687"/>
              <a:ext cx="2302935" cy="2302429"/>
            </a:xfrm>
            <a:prstGeom prst="line">
              <a:avLst/>
            </a:prstGeom>
            <a:ln w="28575">
              <a:solidFill>
                <a:srgbClr val="563F6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51" name="文本框 23"/>
          <p:cNvSpPr txBox="1"/>
          <p:nvPr/>
        </p:nvSpPr>
        <p:spPr>
          <a:xfrm>
            <a:off x="2115820" y="1863408"/>
            <a:ext cx="5164455" cy="110680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defTabSz="913130"/>
            <a:r>
              <a:rPr lang="en-US" altLang="zh-CN" sz="6600" b="1" dirty="0">
                <a:solidFill>
                  <a:srgbClr val="3E484F"/>
                </a:solidFill>
                <a:latin typeface="Arial" panose="020B0704020202020204" pitchFamily="34" charset="0"/>
                <a:ea typeface="SimSun" pitchFamily="2" charset="-122"/>
              </a:rPr>
              <a:t>THANK YOU</a:t>
            </a:r>
            <a:endParaRPr lang="en-US" altLang="zh-CN" sz="6600" b="1" dirty="0">
              <a:solidFill>
                <a:srgbClr val="3E484F"/>
              </a:solidFill>
              <a:latin typeface="Arial" panose="020B0704020202020204" pitchFamily="34" charset="0"/>
              <a:ea typeface="SimSun" pitchFamily="2" charset="-122"/>
            </a:endParaRPr>
          </a:p>
        </p:txBody>
      </p:sp>
      <p:grpSp>
        <p:nvGrpSpPr>
          <p:cNvPr id="31753" name="组合 17"/>
          <p:cNvGrpSpPr/>
          <p:nvPr/>
        </p:nvGrpSpPr>
        <p:grpSpPr>
          <a:xfrm>
            <a:off x="0" y="2571750"/>
            <a:ext cx="1863725" cy="2571750"/>
            <a:chOff x="6841065" y="0"/>
            <a:chExt cx="2302935" cy="3177116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6841065" y="0"/>
              <a:ext cx="2302935" cy="2302429"/>
            </a:xfrm>
            <a:prstGeom prst="line">
              <a:avLst/>
            </a:prstGeom>
            <a:ln w="28575">
              <a:solidFill>
                <a:srgbClr val="D75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6841065" y="268683"/>
              <a:ext cx="2302935" cy="2302429"/>
            </a:xfrm>
            <a:prstGeom prst="line">
              <a:avLst/>
            </a:prstGeom>
            <a:ln w="28575">
              <a:solidFill>
                <a:srgbClr val="3C9D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6841065" y="570705"/>
              <a:ext cx="2302935" cy="2304389"/>
            </a:xfrm>
            <a:prstGeom prst="line">
              <a:avLst/>
            </a:prstGeom>
            <a:ln w="28575">
              <a:solidFill>
                <a:srgbClr val="FBB8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flipH="1">
              <a:off x="6841065" y="874687"/>
              <a:ext cx="2302935" cy="2302429"/>
            </a:xfrm>
            <a:prstGeom prst="line">
              <a:avLst/>
            </a:prstGeom>
            <a:ln w="28575">
              <a:solidFill>
                <a:srgbClr val="563F6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349</Words>
  <Application>WPS Presentation</Application>
  <PresentationFormat>全屏显示(16:9)</PresentationFormat>
  <Paragraphs>64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34" baseType="lpstr">
      <vt:lpstr>Arial</vt:lpstr>
      <vt:lpstr>SimSun</vt:lpstr>
      <vt:lpstr>Wingdings</vt:lpstr>
      <vt:lpstr>SimSun</vt:lpstr>
      <vt:lpstr>宋体-简</vt:lpstr>
      <vt:lpstr>Calibri</vt:lpstr>
      <vt:lpstr>Helvetica Neue</vt:lpstr>
      <vt:lpstr>Calibri Light</vt:lpstr>
      <vt:lpstr>DeVinne Txt BT</vt:lpstr>
      <vt:lpstr>苹方-简</vt:lpstr>
      <vt:lpstr>Segoe Print</vt:lpstr>
      <vt:lpstr>方正兰亭超细黑简体</vt:lpstr>
      <vt:lpstr>黑体-简</vt:lpstr>
      <vt:lpstr>SimHei</vt:lpstr>
      <vt:lpstr>Microsoft YaHei</vt:lpstr>
      <vt:lpstr>汉仪旗黑</vt:lpstr>
      <vt:lpstr>Calibri</vt:lpstr>
      <vt:lpstr>Arial Unicode MS</vt:lpstr>
      <vt:lpstr>BatangChe</vt:lpstr>
      <vt:lpstr>Apple SD Gothic Neo</vt:lpstr>
      <vt:lpstr>Malgun Gothic</vt:lpstr>
      <vt:lpstr>Malgun Gothic</vt:lpstr>
      <vt:lpstr>Office 主题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熊猫设计出品</dc:creator>
  <cp:lastModifiedBy>Yusufjon Ahmedov</cp:lastModifiedBy>
  <cp:revision>117</cp:revision>
  <dcterms:created xsi:type="dcterms:W3CDTF">2026-06-03T10:08:00Z</dcterms:created>
  <dcterms:modified xsi:type="dcterms:W3CDTF">2026-06-03T10:08:00Z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1033-12.1.25880.25880</vt:lpwstr>
  </property>
  <property fmtid="{D5CDD505-2E9C-101B-9397-08002B2CF9AE}" pid="3" name="ICV">
    <vt:lpwstr>53A025F353B9C348F2F31F6A62BE805A_43</vt:lpwstr>
  </property>
</Properties>
</file>