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webp" ContentType="image/webp"/>
  <Override PartName="/ppt/media/image13.webp" ContentType="image/webp"/>
  <Override PartName="/ppt/media/image14.webp" ContentType="image/webp"/>
  <Override PartName="/ppt/media/image17.webp" ContentType="image/webp"/>
  <Override PartName="/ppt/media/image18.webp" ContentType="image/webp"/>
  <Override PartName="/ppt/media/image9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8" r:id="rId3"/>
    <p:sldId id="262" r:id="rId4"/>
    <p:sldId id="257" r:id="rId6"/>
    <p:sldId id="292" r:id="rId7"/>
    <p:sldId id="299" r:id="rId8"/>
    <p:sldId id="300" r:id="rId9"/>
    <p:sldId id="301" r:id="rId10"/>
    <p:sldId id="302" r:id="rId11"/>
    <p:sldId id="303" r:id="rId12"/>
    <p:sldId id="304" r:id="rId13"/>
    <p:sldId id="266" r:id="rId14"/>
    <p:sldId id="297" r:id="rId15"/>
    <p:sldId id="265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3" userDrawn="1">
          <p15:clr>
            <a:srgbClr val="A4A3A4"/>
          </p15:clr>
        </p15:guide>
        <p15:guide id="2" pos="200" userDrawn="1">
          <p15:clr>
            <a:srgbClr val="A4A3A4"/>
          </p15:clr>
        </p15:guide>
        <p15:guide id="3" pos="395" userDrawn="1">
          <p15:clr>
            <a:srgbClr val="A4A3A4"/>
          </p15:clr>
        </p15:guide>
        <p15:guide id="4" pos="7256" userDrawn="1">
          <p15:clr>
            <a:srgbClr val="A4A3A4"/>
          </p15:clr>
        </p15:guide>
        <p15:guide id="5" orient="horz" pos="678" userDrawn="1">
          <p15:clr>
            <a:srgbClr val="A4A3A4"/>
          </p15:clr>
        </p15:guide>
        <p15:guide id="6" orient="horz" pos="678" userDrawn="1">
          <p15:clr>
            <a:srgbClr val="A4A3A4"/>
          </p15:clr>
        </p15:guide>
        <p15:guide id="7" orient="horz" pos="3928" userDrawn="1">
          <p15:clr>
            <a:srgbClr val="A4A3A4"/>
          </p15:clr>
        </p15:guide>
        <p15:guide id="8" orient="horz" pos="3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5249"/>
    <a:srgbClr val="049373"/>
    <a:srgbClr val="64BF9C"/>
    <a:srgbClr val="FC9804"/>
    <a:srgbClr val="C302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068" y="84"/>
      </p:cViewPr>
      <p:guideLst>
        <p:guide orient="horz" pos="2273"/>
        <p:guide pos="200"/>
        <p:guide pos="395"/>
        <p:guide pos="7256"/>
        <p:guide orient="horz" pos="678"/>
        <p:guide orient="horz" pos="678"/>
        <p:guide orient="horz" pos="3928"/>
        <p:guide orient="horz" pos="3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DF40EE-CC17-4BC3-BB7B-65DD2FC0308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B7666-F619-4AA5-969F-6053C26D00F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5B7666-F619-4AA5-969F-6053C26D00F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  <p:sp>
        <p:nvSpPr>
          <p:cNvPr id="7" name="页面-上"/>
          <p:cNvSpPr/>
          <p:nvPr userDrawn="1"/>
        </p:nvSpPr>
        <p:spPr>
          <a:xfrm>
            <a:off x="5778500" y="-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页面-下"/>
          <p:cNvSpPr/>
          <p:nvPr userDrawn="1"/>
        </p:nvSpPr>
        <p:spPr>
          <a:xfrm>
            <a:off x="5778500" y="22860000"/>
            <a:ext cx="635000" cy="635000"/>
          </a:xfrm>
          <a:prstGeom prst="ellipse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8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0.jpeg"/><Relationship Id="rId2" Type="http://schemas.openxmlformats.org/officeDocument/2006/relationships/image" Target="../media/image9.webp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2.jpeg"/><Relationship Id="rId2" Type="http://schemas.openxmlformats.org/officeDocument/2006/relationships/image" Target="../media/image11.webp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4.webp"/><Relationship Id="rId2" Type="http://schemas.openxmlformats.org/officeDocument/2006/relationships/image" Target="../media/image13.webp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9.jpeg"/><Relationship Id="rId5" Type="http://schemas.openxmlformats.org/officeDocument/2006/relationships/image" Target="../media/image18.webp"/><Relationship Id="rId4" Type="http://schemas.openxmlformats.org/officeDocument/2006/relationships/image" Target="../media/image17.webp"/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20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6597650" y="1619250"/>
            <a:ext cx="5019675" cy="14452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spc="0" normalizeH="0" noProof="0" dirty="0">
                <a:ln w="12700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Korean Presidents &amp; </a:t>
            </a:r>
            <a:endParaRPr kumimoji="0" lang="en-US" altLang="en-US" sz="4400" b="0" i="0" u="none" strike="noStrike" kern="1200" spc="0" normalizeH="0" noProof="0" dirty="0">
              <a:ln w="12700">
                <a:noFill/>
              </a:ln>
              <a:solidFill>
                <a:prstClr val="black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spc="0" normalizeH="0" noProof="0" dirty="0">
                <a:ln w="12700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Their Contributions</a:t>
            </a:r>
            <a:endParaRPr kumimoji="0" lang="en-US" altLang="en-US" sz="4400" b="0" i="0" u="none" strike="noStrike" kern="1200" spc="0" normalizeH="0" noProof="0" dirty="0">
              <a:ln w="12700">
                <a:noFill/>
              </a:ln>
              <a:solidFill>
                <a:prstClr val="black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15125" y="3572043"/>
            <a:ext cx="4179854" cy="423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1800" b="0" i="0" u="none" strike="noStrike" kern="1200" cap="small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Republic of Korea, 1948–2026</a:t>
            </a:r>
            <a:endParaRPr kumimoji="0" lang="en-US" altLang="en-US" sz="1800" b="0" i="0" u="none" strike="noStrike" kern="1200" cap="small" spc="0" normalizeH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819900" y="5155565"/>
            <a:ext cx="5019675" cy="476250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50735" y="5208905"/>
            <a:ext cx="44665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ko-KR" sz="18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AKHMEDOV YUSUFJON - 202438404</a:t>
            </a:r>
            <a:endParaRPr kumimoji="0" lang="en-US" altLang="ko-KR" sz="1800" b="0" i="0" u="none" strike="noStrike" kern="1200" cap="sm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48363" y="1619250"/>
            <a:ext cx="295275" cy="1714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rcRect l="15479" r="37202"/>
          <a:stretch>
            <a:fillRect/>
          </a:stretch>
        </p:blipFill>
        <p:spPr>
          <a:xfrm>
            <a:off x="0" y="0"/>
            <a:ext cx="5948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/>
          <p:nvPr/>
        </p:nvPicPr>
        <p:blipFill>
          <a:blip r:embed="rId2"/>
          <a:srcRect b="18278"/>
          <a:stretch>
            <a:fillRect/>
          </a:stretch>
        </p:blipFill>
        <p:spPr>
          <a:xfrm>
            <a:off x="1011555" y="2897505"/>
            <a:ext cx="2580640" cy="323659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899964" y="3638891"/>
            <a:ext cx="295275" cy="1714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99795" y="1075055"/>
            <a:ext cx="2419350" cy="1338580"/>
            <a:chOff x="1112906" y="1504610"/>
            <a:chExt cx="2419348" cy="974736"/>
          </a:xfrm>
        </p:grpSpPr>
        <p:grpSp>
          <p:nvGrpSpPr>
            <p:cNvPr id="19" name="组合 18"/>
            <p:cNvGrpSpPr/>
            <p:nvPr/>
          </p:nvGrpSpPr>
          <p:grpSpPr>
            <a:xfrm>
              <a:off x="1112906" y="1504610"/>
              <a:ext cx="2419348" cy="959854"/>
              <a:chOff x="3166476" y="1375203"/>
              <a:chExt cx="2419348" cy="959854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3166476" y="1375203"/>
                <a:ext cx="2419348" cy="49044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OPPOSans M" panose="00020600040101010101" charset="-122"/>
                    <a:cs typeface="+mn-cs"/>
                  </a:rPr>
                  <a:t>01</a:t>
                </a:r>
                <a:endParaRPr kumimoji="0" lang="en-US" altLang="zh-CN" sz="2800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POSans M" panose="00020600040101010101" charset="-122"/>
                  <a:cs typeface="+mn-cs"/>
                </a:endParaRPr>
              </a:p>
            </p:txBody>
          </p:sp>
          <p:cxnSp>
            <p:nvCxnSpPr>
              <p:cNvPr id="15" name="直接连接符 14"/>
              <p:cNvCxnSpPr/>
              <p:nvPr/>
            </p:nvCxnSpPr>
            <p:spPr>
              <a:xfrm>
                <a:off x="3278250" y="2335057"/>
                <a:ext cx="1238250" cy="0"/>
              </a:xfrm>
              <a:prstGeom prst="line">
                <a:avLst/>
              </a:prstGeom>
              <a:ln w="2540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文本框 27"/>
            <p:cNvSpPr txBox="1"/>
            <p:nvPr/>
          </p:nvSpPr>
          <p:spPr>
            <a:xfrm>
              <a:off x="1112906" y="1878228"/>
              <a:ext cx="2309493" cy="60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Foundation Era (1948–1961)</a:t>
              </a:r>
              <a:endParaRPr kumimoji="0" lang="en-US" altLang="en-US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  <p:grpSp>
        <p:nvGrpSpPr>
          <p:cNvPr id="2" name="组合 28"/>
          <p:cNvGrpSpPr/>
          <p:nvPr/>
        </p:nvGrpSpPr>
        <p:grpSpPr>
          <a:xfrm>
            <a:off x="3728720" y="1075055"/>
            <a:ext cx="2419350" cy="1338580"/>
            <a:chOff x="1112906" y="1504610"/>
            <a:chExt cx="2419348" cy="974736"/>
          </a:xfrm>
        </p:grpSpPr>
        <p:grpSp>
          <p:nvGrpSpPr>
            <p:cNvPr id="8" name="组合 18"/>
            <p:cNvGrpSpPr/>
            <p:nvPr/>
          </p:nvGrpSpPr>
          <p:grpSpPr>
            <a:xfrm>
              <a:off x="1112906" y="1504610"/>
              <a:ext cx="2419348" cy="959854"/>
              <a:chOff x="3166476" y="1375203"/>
              <a:chExt cx="2419348" cy="959854"/>
            </a:xfrm>
          </p:grpSpPr>
          <p:sp>
            <p:nvSpPr>
              <p:cNvPr id="9" name="文本框 6"/>
              <p:cNvSpPr txBox="1"/>
              <p:nvPr/>
            </p:nvSpPr>
            <p:spPr>
              <a:xfrm>
                <a:off x="3166476" y="1375203"/>
                <a:ext cx="2419348" cy="49044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OPPOSans M" panose="00020600040101010101" charset="-122"/>
                    <a:cs typeface="+mn-cs"/>
                  </a:rPr>
                  <a:t>02</a:t>
                </a:r>
                <a:endParaRPr kumimoji="0" lang="en-US" altLang="zh-CN" sz="2800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POSans M" panose="00020600040101010101" charset="-122"/>
                  <a:cs typeface="+mn-cs"/>
                </a:endParaRPr>
              </a:p>
            </p:txBody>
          </p:sp>
          <p:cxnSp>
            <p:nvCxnSpPr>
              <p:cNvPr id="10" name="直接连接符 14"/>
              <p:cNvCxnSpPr/>
              <p:nvPr/>
            </p:nvCxnSpPr>
            <p:spPr>
              <a:xfrm>
                <a:off x="3278250" y="2335057"/>
                <a:ext cx="1238250" cy="0"/>
              </a:xfrm>
              <a:prstGeom prst="line">
                <a:avLst/>
              </a:prstGeom>
              <a:ln w="2540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文本框 27"/>
            <p:cNvSpPr txBox="1"/>
            <p:nvPr/>
          </p:nvSpPr>
          <p:spPr>
            <a:xfrm>
              <a:off x="1112906" y="1878228"/>
              <a:ext cx="2309493" cy="60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Authoritarian Era (1963–1993)</a:t>
              </a:r>
              <a:endParaRPr kumimoji="0" lang="en-US" altLang="en-US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  <p:grpSp>
        <p:nvGrpSpPr>
          <p:cNvPr id="12" name="组合 28"/>
          <p:cNvGrpSpPr/>
          <p:nvPr/>
        </p:nvGrpSpPr>
        <p:grpSpPr>
          <a:xfrm>
            <a:off x="6198870" y="1075055"/>
            <a:ext cx="2419350" cy="1318260"/>
            <a:chOff x="1112906" y="1504610"/>
            <a:chExt cx="2419348" cy="959854"/>
          </a:xfrm>
        </p:grpSpPr>
        <p:grpSp>
          <p:nvGrpSpPr>
            <p:cNvPr id="13" name="组合 18"/>
            <p:cNvGrpSpPr/>
            <p:nvPr/>
          </p:nvGrpSpPr>
          <p:grpSpPr>
            <a:xfrm>
              <a:off x="1112906" y="1504610"/>
              <a:ext cx="2419348" cy="959854"/>
              <a:chOff x="3166476" y="1375203"/>
              <a:chExt cx="2419348" cy="959854"/>
            </a:xfrm>
          </p:grpSpPr>
          <p:sp>
            <p:nvSpPr>
              <p:cNvPr id="14" name="文本框 6"/>
              <p:cNvSpPr txBox="1"/>
              <p:nvPr/>
            </p:nvSpPr>
            <p:spPr>
              <a:xfrm>
                <a:off x="3166476" y="1375203"/>
                <a:ext cx="2419348" cy="26656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OPPOSans M" panose="00020600040101010101" charset="-122"/>
                    <a:cs typeface="+mn-cs"/>
                  </a:rPr>
                  <a:t>03</a:t>
                </a:r>
                <a:endParaRPr kumimoji="0" lang="en-US" altLang="zh-CN" sz="2800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POSans M" panose="00020600040101010101" charset="-122"/>
                  <a:cs typeface="+mn-cs"/>
                </a:endParaRPr>
              </a:p>
            </p:txBody>
          </p:sp>
          <p:cxnSp>
            <p:nvCxnSpPr>
              <p:cNvPr id="16" name="直接连接符 14"/>
              <p:cNvCxnSpPr/>
              <p:nvPr/>
            </p:nvCxnSpPr>
            <p:spPr>
              <a:xfrm>
                <a:off x="3278250" y="2335057"/>
                <a:ext cx="1238250" cy="0"/>
              </a:xfrm>
              <a:prstGeom prst="line">
                <a:avLst/>
              </a:prstGeom>
              <a:ln w="2540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27"/>
            <p:cNvSpPr txBox="1"/>
            <p:nvPr/>
          </p:nvSpPr>
          <p:spPr>
            <a:xfrm>
              <a:off x="1112906" y="1771039"/>
              <a:ext cx="2418713" cy="60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Modern Democracy (1993–2022)</a:t>
              </a:r>
              <a:endParaRPr kumimoji="0" lang="en-US" altLang="en-US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  <p:grpSp>
        <p:nvGrpSpPr>
          <p:cNvPr id="18" name="组合 28"/>
          <p:cNvGrpSpPr/>
          <p:nvPr/>
        </p:nvGrpSpPr>
        <p:grpSpPr>
          <a:xfrm>
            <a:off x="8778240" y="1075690"/>
            <a:ext cx="2419350" cy="1318260"/>
            <a:chOff x="1112906" y="1504610"/>
            <a:chExt cx="2419348" cy="974736"/>
          </a:xfrm>
        </p:grpSpPr>
        <p:grpSp>
          <p:nvGrpSpPr>
            <p:cNvPr id="20" name="组合 18"/>
            <p:cNvGrpSpPr/>
            <p:nvPr/>
          </p:nvGrpSpPr>
          <p:grpSpPr>
            <a:xfrm>
              <a:off x="1112906" y="1504610"/>
              <a:ext cx="2419348" cy="959854"/>
              <a:chOff x="3166476" y="1375203"/>
              <a:chExt cx="2419348" cy="959854"/>
            </a:xfrm>
          </p:grpSpPr>
          <p:sp>
            <p:nvSpPr>
              <p:cNvPr id="21" name="文本框 6"/>
              <p:cNvSpPr txBox="1"/>
              <p:nvPr/>
            </p:nvSpPr>
            <p:spPr>
              <a:xfrm>
                <a:off x="3166476" y="1375203"/>
                <a:ext cx="2419348" cy="3731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800" b="0" i="0" u="none" strike="noStrike" kern="1200" cap="all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+mj-lt"/>
                    <a:ea typeface="OPPOSans M" panose="00020600040101010101" charset="-122"/>
                    <a:cs typeface="+mn-cs"/>
                  </a:rPr>
                  <a:t>04</a:t>
                </a:r>
                <a:endParaRPr kumimoji="0" lang="en-US" altLang="zh-CN" sz="2800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OPPOSans M" panose="00020600040101010101" charset="-122"/>
                  <a:cs typeface="+mn-cs"/>
                </a:endParaRPr>
              </a:p>
            </p:txBody>
          </p:sp>
          <p:cxnSp>
            <p:nvCxnSpPr>
              <p:cNvPr id="22" name="直接连接符 14"/>
              <p:cNvCxnSpPr/>
              <p:nvPr/>
            </p:nvCxnSpPr>
            <p:spPr>
              <a:xfrm>
                <a:off x="3278250" y="2335057"/>
                <a:ext cx="1238250" cy="0"/>
              </a:xfrm>
              <a:prstGeom prst="line">
                <a:avLst/>
              </a:prstGeom>
              <a:ln w="25400" cap="rnd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" name="文本框 27"/>
            <p:cNvSpPr txBox="1"/>
            <p:nvPr/>
          </p:nvSpPr>
          <p:spPr>
            <a:xfrm>
              <a:off x="1112906" y="1878228"/>
              <a:ext cx="2418713" cy="601118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b="0" i="0" u="none" strike="noStrike" kern="1200" cap="all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Legacy &amp; Impact</a:t>
              </a:r>
              <a:endParaRPr kumimoji="0" lang="en-US" altLang="en-US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  <p:pic>
        <p:nvPicPr>
          <p:cNvPr id="45" name="Picture 44"/>
          <p:cNvPicPr/>
          <p:nvPr/>
        </p:nvPicPr>
        <p:blipFill>
          <a:blip r:embed="rId3"/>
          <a:stretch>
            <a:fillRect/>
          </a:stretch>
        </p:blipFill>
        <p:spPr>
          <a:xfrm>
            <a:off x="3592195" y="2897505"/>
            <a:ext cx="2712085" cy="3235960"/>
          </a:xfrm>
          <a:prstGeom prst="rect">
            <a:avLst/>
          </a:prstGeom>
        </p:spPr>
      </p:pic>
      <p:pic>
        <p:nvPicPr>
          <p:cNvPr id="46" name="Picture 45"/>
          <p:cNvPicPr/>
          <p:nvPr/>
        </p:nvPicPr>
        <p:blipFill>
          <a:blip r:embed="rId4"/>
          <a:srcRect l="22689" t="1717" r="22092" b="-1717"/>
          <a:stretch>
            <a:fillRect/>
          </a:stretch>
        </p:blipFill>
        <p:spPr>
          <a:xfrm>
            <a:off x="6304280" y="2897505"/>
            <a:ext cx="2567940" cy="3304540"/>
          </a:xfrm>
          <a:prstGeom prst="rect">
            <a:avLst/>
          </a:prstGeom>
        </p:spPr>
      </p:pic>
      <p:pic>
        <p:nvPicPr>
          <p:cNvPr id="47" name="Picture 46"/>
          <p:cNvPicPr/>
          <p:nvPr/>
        </p:nvPicPr>
        <p:blipFill>
          <a:blip r:embed="rId5"/>
          <a:srcRect l="19606" r="15023"/>
          <a:stretch>
            <a:fillRect/>
          </a:stretch>
        </p:blipFill>
        <p:spPr>
          <a:xfrm>
            <a:off x="8872220" y="2897505"/>
            <a:ext cx="2580640" cy="3236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20695" y="2122170"/>
            <a:ext cx="6150610" cy="2139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21050" y="2492375"/>
            <a:ext cx="5549900" cy="1445260"/>
            <a:chOff x="744421" y="2921169"/>
            <a:chExt cx="3276434" cy="1216037"/>
          </a:xfrm>
        </p:grpSpPr>
        <p:sp>
          <p:nvSpPr>
            <p:cNvPr id="4" name="文本框 3"/>
            <p:cNvSpPr txBox="1"/>
            <p:nvPr/>
          </p:nvSpPr>
          <p:spPr>
            <a:xfrm>
              <a:off x="744421" y="2921169"/>
              <a:ext cx="1059906" cy="1216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+mj-lt"/>
                </a:rPr>
                <a:t>01</a:t>
              </a:r>
              <a:endParaRPr lang="en-US" altLang="zh-CN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788714" y="2994875"/>
              <a:ext cx="2232141" cy="78172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600" b="0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Foundation Era (1948–1961)</a:t>
              </a:r>
              <a:endParaRPr kumimoji="0" lang="en-US" altLang="en-US" sz="3600" b="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723255" y="846455"/>
            <a:ext cx="5615940" cy="1076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Syngman Rhee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이승만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| 1st President (1948–1960)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42940" y="2414905"/>
            <a:ext cx="5520055" cy="3744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First president of the Republic of Korea. 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Established the constitutional government and aligned Korea with the US during the Cold War. 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Led the nation through the Korean War (1950–53) but governed increasingly autocratically.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>
              <a:lnSpc>
                <a:spcPct val="120000"/>
              </a:lnSpc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>
              <a:lnSpc>
                <a:spcPct val="120000"/>
              </a:lnSpc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Key Events: Constitutional elections (1948) | Korean War (1950–53) | April Revolution (1960)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>
              <a:lnSpc>
                <a:spcPct val="120000"/>
              </a:lnSpc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>
              <a:lnSpc>
                <a:spcPct val="120000"/>
              </a:lnSpc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Impact: Built foundations of the modern Korean state, but set early precedents of authoritarian rule.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rcRect l="33219" t="5240"/>
          <a:stretch>
            <a:fillRect/>
          </a:stretch>
        </p:blipFill>
        <p:spPr>
          <a:xfrm>
            <a:off x="1125855" y="-22225"/>
            <a:ext cx="2955290" cy="3507105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/>
          <a:srcRect l="-1182" t="28583" r="1182" b="9190"/>
          <a:stretch>
            <a:fillRect/>
          </a:stretch>
        </p:blipFill>
        <p:spPr>
          <a:xfrm>
            <a:off x="1125855" y="3484880"/>
            <a:ext cx="2955290" cy="331724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 rot="5400000">
            <a:off x="3866222" y="2571750"/>
            <a:ext cx="295275" cy="1714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62880" y="293370"/>
            <a:ext cx="56159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Yun Po-sun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윤보선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(1960-1962) 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Park Chung-hee </a:t>
            </a:r>
            <a:r>
              <a:rPr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(1963-1979)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2nd &amp; 3rd Presidents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2880" y="1861820"/>
            <a:ext cx="5520055" cy="141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First president under the Second Republic (parliamentary system). </a:t>
            </a:r>
            <a:r>
              <a:rPr lang="en-US" altLang="en-US" dirty="0">
                <a:solidFill>
                  <a:srgbClr val="FF0000"/>
                </a:solidFill>
                <a:effectLst/>
              </a:rPr>
              <a:t>Unable 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to prevent political instability after the April Revolution. Resigned after Park Chung-hee's military coup (1961).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1323975" y="0"/>
            <a:ext cx="2559050" cy="3484245"/>
          </a:xfrm>
          <a:prstGeom prst="rect">
            <a:avLst/>
          </a:prstGeom>
        </p:spPr>
      </p:pic>
      <p:pic>
        <p:nvPicPr>
          <p:cNvPr id="8" name="Picture 7"/>
          <p:cNvPicPr/>
          <p:nvPr/>
        </p:nvPicPr>
        <p:blipFill>
          <a:blip r:embed="rId3"/>
          <a:stretch>
            <a:fillRect/>
          </a:stretch>
        </p:blipFill>
        <p:spPr>
          <a:xfrm>
            <a:off x="1323975" y="3281680"/>
            <a:ext cx="2559685" cy="357632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5262880" y="3338195"/>
            <a:ext cx="6096000" cy="30460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Park Chung-hee 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박정희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 Masterminded the "</a:t>
            </a:r>
            <a:r>
              <a:rPr lang="en-US" altLang="en-US" dirty="0">
                <a:solidFill>
                  <a:schemeClr val="accent3">
                    <a:lumMod val="75000"/>
                  </a:schemeClr>
                </a:solidFill>
                <a:effectLst/>
                <a:sym typeface="+mn-ea"/>
              </a:rPr>
              <a:t>Miracle on the Han River"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 — transforming Korea from a poor agrarian society into an industrial powerhouse. Implemented the authoritarian Yushin Constitution (1972). </a:t>
            </a:r>
            <a:r>
              <a:rPr lang="en-US" altLang="en-US" dirty="0">
                <a:solidFill>
                  <a:srgbClr val="FF0000"/>
                </a:solidFill>
                <a:effectLst/>
                <a:sym typeface="+mn-ea"/>
              </a:rPr>
              <a:t>Assassinated by KCIA director in 1979.</a:t>
            </a:r>
            <a:endParaRPr lang="en-US" altLang="en-US" dirty="0">
              <a:solidFill>
                <a:srgbClr val="FF0000"/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Key Events:</a:t>
            </a: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 5-Year Economic Plans | Japan Normalization (1965) | Yushin Constitution (1972) | Assassination (1979)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20695" y="2122170"/>
            <a:ext cx="6150610" cy="2139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21050" y="2492375"/>
            <a:ext cx="5696585" cy="1445260"/>
            <a:chOff x="744421" y="2921169"/>
            <a:chExt cx="3363031" cy="1216037"/>
          </a:xfrm>
        </p:grpSpPr>
        <p:sp>
          <p:nvSpPr>
            <p:cNvPr id="4" name="文本框 3"/>
            <p:cNvSpPr txBox="1"/>
            <p:nvPr/>
          </p:nvSpPr>
          <p:spPr>
            <a:xfrm>
              <a:off x="744421" y="2921169"/>
              <a:ext cx="1059906" cy="1216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+mj-lt"/>
                </a:rPr>
                <a:t>02</a:t>
              </a:r>
              <a:endParaRPr lang="en-US" altLang="zh-CN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15170" y="3118856"/>
              <a:ext cx="2592282" cy="7816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600" b="0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Authoritarian Era (1963–1993)</a:t>
              </a:r>
              <a:endParaRPr kumimoji="0" lang="en-US" altLang="en-US" sz="3600" b="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62880" y="100965"/>
            <a:ext cx="669925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Chun Doo-hwan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전두환</a:t>
            </a:r>
            <a:r>
              <a:rPr kumimoji="1"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(1980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ea"/>
              </a:rPr>
              <a:t>–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1988)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Roh Tae-woo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노태우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(1988–1993)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5nd &amp; 6rd Presidents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2880" y="1669415"/>
            <a:ext cx="5520055" cy="241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Seized power via coup after Park's assassination. Violently suppressed the Gwangju Uprising (1980). Continued economic growth but ruled autocratically. Stepped down amid the June Democracy Movement.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Key Events: Gwangju Uprising (1980) | June Democracy Movement (1987).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262880" y="3990975"/>
            <a:ext cx="6096000" cy="2310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First directly elected president under the new democratic constitution. Hosted the 1988 Seoul Olympics. Pursued "Nordpolitik" — opening diplomatic ties with the USSR and China. Oversaw Korea's UN membership (1991).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Key Events: Seoul Olympics (1988) | UN Membership (1991) | Nordpolitik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</p:txBody>
      </p:sp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1323975" y="0"/>
            <a:ext cx="2559685" cy="328168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1323975" y="3289300"/>
            <a:ext cx="2560320" cy="35680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020695" y="2122170"/>
            <a:ext cx="6150610" cy="2139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321050" y="2492375"/>
            <a:ext cx="5849619" cy="1445260"/>
            <a:chOff x="744421" y="2921169"/>
            <a:chExt cx="3453376" cy="1216037"/>
          </a:xfrm>
        </p:grpSpPr>
        <p:sp>
          <p:nvSpPr>
            <p:cNvPr id="4" name="文本框 3"/>
            <p:cNvSpPr txBox="1"/>
            <p:nvPr/>
          </p:nvSpPr>
          <p:spPr>
            <a:xfrm>
              <a:off x="744421" y="2921169"/>
              <a:ext cx="726514" cy="12160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800" dirty="0">
                  <a:solidFill>
                    <a:schemeClr val="bg1"/>
                  </a:solidFill>
                  <a:latin typeface="+mj-lt"/>
                </a:rPr>
                <a:t>03</a:t>
              </a:r>
              <a:endParaRPr lang="en-US" altLang="zh-CN" sz="88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515170" y="2921703"/>
              <a:ext cx="2682627" cy="11017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600" b="0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Modern </a:t>
              </a:r>
              <a:r>
                <a:rPr lang="en-US" altLang="en-US" sz="3600" cap="all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>(1993-2022)</a:t>
              </a:r>
              <a:endParaRPr kumimoji="0" lang="en-US" altLang="en-US" sz="3600" b="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en-US" sz="3600" b="0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OPPOSans R" panose="00020600040101010101" charset="-122"/>
                  <a:ea typeface="OPPOSans R" panose="00020600040101010101" charset="-122"/>
                  <a:cs typeface="+mn-cs"/>
                </a:rPr>
                <a:t>Democracy </a:t>
              </a:r>
              <a:endParaRPr kumimoji="0" lang="en-US" altLang="en-US" sz="3600" b="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262880" y="100965"/>
            <a:ext cx="669925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Kim Young-sam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김영삼</a:t>
            </a:r>
            <a:r>
              <a:rPr kumimoji="1"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(1993–1998)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Kim Dae-jung </a:t>
            </a:r>
            <a:r>
              <a:rPr kumimoji="1" lang="ko-KR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김대중</a:t>
            </a:r>
            <a:r>
              <a:rPr kumimoji="1" lang="en-US" altLang="ko-KR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 </a:t>
            </a:r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(1998–2003)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7nd &amp; 8rd Presidents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62880" y="1669415"/>
            <a:ext cx="5520055" cy="2416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First civilian president in 30 years. Launched anti-corruption reforms, abolished secret bank accounts, and prosecuted former military rulers. Managed the 1997 Asian Financial Crisis.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Key Events: Real-name financial system (1993) | OECD membership (1996) | IMF Bailout (1997)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5262880" y="3890645"/>
            <a:ext cx="6096000" cy="26720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>
              <a:lnSpc>
                <a:spcPct val="120000"/>
              </a:lnSpc>
              <a:buFont typeface="Arial" panose="020B0704020202020204" pitchFamily="34" charset="0"/>
              <a:buNone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Democracy activist who led Korea out of the IMF crisis. Pioneered the "Sunshine Policy" toward North Korea, leading to the historic inter-Korean Summit (2000). Nobel Peace Prize laureate.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  <a:p>
            <a:pPr marL="285750" indent="-285750">
              <a:lnSpc>
                <a:spcPct val="120000"/>
              </a:lnSpc>
              <a:buFont typeface="Arial" panose="020B0704020202020204" pitchFamily="34" charset="0"/>
              <a:buChar char="•"/>
            </a:pPr>
            <a:r>
              <a:rPr lang="en-US" altLang="en-US" b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sym typeface="+mn-ea"/>
              </a:rPr>
              <a:t>Key Events: IMF recovery | Sunshine Policy | Inter-Korean Summit (2000) | Nobel Peace Prize</a:t>
            </a:r>
            <a:endParaRPr lang="en-US" altLang="en-US" b="1" dirty="0">
              <a:solidFill>
                <a:schemeClr val="tx1">
                  <a:lumMod val="75000"/>
                  <a:lumOff val="25000"/>
                </a:schemeClr>
              </a:solidFill>
              <a:effectLst/>
              <a:sym typeface="+mn-ea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233805" y="-72390"/>
            <a:ext cx="2584450" cy="3571875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233805" y="3429635"/>
            <a:ext cx="2583815" cy="3428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27380" y="191770"/>
            <a:ext cx="8950960" cy="860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Recent Presidents (2003–2025)</a:t>
            </a:r>
            <a:b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</a:br>
            <a:r>
              <a:rPr kumimoji="1"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Korea's democracy proved resilient — constitutional order held firm through every crisis.</a:t>
            </a:r>
            <a:endParaRPr kumimoji="1"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1566545" y="1376045"/>
          <a:ext cx="10325100" cy="4942205"/>
        </p:xfrm>
        <a:graphic>
          <a:graphicData uri="http://schemas.openxmlformats.org/drawingml/2006/table">
            <a:tbl>
              <a:tblPr/>
              <a:tblGrid>
                <a:gridCol w="1304925"/>
                <a:gridCol w="1056005"/>
                <a:gridCol w="3521710"/>
                <a:gridCol w="4442460"/>
              </a:tblGrid>
              <a:tr h="244475">
                <a:tc>
                  <a:txBody>
                    <a:bodyPr/>
                    <a:p>
                      <a:r>
                        <a:rPr lang="en-US" altLang="zh-CN" sz="1600"/>
                        <a:t>President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Term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Key Contribution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Key Events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038860"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Roh Moo-hyun </a:t>
                      </a:r>
                      <a:r>
                        <a:rPr lang="zh-CN" altLang="en-US" sz="1600">
                          <a:highlight>
                            <a:srgbClr val="C0C0C0"/>
                          </a:highlight>
                        </a:rPr>
                        <a:t>노무현 </a:t>
                      </a:r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(9th)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2003–2008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Promoted participatory democracy &amp; decentralization. Continued Sunshine Policy with 2nd inter-Korean summit.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Impeachment &amp; reinstatement (2004) · 2nd Inter-Korean Summit (2007)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3425">
                <a:tc>
                  <a:txBody>
                    <a:bodyPr/>
                    <a:p>
                      <a:r>
                        <a:rPr lang="en-US" altLang="zh-CN" sz="1600"/>
                        <a:t>Lee Myung-bak </a:t>
                      </a:r>
                      <a:r>
                        <a:rPr lang="zh-CN" altLang="en-US" sz="1600"/>
                        <a:t>이명박 </a:t>
                      </a:r>
                      <a:r>
                        <a:rPr lang="en-US" altLang="zh-CN" sz="1600"/>
                        <a:t>(10th)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2008–2013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Former Hyundai CEO. Focused on economic growth. Hosted G20 Seoul Summit. Ended Sunshine Policy.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G20 Seoul (2010) · Cheonan sinking (2010) · Four Rivers Project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4725"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Park Geun-hye </a:t>
                      </a:r>
                      <a:r>
                        <a:rPr lang="zh-CN" altLang="en-US" sz="1600">
                          <a:highlight>
                            <a:srgbClr val="C0C0C0"/>
                          </a:highlight>
                        </a:rPr>
                        <a:t>박근혜 </a:t>
                      </a:r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(11th)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2013–2017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First female president. Term derailed by Sewol disaster &amp; Choi Soon-sil corruption scandal.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Sewol Disaster (2014) · Candlelight Revolution (2016) · Impeachment (2017)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/>
                        <a:t>Moon Jae-in </a:t>
                      </a:r>
                      <a:endParaRPr lang="en-US" altLang="zh-CN" sz="1600"/>
                    </a:p>
                    <a:p>
                      <a:r>
                        <a:rPr lang="zh-CN" altLang="en-US" sz="1600"/>
                        <a:t>문재인 </a:t>
                      </a:r>
                      <a:r>
                        <a:rPr lang="en-US" altLang="zh-CN" sz="1600"/>
                        <a:t>(12th)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2017–2022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Revived inter-Korean diplomacy. Three summits in 2018. Praised for COVID-19 response.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/>
                        <a:t>Inter-Korean Summits (2018) · Trump-Kim facilitation · Korean New Deal</a:t>
                      </a:r>
                      <a:endParaRPr lang="en-US" altLang="zh-CN" sz="1600"/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5360"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Yoon Suk-yeol </a:t>
                      </a:r>
                      <a:r>
                        <a:rPr lang="zh-CN" altLang="en-US" sz="1600">
                          <a:highlight>
                            <a:srgbClr val="C0C0C0"/>
                          </a:highlight>
                        </a:rPr>
                        <a:t>윤석열 </a:t>
                      </a:r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(13th)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2022–2025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Strengthened Korea-US alliance. Declared martial law (Dec 2024) — overturned within hours. Impeached.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r>
                        <a:rPr lang="en-US" altLang="zh-CN" sz="1600">
                          <a:highlight>
                            <a:srgbClr val="C0C0C0"/>
                          </a:highlight>
                        </a:rPr>
                        <a:t>Martial Law (Dec 2024) · National Assembly override · Impeachment (2025)</a:t>
                      </a:r>
                      <a:endParaRPr lang="en-US" altLang="zh-CN" sz="1600">
                        <a:highlight>
                          <a:srgbClr val="C0C0C0"/>
                        </a:highlight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Picture 7"/>
          <p:cNvPicPr/>
          <p:nvPr/>
        </p:nvPicPr>
        <p:blipFill>
          <a:blip r:embed="rId2"/>
          <a:stretch>
            <a:fillRect/>
          </a:stretch>
        </p:blipFill>
        <p:spPr>
          <a:xfrm>
            <a:off x="413385" y="1527810"/>
            <a:ext cx="883285" cy="1037590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3"/>
          <a:stretch>
            <a:fillRect/>
          </a:stretch>
        </p:blipFill>
        <p:spPr>
          <a:xfrm>
            <a:off x="413385" y="2491740"/>
            <a:ext cx="883285" cy="1036320"/>
          </a:xfrm>
          <a:prstGeom prst="rect">
            <a:avLst/>
          </a:prstGeom>
        </p:spPr>
      </p:pic>
      <p:pic>
        <p:nvPicPr>
          <p:cNvPr id="12" name="Picture 11"/>
          <p:cNvPicPr/>
          <p:nvPr/>
        </p:nvPicPr>
        <p:blipFill>
          <a:blip r:embed="rId4"/>
          <a:stretch>
            <a:fillRect/>
          </a:stretch>
        </p:blipFill>
        <p:spPr>
          <a:xfrm>
            <a:off x="413385" y="3532505"/>
            <a:ext cx="883920" cy="90233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5"/>
          <a:stretch>
            <a:fillRect/>
          </a:stretch>
        </p:blipFill>
        <p:spPr>
          <a:xfrm>
            <a:off x="413385" y="4439285"/>
            <a:ext cx="883285" cy="103695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6"/>
          <a:srcRect l="16867" r="23824"/>
          <a:stretch>
            <a:fillRect/>
          </a:stretch>
        </p:blipFill>
        <p:spPr>
          <a:xfrm>
            <a:off x="413385" y="5480685"/>
            <a:ext cx="884555" cy="1037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/>
          <a:stretch>
            <a:fillRect/>
          </a:stretch>
        </p:blipFill>
        <p:spPr>
          <a:xfrm>
            <a:off x="630555" y="1424305"/>
            <a:ext cx="11170920" cy="466725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30555" y="34163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en-US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  <a:sym typeface="+mn-ea"/>
              </a:rPr>
              <a:t>Timeline of All Presidents</a:t>
            </a:r>
            <a:endParaRPr kumimoji="1" lang="en-US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1857375" y="2306955"/>
            <a:ext cx="7005320" cy="36360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From a war-torn nation in 1948 to the world's 10th largest economy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Three key themes: Nation-building → Economic Miracle → Democratic Consolidation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704020202020204" pitchFamily="34" charset="0"/>
              <a:buChar char="•"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Korea's presidential history is a story of struggle, growth, and the resilience of democracy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sp>
        <p:nvSpPr>
          <p:cNvPr id="5" name="矩形 2"/>
          <p:cNvSpPr/>
          <p:nvPr/>
        </p:nvSpPr>
        <p:spPr>
          <a:xfrm>
            <a:off x="2026285" y="167005"/>
            <a:ext cx="5383530" cy="16122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  <p:sp>
        <p:nvSpPr>
          <p:cNvPr id="12" name="文本框 14"/>
          <p:cNvSpPr txBox="1"/>
          <p:nvPr/>
        </p:nvSpPr>
        <p:spPr>
          <a:xfrm>
            <a:off x="2441575" y="585470"/>
            <a:ext cx="4808855" cy="13417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5400" b="0" i="0" u="none" strike="noStrike" kern="1200" cap="all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POSans R" panose="00020600040101010101" charset="-122"/>
                <a:ea typeface="OPPOSans R" panose="00020600040101010101" charset="-122"/>
                <a:cs typeface="+mn-cs"/>
              </a:rPr>
              <a:t>CONCLUSION</a:t>
            </a:r>
            <a:endParaRPr kumimoji="0" lang="en-US" altLang="en-US" sz="5400" b="0" i="0" u="none" strike="noStrike" kern="1200" cap="all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OPPOSans R" panose="00020600040101010101" charset="-122"/>
              <a:ea typeface="OPPOSans R" panose="0002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916430" y="1601470"/>
            <a:ext cx="7929880" cy="4438650"/>
          </a:xfrm>
          <a:prstGeom prst="rect">
            <a:avLst/>
          </a:prstGeom>
          <a:noFill/>
          <a:ln>
            <a:noFill/>
          </a:ln>
        </p:spPr>
        <p:txBody>
          <a:bodyPr wrap="squar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600" b="0" i="0" u="none" strike="noStrike" kern="1200" cap="none" spc="0" normalizeH="0" baseline="0" noProof="0" dirty="0">
                <a:ln w="12700"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THANKS</a:t>
            </a:r>
            <a:endParaRPr kumimoji="0" lang="en-US" altLang="zh-CN" sz="9600" b="0" i="0" u="none" strike="noStrike" kern="1200" cap="none" spc="0" normalizeH="0" baseline="0" noProof="0" dirty="0">
              <a:ln w="12700">
                <a:noFill/>
              </a:ln>
              <a:solidFill>
                <a:prstClr val="black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14855" y="3154045"/>
            <a:ext cx="7315835" cy="1743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altLang="zh-CN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 you have any questions?</a:t>
            </a:r>
            <a:endParaRPr lang="en-US" altLang="zh-CN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ISLIDE.GUIDESSETTING" val="{&quot;Id&quot;:&quot;GuidesStyle_Normal&quot;,&quot;Name&quot;:&quot;GuidesStyle_Normal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Theme">
  <a:themeElements>
    <a:clrScheme name="商业主题1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45249"/>
      </a:accent1>
      <a:accent2>
        <a:srgbClr val="049373"/>
      </a:accent2>
      <a:accent3>
        <a:srgbClr val="64BF9C"/>
      </a:accent3>
      <a:accent4>
        <a:srgbClr val="C30217"/>
      </a:accent4>
      <a:accent5>
        <a:srgbClr val="FC9804"/>
      </a:accent5>
      <a:accent6>
        <a:srgbClr val="847C78"/>
      </a:accent6>
      <a:hlink>
        <a:srgbClr val="045249"/>
      </a:hlink>
      <a:folHlink>
        <a:srgbClr val="BFBFBF"/>
      </a:folHlink>
    </a:clrScheme>
    <a:fontScheme name="商业主题 1">
      <a:majorFont>
        <a:latin typeface="OPPOSans B"/>
        <a:ea typeface="OPPOSans B"/>
        <a:cs typeface=""/>
      </a:majorFont>
      <a:minorFont>
        <a:latin typeface="OPPOSans R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4074</Words>
  <Application>WPS Presentation</Application>
  <PresentationFormat>宽屏</PresentationFormat>
  <Paragraphs>144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6" baseType="lpstr">
      <vt:lpstr>Arial</vt:lpstr>
      <vt:lpstr>SimSun</vt:lpstr>
      <vt:lpstr>Wingdings</vt:lpstr>
      <vt:lpstr>OPPOSans B</vt:lpstr>
      <vt:lpstr>宋体-简</vt:lpstr>
      <vt:lpstr>OPPOSans R</vt:lpstr>
      <vt:lpstr>OPPOSans M</vt:lpstr>
      <vt:lpstr>Microsoft YaHei</vt:lpstr>
      <vt:lpstr>汉仪旗黑</vt:lpstr>
      <vt:lpstr>Arial Unicode MS</vt:lpstr>
      <vt:lpstr>等线</vt:lpstr>
      <vt:lpstr>Arial Black</vt:lpstr>
      <vt:lpstr>Calibri</vt:lpstr>
      <vt:lpstr>Helvetica Neue</vt:lpstr>
      <vt:lpstr>BatangChe</vt:lpstr>
      <vt:lpstr>Apple SD Gothic Neo</vt:lpstr>
      <vt:lpstr>OPPOSans B</vt:lpstr>
      <vt:lpstr>苹方-简</vt:lpstr>
      <vt:lpstr>OPPOSans R</vt:lpstr>
      <vt:lpstr>OPPOSans M</vt:lpstr>
      <vt:lpstr>Anthropic Sans</vt:lpstr>
      <vt:lpstr>Thonburi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shen jie</dc:creator>
  <cp:lastModifiedBy>Yusufjon Ahmedov</cp:lastModifiedBy>
  <cp:revision>139</cp:revision>
  <dcterms:created xsi:type="dcterms:W3CDTF">2026-03-20T02:48:28Z</dcterms:created>
  <dcterms:modified xsi:type="dcterms:W3CDTF">2026-03-20T02:48:28Z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958BDF62036D4CFB7CB5BC6918182F88_43</vt:lpwstr>
  </property>
  <property fmtid="{D5CDD505-2E9C-101B-9397-08002B2CF9AE}" pid="3" name="KSOProductBuildVer">
    <vt:lpwstr>1033-12.1.23152.23152</vt:lpwstr>
  </property>
</Properties>
</file>