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303" r:id="rId7"/>
    <p:sldId id="304" r:id="rId8"/>
    <p:sldId id="305" r:id="rId9"/>
    <p:sldId id="306" r:id="rId10"/>
    <p:sldId id="307" r:id="rId11"/>
    <p:sldId id="308" r:id="rId12"/>
    <p:sldId id="28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7" autoAdjust="0"/>
    <p:restoredTop sz="95646" autoAdjust="0"/>
  </p:normalViewPr>
  <p:slideViewPr>
    <p:cSldViewPr snapToGrid="0">
      <p:cViewPr varScale="1">
        <p:scale>
          <a:sx n="122" d="100"/>
          <a:sy n="122" d="100"/>
        </p:scale>
        <p:origin x="296" y="200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6/1/25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3:59:42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279 230 24575,'10'-2'0,"0"-2"0,4-4 0,2 0 0,-2 3 0,3 2 0,1 3 0,2 0 0,0 0 0,-2 0 0,-4 0 0,-3 0 0,-3-2 0,-2-3 0,-2 0 0,-4-4 0,-1 0 0,-5 1 0,-9 0 0,-10 3 0,-8 1 0,-6 2 0,-2 2 0,-1 0 0,0 0 0,2 0 0,5 0 0,4 0 0,8 0 0,6 0 0,1 0 0,0 0 0,-1 0 0,2 2 0,4 5 0,4 2 0,4 2 0,1 0 0,1 0 0,1 0 0,0 2 0,-1 1 0,4 2 0,4-2 0,7 2 0,8-1 0,4-3 0,3-4 0,0-5 0,-3-3 0,-1 0 0,-4 0 0,-2 0 0,0 0 0,-3 0 0,0 0 0,3 0 0,0 0 0,3 0 0,0 0 0,3 0 0,0 0 0,1 0 0,2 0 0,3 0 0,5 0 0,4-2 0,-3 0 0,-7-4 0,-9-1 0,-16 0 0,-18 2 0,-22 0 0,-16 2 0,-14-4 0,-9 1 0,6 1 0,8 2 0,16 3 0,20 0 0,6 0 0,5 0 0,3 0 0,2 0 0,-2 0 0,2-1 0,-2-2 0,0-4 0,2-6 0,2-4 0,7-2 0,13 3 0,11 3 0,13 5 0,8 4 0,0 2 0,-2 2 0,-3 0 0,-6 0 0,-6 0 0,-1 0 0,5 0 0,7 0 0,5 0 0,-5 0 0,-8 0 0,-8-2 0,-7-1 0,-7 0 0,-10 0 0,-14 4 0,-25 9 0,-13 5 0,-2 3 0,9 0 0,20-7 0,7-3 0,5-2 0,0 0 0,3-2 0,1 2 0,-1 2 0,1 0 0,1 1 0,1-3 0,2 0 0,4-2 0,7-1 0,11-1 0,14-2 0,7 0 0,4-3 0,-2-6 0,-2-6 0,7-5 0,12 1 0,16 3 0,17 3 0,5 4 0,-2 4 0,-13 1 0,-19 3 0,-19 1 0,-18 0 0,-21 0 0,-21 0 0,-20 0 0,-28 0 0,-6 0 0,1 0 0,7 0 0,24 0 0,10 0 0,8 0 0,8 0 0,5 1 0,0 3 0,5 3 0,3 0 0,3-2 0,9-3 0,13-1 0,7-3 0,8-4 0,3-1 0,-2-2 0,0 1 0,-3 2 0,-4 2 0,-4 3 0,-4 1 0,-5 0 0,-5 0 0,-2 0 0,-4 0 0,2 0 0,0 0 0,-3 0 0,-41 0 0,-9 0 0,-38 0 0,3 0 0,-1 0 0,0 0 0,2 0 0,10 0 0,12 0 0,16 3 0,19 1 0,10 2 0,11 2 0,8-1 0,10-2 0,12 1 0,8 3 0,4-3 0,4 2 0,1-3 0,6-2 0,11 0 0,15-2 0,-31-1 0,2 0 0,8-3 0,2-2 0,1-1 0,1-1 0,-4-1 0,-2-1 0,38-9 0,-30 7 0,-25 5 0,-22 5 0,-22 9 0,-25 4 0,-32 0 0,-32-3 0,35-7 0,-3-1 0,-9 0 0,-2-2 0,-5 2 0,0-2 0,-1 1 0,0 0 0,5 1 0,1-2 0,11 0 0,3 0 0,-31-4 0,31-2 0,27 2 0,24 2 0,25 2 0,18 1 0,11 0 0,4 0 0,0-3 0,7-5 0,14-3 0,20-4 0,-36 7 0,2 2 0,6 0 0,1 1 0,-2-1 0,-2 0 0,-4 2 0,-3 0 0,34-1 0,-25 2 0,-19 3 0,-12 0 0,-12 1 0,-5 4 0,9 3 0,17 0 0,27 4 0,11-1 0,-11-4 0,-19-1 0,-25-6 0,-9 0 0,5 0 0,13 0 0,11 0 0,10 0 0,-4 0 0,-11 0 0,-14 0 0,-10 0 0,-4 0 0,3 0 0,9 0 0,5 0 0,2 0 0,-9 2 0,-9 1 0,-9 3 0,-4 6 0,0 3 0,1 3 0,-3-2 0,-7-3 0,-13-2 0,-14-4 0,-16-2 0,-9-2 0,0-3 0,5 0 0,12 0 0,15 0 0,8 0 0,2 0 0,-3 0 0,-8 0 0,-6 0 0,-13 0 0,-9 0 0,-1 0 0,6 0 0,13 0 0,18-1 0,13-2 0,14 1 0,9-1 0,6-2 0,10-8 0,9-8 0,6-10 0,3-2 0,-4 6 0,-2 2 0,2 9 0,3 3 0,2 5 0,4 4 0,-4 2 0,-6 2 0,-8 0 0,-8 0 0,-10 1 0,-10 4 0,-16 2 0,-20 2 0,-43 3 0,20-7 0,-5 0 0,-13-1 0,-4-1 0,-10 0 0,-1-1 0,3 0 0,2 0 0,2 0 0,1 1 0,10-1 0,3 0 0,12 1 0,3 1 0,-29-1 0,23 0 0,18 0 0,15-3 0,17 0 0,17 0 0,16 0 0,10 0 0,7 0 0,7-5 0,14-6 0,14-3 0,-30 6 0,1 2 0,4 2 0,-1 1 0,1 1 0,-2 0 0,42 2 0,-26 0 0,-23 1 0,-20 2 0,-13 2 0,-7 4 0,-4 2 0,0-1 0,-1 1 0,-14-3 0,-22 0 0,-27-1 0,-31-3 0,36-2 0,-2-1 0,-7-1 0,-1 0 0,-8 0 0,-1 0 0,-1 0 0,-1 0 0,5 0 0,1 0 0,9 0 0,2 0 0,-30 0 0,33 0 0,28 0 0,22 0 0,20-3 0,21-7 0,9-6 0,7-5 0,1 2 0,3 6 0,16 5 0,16 4 0,-33 3 0,2 1 0,4 0 0,-1 0 0,1 0 0,0 0 0,-4 0 0,-1 0 0,43 0 0,-10 4 0,-8 3 0,-14 4 0,-13 1 0,-12-3 0,-12-2 0,-10-2 0,-9 1 0,-5 0 0,-2 2 0,-1 2 0,-6 2 0,-16 4 0,-26 3 0,-31-1 0,27-11 0,-2-1 0,-8-1 0,0-1 0,0-1 0,0 0 0,5-1 0,1 0 0,-39 2 0,24-3 0,12-1 0,13 0 0,14 2 0,12 0 0,16 1 0,14-1 0,23-1 0,9-6 0,8-3 0,0-5 0,4-2 0,17 4 0,15 5 0,13 2 0,-48 4 0,1 0 0,-1 0 0,0 0 0,45 0 0,-9 5 0,-12 4 0,-13 2 0,-15 1 0,-13-5 0,-13-2 0,-8 0 0,-3-3 0,-2 0 0,2 1 0,0-1 0,9 3 0,8 3 0,4-2 0,0-1 0,-7-3 0,-8-2 0,-1 0 0,-4 0 0,1 0 0,-3 0 0,0 0 0,0-2 0,-3-1 0,0 0 0,-2-3 0,-2 0 0,-3 1 0,-15 1 0,-11 3 0,-9 1 0,-12 0 0,5 0 0,7 0 0,8 0 0,14 0 0,3 0 0,3-2 0,6-2 0,8-3 0,11-3 0,8 2 0,2 1 0,0 3 0,-5 1 0,0-3 0,0-1 0,0 1 0,-3-1 0,-5-1 0,-5 1 0,-4-1 0,-2-2 0,-1-1 0,-1-1 0,-1-3 0,0-2 0,0 0 0,0 1 0,0 2 0,-2 6 0,-5 2 0,-7 6 0,-8 8 0,-8 7 0,-4 6 0,-3 3 0,1 0 0,6-1 0,7-3 0,9-5 0,8-3 0,2-2 0,3 1 0,0 0 0,1 0 0,1 0 0,4-1 0,6-3 0,6-2 0,3-3 0,2-2 0,0-2 0,0-2 0,-2-2 0,-1 1 0,-1-1 0,-4 2 0,0 2 0,-1-3 0,-3 2 0,-1-2 0,-2 1 0,-3 0 0,-1-2 0,-1-1 0,-3 0 0,-3 2 0,-12 2 0,-13 2 0,-13 0 0,-10 1 0,3 0 0,7 0 0,8 4 0,9 5 0,6 4 0,1 4 0,0 1 0,-3-1 0,2-4 0,5-3 0,8-4 0,10-4 0,13-2 0,8-7 0,10-5 0,0-3 0,-4 0 0,-4 1 0,-5 2 0,0 0 0,-1 1 0,-1 0 0,-3 2 0,-6 2 0,-11 2 0,-14 7 0,-18 9 0,-16 9 0,-45 6 0,29-14 0,-5-3 0,-13-1 0,-5-2 0,-9-2 0,-2-2 0,6-1 0,2-2 0,5 1 0,3 0 0,9 0 0,4 0 0,15 0 0,5 0 0,-20 0 0,28 0 0,16 0 0,9 0 0,3 0 0,4 0 0,-1 0 0,1 0 0,1 0 0,-8 0 0,-14-1 0,-20-2 0,-18-4 0,-8-2 0,8 0 0,14 0 0,17 1 0,16 0 0,9 1 0,6 1 0,2 1 0,-1 1 0,-2 2 0,-5-1 0,-14-4 0,-17 0 0,-18-3 0,-10 2 0,5 1 0,13 1 0,14 2 0,19 2 0,17 2 0,12-2 0,15-4 0,20-3 0,8-1 0,6 4 0,-1 3 0,-8 3 0,2 0 0,-4 0 0,-9 0 0,-3 0 0,0 0 0,5 0 0,5 0 0,0 0 0,-4 0 0,-6 0 0,-9 2 0,-13 4 0,-18 2 0,-33 1 0,-25-4 0,-14-4 0,-5-1 0,10 0 0,5 0 0,9 0 0,9 0 0,16 0 0,9 0 0,9 0 0,4 0 0,1 0 0,3 2 0,11 6 0,14 6 0,14 4 0,13 0 0,4-4 0,-2-6 0,-9-2 0,-12-4 0,-8-2 0,-2-2 0,-2-2 0,1-2 0,-3 3 0,-9 7 0,-13 8 0,-14 7 0,-8 4 0,-1 0 0,2-3 0,2-6 0,3-7 0,0-5 0,5-2 0,4 0 0,3 0 0,4 0 0,0 0 0,1 0 0,-1 0 0,-3-2 0,4-2 0,0-3 0,1-2 0,2 0 0,-1-2 0,2 0 0,1-1 0,1 1 0,3 0 0,1 2 0,3 2 0,1 4 0,4 2 0,2-1 0,0-2 0,0-1 0,-1-5 0,-3-2 0,1-1 0,-3-1 0,1 3 0,2 3 0,-1 2 0,5 3 0,-2 1 0,1 1 0,-2 3 0,-4 6 0,-2 6 0,-2 3 0,-1 3 0,0-1 0,-2-2 0,-3-2 0,-6-6 0,-4-4 0,-2-2 0,-2-2 0,1-1 0,-2 0 0,-1 0 0,3 0 0,2 0 0,4 0 0,3-2 0,2-3 0,4-5 0,1-9 0,2-4 0,3-3 0,6 1 0,4 6 0,4 2 0,2 3 0,1 3 0,4-1 0,5 0 0,1 2 0,-3 3 0,-2 4 0,-3 2 0,-1 1 0,-2 2 0,-6 4 0,-6 5 0,-5 6 0,-1 5 0,-5 3 0,-9 1 0,-8 4 0,-7-2 0,-2-3 0,0-5 0,1-8 0,3-7 0,0-3 0,4-2 0,0 0 0,1 0 0,4-1 0,5-4 0,3-2 0,5-1 0,0-2 0,2 0 0,6-7 0,10-5 0,14-3 0,10-2 0,3 6 0,-1 5 0,-7 6 0,-5 5 0,-4 2 0,-7 3 0,-6 4 0,-5 5 0,-4 6 0,-1 7 0,-1 4 0,0-1 0,-2 0 0,-4-2 0,-2-2 0,-1 0 0,1-3 0,2-6 0,-1-6 0,-1-3 0,0-4 0,0-9 0,2-11 0,-1-9 0,-4-7 0,-1 1 0,-3-2 0,2 2 0,4 1 0,3 3 0,4 8 0,1 8 0,6 6 0,8 6 0,12 0 0,10 3 0,9 1 0,8 0 0,7 0 0,12 4 0,7 7 0,2 8 0,-4 0 0,-7-2 0,-2-9 0,-2-4 0,4-3 0,-3-1 0,-6 0 0,-9 0 0,-12 0 0,-9 0 0,-5 0 0,1 0 0,7 0 0,9 0 0,8 0 0,2 0 0,-2 0 0,2 2 0,2 1 0,-1 0 0,6 0 0,-1 1 0,-1 2 0,-4 1 0,-9 2 0,0 0 0,6-1 0,4 1 0,0 0 0,-7-3 0,-14 1 0,-13 0 0,-8 0 0,-7 0 0,0-3 0,2-2 0,2-1 0,1-1 0,-1 0 0,3 0 0,3 0 0,4 0 0,-3 0 0,-12 2 0,-13 1 0,-15 2 0,-16 6 0,-3 2 0,2 0 0,8-2 0,18-5 0,7 1 0,7-1 0,9-2 0,3-2 0,10-10 0,3-8 0,0-5 0,-1-2 0,-6 2 0,-3 3 0,-4 1 0,-3 0 0,-7 2 0,-4 5 0,-7 3 0,-15 11 0,-13 9 0,-4 4 0,4 5 0,13-3 0,12-5 0,6-1 0,6 0 0,2 2 0,0 1 0,0 1 0,0-3 0,2-4 0,5-4 0,5-6 0,7-8 0,2-3 0,-2-6 0,-1 1 0,-1 0 0,-3 0 0,1 5 0,-2 0 0,0 1 0,-4 2 0,-4-2 0,-5 1 0,-12 3 0,-12 5 0,-11 10 0,-13 12 0,2 6 0,10 3 0,6-3 0,10-4 0,3-4 0,1-4 0,2-4 0,2-6 0,0-2 0,-9-2 0,-45-5 0,-6-5 0,-12-3 0,14 2 0,-6-1 0,-1-2-245,-8-1 1,-2 0-1,0-1 245,4 0 0,0 1 0,5 1 0,-18-1 0,7 2 0,14 3 0,7 1 0,-28 0 0,41 3 0,27 1 0,16 0 0,4-1 734,3-2-734,2 1 0,-2 0 0,1-1 0,0 0 0,-2 1 0,-3-1 0,-11-1 0,-10-2 0,-6-3 0,5 4 0,21 3 0,23 4 0,21 2 0,18 0 0,4 0 0,-6 0 0,-8 0 0,-13 0 0,-7 0 0,-6 0 0,-1 0 0,-4 0 0,2 0 0,0 0 0,1 0 0,4 0 0,0 0 0,-2 0 0,-1 0 0,-4 2 0,-7 2 0,-16 2 0,-28 5 0,-39 5 0,-16-1 0,8-2 0,18-7 0,32-3 0,11 0 0,5-1 0,8 3 0,1-3 0,4 2 0,0 1 0,2 0 0,2 1 0,2 2 0,8 1 0,11 1 0,14-2 0,17-2 0,7-2 0,-1-4 0,-2 0 0,-4 0 0,1 0 0,7 0 0,6 0 0,4 0 0,0 0 0,-12 0 0,-15 0 0,-15 0 0,-11 1 0,-7 3 0,-4 3 0,-5 2 0,-17 5 0,-27 2 0,-26-1 0,-23-4 0,41-8 0,-1-2 0,-5 0 0,0-1 0,-6 0 0,1 0 0,-1 0 0,1 0 0,7 0 0,3 0 0,-31 0 0,32 0 0,29 0 0,29 0 0,21 0 0,22-3 0,20-1 0,3 0 0,8 1 0,4 3 0,7 5 0,10 6 0,-4 5 0,-14 1 0,-22-5 0,-22-5 0,-22-4 0,-23 0 0,-25 3 0,-28 1 0,-22-2 0,-10-2 0,-3-3 0,3 0 0,7 0 0,12 0 0,15 0 0,14 0 0,14 0 0,9 0 0,7-2 0,10-1 0,5-3 0,22-12 0,15-6 0,11-3 0,9 2 0,-7 12 0,3 6 0,-4 4 0,-3 3 0,-6 0 0,-6 0 0,-5 0 0,-7 2 0,-9 3 0,-6 1 0,-5 3 0,-1 1 0,0 2 0,0 2 0,0 2 0,0 3 0,0 0 0,-9 0 0,-11-3 0,-14-3 0,-12-5 0,-7-3 0,-4-2 0,3-8 0,7-5 0,12-5 0,8-4 0,9 0 0,7-1 0,6-5 0,4-5 0,1-4 0,0-3 0,0 5 0,3 7 0,4 10 0,4 9 0,4 4 0,-1 2 0,1 0 0,2 0 0,1 0 0,1 2 0,-1 6 0,-2 6 0,-4 6 0,-5 5 0,-4 1 0,-3 0 0,-2-1 0,-4-4 0,-7 1 0,-3 0 0,-1-3 0,3-4 0,4-5 0,2-3 0,3-4 0,3-3 0,1-6 0,0-7 0,1-9 0,4-8 0,6-2 0,4 1 0,5 4 0,0 2 0,1 1 0,3 1 0,0 5 0,4 7 0,7 4 0,13 5 0,14 2 0,13 0 0,10 0 0,2 0 0,-4 0 0,-13 0 0,-11 0 0,-9 3 0,-4 2 0,0 4 0,0 0 0,-1 0 0,1 0 0,6-3 0,5-1 0,14 1 0,9-2 0,8 0 0,0 3 0,-10-3 0,-13 0 0,-12-1 0,-12-3 0,-3 0 0,-5 0 0,-6 0 0,-1 0 0,-4 0 0,0 0 0,-5 0 0,-2 0 0,-5 0 0,-1 0 0,0 0 0,3 0 0,7 0 0,9 0 0,6 0 0,3 0 0,-2 0 0,-5 0 0,-7 0 0,-9 2 0,-6 2 0,-5 5 0,-8 13 0,-9 4 0,-12-2 0,-11-4 0,-3-14 0,3-2 0,6-2 0,9-2 0,6 0 0,2 0 0,2 0 0,0 0 0,0 0 0,4-1 0,3-4 0,6-4 0,9-4 0,10-6 0,13-3 0,3 0 0,-2 6 0,-4 8 0,-10 5 0,-3 1 0,-4-3 0,-9-4 0,-1 3 0,-4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3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4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3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4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3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4:01:04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6/1/25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A608-FB28-DD6C-D5A6-DC3165CD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28A2D-D1B6-1497-E7DD-A7B5B30E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92619-1D00-A583-2435-4A0C9AAF5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32AC6-8791-C0C4-3741-CC52D57AB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525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977A-7F4C-60E9-B557-6B564F65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BD404-ED4A-1505-37DD-084437E6B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A390E-83CF-B9E7-ED39-0A6FAB67B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ACDCF-47A2-DC88-2B1F-83B54656E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63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CE7C-AC48-4F08-7A39-ED041019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105A1-AF19-67F2-3B06-79A94137B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33AD3-6D49-A422-1BA4-601FBD5F3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3B4FB-AF59-2FC7-C5AB-4FA0D13D1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3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AB487-35B6-82B5-2AB4-D48B3BB2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ECD5A-CC21-EA28-D4D3-A7DDD64A0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4452C-AE21-318A-A772-319A59DBB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D2F59-97D2-6832-1C49-2C3CC0E80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71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2600-C74B-56FA-8CB3-CBAD468C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F0277-33CE-A128-89A0-37B57A8F4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95E0B-2CEA-14B2-DCC2-E399B026C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2484A-866B-B44F-2643-E0C211417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15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28D2C-78E1-076F-CC2C-3F10AF30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2E12F-496C-5360-FE05-2F1AA2B9B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9533A-87DE-538F-77C6-8DF8787F5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EB238-5CD9-2C52-D32C-0E0353BBF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801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customXml" Target="../ink/ink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customXml" Target="../ink/ink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Z" dirty="0"/>
              <a:t>DB Integrated Chart </a:t>
            </a:r>
            <a:br>
              <a:rPr lang="en-US" dirty="0"/>
            </a:br>
            <a:r>
              <a:rPr lang="en-US" dirty="0"/>
              <a:t>Five marks activity</a:t>
            </a:r>
          </a:p>
        </p:txBody>
      </p:sp>
      <p:sp>
        <p:nvSpPr>
          <p:cNvPr id="4" name="副标题 7">
            <a:extLst>
              <a:ext uri="{FF2B5EF4-FFF2-40B4-BE49-F238E27FC236}">
                <a16:creationId xmlns:a16="http://schemas.microsoft.com/office/drawing/2014/main" id="{5C63BCC6-8460-898C-ADAB-46A7AB35CC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598804" y="4675393"/>
            <a:ext cx="6359392" cy="14695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i="1" dirty="0">
                <a:solidFill>
                  <a:schemeClr val="accent4"/>
                </a:solidFill>
              </a:rPr>
              <a:t>Name: </a:t>
            </a:r>
            <a:r>
              <a:rPr lang="en-US" altLang="zh-CN" sz="1800" i="1" dirty="0" err="1">
                <a:solidFill>
                  <a:schemeClr val="accent4"/>
                </a:solidFill>
              </a:rPr>
              <a:t>Akhmedov</a:t>
            </a:r>
            <a:r>
              <a:rPr lang="en-US" altLang="zh-CN" sz="1800" i="1" dirty="0">
                <a:solidFill>
                  <a:schemeClr val="accent4"/>
                </a:solidFill>
              </a:rPr>
              <a:t> </a:t>
            </a:r>
            <a:r>
              <a:rPr lang="en-US" altLang="zh-CN" sz="1800" b="1" i="1" dirty="0" err="1">
                <a:solidFill>
                  <a:schemeClr val="accent4"/>
                </a:solidFill>
              </a:rPr>
              <a:t>Yusufjon</a:t>
            </a:r>
            <a:r>
              <a:rPr lang="en-US" altLang="zh-CN" sz="1800" i="1" dirty="0">
                <a:solidFill>
                  <a:schemeClr val="accent4"/>
                </a:solidFill>
              </a:rPr>
              <a:t> Muhammad </a:t>
            </a:r>
            <a:r>
              <a:rPr lang="en-US" altLang="zh-CN" sz="1800" i="1" dirty="0" err="1">
                <a:solidFill>
                  <a:schemeClr val="accent4"/>
                </a:solidFill>
              </a:rPr>
              <a:t>ugli</a:t>
            </a:r>
            <a:r>
              <a:rPr lang="en-US" altLang="zh-CN" sz="1800" i="1" dirty="0">
                <a:solidFill>
                  <a:schemeClr val="accent4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i="1" dirty="0">
                <a:solidFill>
                  <a:schemeClr val="accent4"/>
                </a:solidFill>
              </a:rPr>
              <a:t>Major: </a:t>
            </a:r>
            <a:r>
              <a:rPr lang="en-US" altLang="zh-CN" sz="1800" b="1" i="1" dirty="0">
                <a:solidFill>
                  <a:schemeClr val="accent4"/>
                </a:solidFill>
              </a:rPr>
              <a:t>Computer Engineering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i="1" dirty="0">
                <a:solidFill>
                  <a:schemeClr val="accent4"/>
                </a:solidFill>
              </a:rPr>
              <a:t>Student Number: </a:t>
            </a:r>
            <a:r>
              <a:rPr lang="en-US" altLang="zh-CN" sz="1800" b="1" i="1" dirty="0">
                <a:solidFill>
                  <a:schemeClr val="accent4"/>
                </a:solidFill>
              </a:rPr>
              <a:t>202438404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endParaRPr lang="en-US" altLang="zh-CN" sz="1800" dirty="0">
              <a:solidFill>
                <a:schemeClr val="accent4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accent4"/>
                </a:solidFill>
              </a:rPr>
              <a:t>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3E822-C07F-92B2-04AE-F318DB6E40EE}"/>
              </a:ext>
            </a:extLst>
          </p:cNvPr>
          <p:cNvSpPr txBox="1"/>
          <p:nvPr/>
        </p:nvSpPr>
        <p:spPr>
          <a:xfrm>
            <a:off x="7672039" y="5675971"/>
            <a:ext cx="3026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solidFill>
                  <a:schemeClr val="accent4"/>
                </a:solidFill>
              </a:rPr>
              <a:t>Due date: 2025.06.01</a:t>
            </a:r>
          </a:p>
          <a:p>
            <a:r>
              <a:rPr lang="en-UZ" dirty="0">
                <a:solidFill>
                  <a:schemeClr val="accent4"/>
                </a:solidFill>
              </a:rPr>
              <a:t>Submission date: 2025.06.01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875441"/>
          </a:xfrm>
        </p:spPr>
        <p:txBody>
          <a:bodyPr/>
          <a:lstStyle/>
          <a:p>
            <a:r>
              <a:rPr lang="en-US" dirty="0"/>
              <a:t>Setup DB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023EB49-D2EC-2B8A-3A12-598442CD7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64" y="1813349"/>
            <a:ext cx="7720739" cy="39692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004B19-1AB8-2198-CA11-DC631C4F6403}"/>
              </a:ext>
            </a:extLst>
          </p:cNvPr>
          <p:cNvSpPr txBox="1"/>
          <p:nvPr/>
        </p:nvSpPr>
        <p:spPr>
          <a:xfrm>
            <a:off x="1158864" y="1167018"/>
            <a:ext cx="8594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/>
              <a:t>Database named </a:t>
            </a:r>
            <a:r>
              <a:rPr lang="en-UZ" dirty="0">
                <a:solidFill>
                  <a:srgbClr val="FF0000"/>
                </a:solidFill>
              </a:rPr>
              <a:t>hamkorqurilish </a:t>
            </a:r>
            <a:r>
              <a:rPr lang="en-UZ" dirty="0"/>
              <a:t>a which I created for beton24 startup in my country</a:t>
            </a:r>
            <a:br>
              <a:rPr lang="en-UZ" dirty="0"/>
            </a:br>
            <a:endParaRPr lang="en-UZ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8263-B86D-1136-A66D-B6B8A24E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7511-2286-275D-A4A3-176BE4FB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875441"/>
          </a:xfrm>
        </p:spPr>
        <p:txBody>
          <a:bodyPr/>
          <a:lstStyle/>
          <a:p>
            <a:r>
              <a:rPr lang="en-US" dirty="0"/>
              <a:t>Create a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9D416-749F-10A4-8C59-FC967207C32A}"/>
              </a:ext>
            </a:extLst>
          </p:cNvPr>
          <p:cNvSpPr txBox="1"/>
          <p:nvPr/>
        </p:nvSpPr>
        <p:spPr>
          <a:xfrm>
            <a:off x="1158864" y="1167018"/>
            <a:ext cx="9690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/>
              <a:t>A table named </a:t>
            </a:r>
            <a:r>
              <a:rPr lang="en-UZ" dirty="0">
                <a:solidFill>
                  <a:srgbClr val="FF0000"/>
                </a:solidFill>
              </a:rPr>
              <a:t>production </a:t>
            </a:r>
            <a:r>
              <a:rPr lang="en-UZ" dirty="0"/>
              <a:t>a which gives information about when special product was produced</a:t>
            </a:r>
            <a:br>
              <a:rPr lang="en-UZ" dirty="0"/>
            </a:br>
            <a:endParaRPr lang="en-UZ" dirty="0">
              <a:solidFill>
                <a:srgbClr val="FF0000"/>
              </a:solidFill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354AAA7-DC01-1E20-F093-1526B6E56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64" y="1624203"/>
            <a:ext cx="7772400" cy="513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0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E55A-5956-91C9-B512-841EC30F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4DD2-9732-8717-59F3-BEF3F8ED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875441"/>
          </a:xfrm>
        </p:spPr>
        <p:txBody>
          <a:bodyPr/>
          <a:lstStyle/>
          <a:p>
            <a:r>
              <a:rPr lang="en-US" dirty="0"/>
              <a:t>Add data to table: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79EBB-2C50-0312-9273-144F22A23BC3}"/>
              </a:ext>
            </a:extLst>
          </p:cNvPr>
          <p:cNvSpPr txBox="1"/>
          <p:nvPr/>
        </p:nvSpPr>
        <p:spPr>
          <a:xfrm>
            <a:off x="1158864" y="1072240"/>
            <a:ext cx="93151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code is part of a </a:t>
            </a:r>
            <a:r>
              <a:rPr lang="en-US" sz="1600" b="1" dirty="0"/>
              <a:t>Yii2 controller</a:t>
            </a:r>
            <a:r>
              <a:rPr lang="en-US" sz="1600" dirty="0"/>
              <a:t> that primarily handles the </a:t>
            </a:r>
            <a:r>
              <a:rPr lang="en-US" sz="1600" b="1" dirty="0"/>
              <a:t>addition of production data</a:t>
            </a:r>
            <a:r>
              <a:rPr lang="en-US" sz="1600" dirty="0"/>
              <a:t> based on requests from the frontend. It identifies </a:t>
            </a:r>
            <a:r>
              <a:rPr lang="en-US" sz="1600" b="1" dirty="0"/>
              <a:t>which products are being produced</a:t>
            </a:r>
            <a:r>
              <a:rPr lang="en-US" sz="1600" dirty="0"/>
              <a:t> and </a:t>
            </a:r>
            <a:r>
              <a:rPr lang="en-US" sz="1600" b="1" dirty="0"/>
              <a:t>in what quantities</a:t>
            </a:r>
            <a:r>
              <a:rPr lang="en-US" sz="1600" dirty="0"/>
              <a:t>, then verifies whether there are enough raw materials available for production. If the requirements are met, the production data is saved. Additionally, the </a:t>
            </a:r>
            <a:r>
              <a:rPr lang="en-US" sz="1600" dirty="0" err="1"/>
              <a:t>tannarx</a:t>
            </a:r>
            <a:r>
              <a:rPr lang="en-US" sz="1600" dirty="0"/>
              <a:t> column stores the </a:t>
            </a:r>
            <a:r>
              <a:rPr lang="en-US" sz="1600" b="1" dirty="0"/>
              <a:t>calculated cost of the product</a:t>
            </a:r>
            <a:r>
              <a:rPr lang="en-US" sz="1600" dirty="0"/>
              <a:t>, derived from the </a:t>
            </a:r>
            <a:r>
              <a:rPr lang="en-US" sz="1600" b="1" dirty="0"/>
              <a:t>costs of its raw materials</a:t>
            </a:r>
            <a:r>
              <a:rPr lang="en-US" sz="1600" dirty="0"/>
              <a:t>.</a:t>
            </a:r>
            <a:endParaRPr lang="en-UZ" sz="16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81EA0-84D6-8890-6181-F7E4534E1960}"/>
              </a:ext>
            </a:extLst>
          </p:cNvPr>
          <p:cNvSpPr txBox="1"/>
          <p:nvPr/>
        </p:nvSpPr>
        <p:spPr>
          <a:xfrm>
            <a:off x="1158864" y="2490457"/>
            <a:ext cx="977918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if($</a:t>
            </a:r>
            <a:r>
              <a:rPr lang="en-US" sz="1400" dirty="0" err="1">
                <a:highlight>
                  <a:srgbClr val="FFFF00"/>
                </a:highlight>
              </a:rPr>
              <a:t>plan_id</a:t>
            </a:r>
            <a:r>
              <a:rPr lang="en-US" sz="1400" dirty="0">
                <a:highlight>
                  <a:srgbClr val="FFFF00"/>
                </a:highlight>
              </a:rPr>
              <a:t>=$request-&gt;post('</a:t>
            </a:r>
            <a:r>
              <a:rPr lang="en-US" sz="1400" dirty="0" err="1">
                <a:highlight>
                  <a:srgbClr val="FFFF00"/>
                </a:highlight>
              </a:rPr>
              <a:t>save_btn</a:t>
            </a:r>
            <a:r>
              <a:rPr lang="en-US" sz="1400" dirty="0">
                <a:highlight>
                  <a:srgbClr val="FFFF00"/>
                </a:highlight>
              </a:rPr>
              <a:t>')){$plan=Plan::</a:t>
            </a:r>
            <a:r>
              <a:rPr lang="en-US" sz="1400" dirty="0" err="1">
                <a:highlight>
                  <a:srgbClr val="FFFF00"/>
                </a:highlight>
              </a:rPr>
              <a:t>findOne</a:t>
            </a:r>
            <a:r>
              <a:rPr lang="en-US" sz="1400" dirty="0">
                <a:highlight>
                  <a:srgbClr val="FFFF00"/>
                </a:highlight>
              </a:rPr>
              <a:t>($</a:t>
            </a:r>
            <a:r>
              <a:rPr lang="en-US" sz="1400" dirty="0" err="1">
                <a:highlight>
                  <a:srgbClr val="FFFF00"/>
                </a:highlight>
              </a:rPr>
              <a:t>plan_id</a:t>
            </a:r>
            <a:r>
              <a:rPr lang="en-US" sz="1400" dirty="0">
                <a:highlight>
                  <a:srgbClr val="FFFF00"/>
                </a:highlight>
              </a:rPr>
              <a:t>);$</a:t>
            </a:r>
            <a:r>
              <a:rPr lang="en-US" sz="1400" dirty="0" err="1">
                <a:highlight>
                  <a:srgbClr val="FFFF00"/>
                </a:highlight>
              </a:rPr>
              <a:t>id_arr</a:t>
            </a:r>
            <a:r>
              <a:rPr lang="en-US" sz="1400" dirty="0">
                <a:highlight>
                  <a:srgbClr val="FFFF00"/>
                </a:highlight>
              </a:rPr>
              <a:t>=explode(';',$plan-&gt;</a:t>
            </a:r>
            <a:r>
              <a:rPr lang="en-US" sz="1400" dirty="0" err="1">
                <a:highlight>
                  <a:srgbClr val="FFFF00"/>
                </a:highlight>
              </a:rPr>
              <a:t>product_id</a:t>
            </a:r>
            <a:r>
              <a:rPr lang="en-US" sz="1400" dirty="0">
                <a:highlight>
                  <a:srgbClr val="FFFF00"/>
                </a:highlight>
              </a:rPr>
              <a:t>);$</a:t>
            </a:r>
            <a:r>
              <a:rPr lang="en-US" sz="1400" dirty="0" err="1">
                <a:highlight>
                  <a:srgbClr val="FFFF00"/>
                </a:highlight>
              </a:rPr>
              <a:t>unique_ids</a:t>
            </a:r>
            <a:r>
              <a:rPr lang="en-US" sz="1400" dirty="0">
                <a:highlight>
                  <a:srgbClr val="FFFF00"/>
                </a:highlight>
              </a:rPr>
              <a:t>=</a:t>
            </a:r>
            <a:r>
              <a:rPr lang="en-US" sz="1400" dirty="0" err="1">
                <a:highlight>
                  <a:srgbClr val="FFFF00"/>
                </a:highlight>
              </a:rPr>
              <a:t>array_unique</a:t>
            </a:r>
            <a:r>
              <a:rPr lang="en-US" sz="1400" dirty="0">
                <a:highlight>
                  <a:srgbClr val="FFFF00"/>
                </a:highlight>
              </a:rPr>
              <a:t>($</a:t>
            </a:r>
            <a:r>
              <a:rPr lang="en-US" sz="1400" dirty="0" err="1">
                <a:highlight>
                  <a:srgbClr val="FFFF00"/>
                </a:highlight>
              </a:rPr>
              <a:t>id_arr</a:t>
            </a:r>
            <a:r>
              <a:rPr lang="en-US" sz="1400" dirty="0">
                <a:highlight>
                  <a:srgbClr val="FFFF00"/>
                </a:highlight>
              </a:rPr>
              <a:t>);$</a:t>
            </a:r>
            <a:r>
              <a:rPr lang="en-US" sz="1400" dirty="0" err="1">
                <a:highlight>
                  <a:srgbClr val="FFFF00"/>
                </a:highlight>
              </a:rPr>
              <a:t>all_error_names</a:t>
            </a:r>
            <a:r>
              <a:rPr lang="en-US" sz="1400" dirty="0">
                <a:highlight>
                  <a:srgbClr val="FFFF00"/>
                </a:highlight>
              </a:rPr>
              <a:t>='';$</a:t>
            </a:r>
            <a:r>
              <a:rPr lang="en-US" sz="1400" dirty="0" err="1">
                <a:highlight>
                  <a:srgbClr val="FFFF00"/>
                </a:highlight>
              </a:rPr>
              <a:t>total_errors</a:t>
            </a:r>
            <a:r>
              <a:rPr lang="en-US" sz="1400" dirty="0">
                <a:highlight>
                  <a:srgbClr val="FFFF00"/>
                </a:highlight>
              </a:rPr>
              <a:t>=0;$plan-&gt;</a:t>
            </a:r>
            <a:r>
              <a:rPr lang="en-US" sz="1400" dirty="0" err="1">
                <a:highlight>
                  <a:srgbClr val="FFFF00"/>
                </a:highlight>
              </a:rPr>
              <a:t>plan_value</a:t>
            </a:r>
            <a:r>
              <a:rPr lang="en-US" sz="1400" dirty="0">
                <a:highlight>
                  <a:srgbClr val="FFFF00"/>
                </a:highlight>
              </a:rPr>
              <a:t>+=$request-&gt;post('</a:t>
            </a:r>
            <a:r>
              <a:rPr lang="en-US" sz="1400" dirty="0" err="1">
                <a:highlight>
                  <a:srgbClr val="FFFF00"/>
                </a:highlight>
              </a:rPr>
              <a:t>plan_value</a:t>
            </a:r>
            <a:r>
              <a:rPr lang="en-US" sz="1400" dirty="0">
                <a:highlight>
                  <a:srgbClr val="FFFF00"/>
                </a:highlight>
              </a:rPr>
              <a:t>');foreach($</a:t>
            </a:r>
            <a:r>
              <a:rPr lang="en-US" sz="1400" dirty="0" err="1">
                <a:highlight>
                  <a:srgbClr val="FFFF00"/>
                </a:highlight>
              </a:rPr>
              <a:t>unique_ids</a:t>
            </a:r>
            <a:r>
              <a:rPr lang="en-US" sz="1400" dirty="0">
                <a:highlight>
                  <a:srgbClr val="FFFF00"/>
                </a:highlight>
              </a:rPr>
              <a:t> as $id){$count=count(</a:t>
            </a:r>
            <a:r>
              <a:rPr lang="en-US" sz="1400" dirty="0" err="1">
                <a:highlight>
                  <a:srgbClr val="FFFF00"/>
                </a:highlight>
              </a:rPr>
              <a:t>array_keys</a:t>
            </a:r>
            <a:r>
              <a:rPr lang="en-US" sz="1400" dirty="0">
                <a:highlight>
                  <a:srgbClr val="FFFF00"/>
                </a:highlight>
              </a:rPr>
              <a:t>($id_</a:t>
            </a:r>
            <a:r>
              <a:rPr lang="en-US" sz="1400" dirty="0" err="1">
                <a:highlight>
                  <a:srgbClr val="FFFF00"/>
                </a:highlight>
              </a:rPr>
              <a:t>arr</a:t>
            </a:r>
            <a:r>
              <a:rPr lang="en-US" sz="1400" dirty="0">
                <a:highlight>
                  <a:srgbClr val="FFFF00"/>
                </a:highlight>
              </a:rPr>
              <a:t>,$id));$product=Product::</a:t>
            </a:r>
            <a:r>
              <a:rPr lang="en-US" sz="1400" dirty="0" err="1">
                <a:highlight>
                  <a:srgbClr val="FFFF00"/>
                </a:highlight>
              </a:rPr>
              <a:t>findOne</a:t>
            </a:r>
            <a:r>
              <a:rPr lang="en-US" sz="1400" dirty="0">
                <a:highlight>
                  <a:srgbClr val="FFFF00"/>
                </a:highlight>
              </a:rPr>
              <a:t>($id);if(!$product-&gt;</a:t>
            </a:r>
            <a:r>
              <a:rPr lang="en-US" sz="1400" dirty="0" err="1">
                <a:highlight>
                  <a:srgbClr val="FFFF00"/>
                </a:highlight>
              </a:rPr>
              <a:t>getTarkib</a:t>
            </a:r>
            <a:r>
              <a:rPr lang="en-US" sz="1400" dirty="0">
                <a:highlight>
                  <a:srgbClr val="FFFF00"/>
                </a:highlight>
              </a:rPr>
              <a:t>()-&gt;count()){$session-&gt;</a:t>
            </a:r>
            <a:r>
              <a:rPr lang="en-US" sz="1400" dirty="0" err="1">
                <a:highlight>
                  <a:srgbClr val="FFFF00"/>
                </a:highlight>
              </a:rPr>
              <a:t>setFlash</a:t>
            </a:r>
            <a:r>
              <a:rPr lang="en-US" sz="1400" dirty="0">
                <a:highlight>
                  <a:srgbClr val="FFFF00"/>
                </a:highlight>
              </a:rPr>
              <a:t>('</a:t>
            </a:r>
            <a:r>
              <a:rPr lang="en-US" sz="1400" dirty="0" err="1">
                <a:highlight>
                  <a:srgbClr val="FFFF00"/>
                </a:highlight>
              </a:rPr>
              <a:t>danger','No</a:t>
            </a:r>
            <a:r>
              <a:rPr lang="en-US" sz="1400" dirty="0">
                <a:highlight>
                  <a:srgbClr val="FFFF00"/>
                </a:highlight>
              </a:rPr>
              <a:t> composition assigned to the product.');return $this-&gt;refresh();}$production=new Production(['date'=&gt;$plan-&gt;date,'</a:t>
            </a:r>
            <a:r>
              <a:rPr lang="en-US" sz="1400" dirty="0" err="1">
                <a:highlight>
                  <a:srgbClr val="FFFF00"/>
                </a:highlight>
              </a:rPr>
              <a:t>product_id</a:t>
            </a:r>
            <a:r>
              <a:rPr lang="en-US" sz="1400" dirty="0">
                <a:highlight>
                  <a:srgbClr val="FFFF00"/>
                </a:highlight>
              </a:rPr>
              <a:t>'=&gt;$product-&gt;</a:t>
            </a:r>
            <a:r>
              <a:rPr lang="en-US" sz="1400" dirty="0" err="1">
                <a:highlight>
                  <a:srgbClr val="FFFF00"/>
                </a:highlight>
              </a:rPr>
              <a:t>id,'value</a:t>
            </a:r>
            <a:r>
              <a:rPr lang="en-US" sz="1400" dirty="0">
                <a:highlight>
                  <a:srgbClr val="FFFF00"/>
                </a:highlight>
              </a:rPr>
              <a:t>'=&gt;$request-&gt;post('</a:t>
            </a:r>
            <a:r>
              <a:rPr lang="en-US" sz="1400" dirty="0" err="1">
                <a:highlight>
                  <a:srgbClr val="FFFF00"/>
                </a:highlight>
              </a:rPr>
              <a:t>plan_value</a:t>
            </a:r>
            <a:r>
              <a:rPr lang="en-US" sz="1400" dirty="0">
                <a:highlight>
                  <a:srgbClr val="FFFF00"/>
                </a:highlight>
              </a:rPr>
              <a:t>')*$count]);$validation=self::</a:t>
            </a:r>
            <a:r>
              <a:rPr lang="en-US" sz="1400" dirty="0" err="1">
                <a:highlight>
                  <a:srgbClr val="FFFF00"/>
                </a:highlight>
              </a:rPr>
              <a:t>checkProduction</a:t>
            </a:r>
            <a:r>
              <a:rPr lang="en-US" sz="1400" dirty="0">
                <a:highlight>
                  <a:srgbClr val="FFFF00"/>
                </a:highlight>
              </a:rPr>
              <a:t>($</a:t>
            </a:r>
            <a:r>
              <a:rPr lang="en-US" sz="1400" dirty="0" err="1">
                <a:highlight>
                  <a:srgbClr val="FFFF00"/>
                </a:highlight>
              </a:rPr>
              <a:t>product,$production</a:t>
            </a:r>
            <a:r>
              <a:rPr lang="en-US" sz="1400" dirty="0">
                <a:highlight>
                  <a:srgbClr val="FFFF00"/>
                </a:highlight>
              </a:rPr>
              <a:t>);if($validation['</a:t>
            </a:r>
            <a:r>
              <a:rPr lang="en-US" sz="1400" dirty="0" err="1">
                <a:highlight>
                  <a:srgbClr val="FFFF00"/>
                </a:highlight>
              </a:rPr>
              <a:t>number_error</a:t>
            </a:r>
            <a:r>
              <a:rPr lang="en-US" sz="1400" dirty="0">
                <a:highlight>
                  <a:srgbClr val="FFFF00"/>
                </a:highlight>
              </a:rPr>
              <a:t>']&gt;0){$</a:t>
            </a:r>
            <a:r>
              <a:rPr lang="en-US" sz="1400" dirty="0" err="1">
                <a:highlight>
                  <a:srgbClr val="FFFF00"/>
                </a:highlight>
              </a:rPr>
              <a:t>all_error_names</a:t>
            </a:r>
            <a:r>
              <a:rPr lang="en-US" sz="1400" dirty="0">
                <a:highlight>
                  <a:srgbClr val="FFFF00"/>
                </a:highlight>
              </a:rPr>
              <a:t>.="&lt;</a:t>
            </a:r>
            <a:r>
              <a:rPr lang="en-US" sz="1400" dirty="0" err="1">
                <a:highlight>
                  <a:srgbClr val="FFFF00"/>
                </a:highlight>
              </a:rPr>
              <a:t>br</a:t>
            </a:r>
            <a:r>
              <a:rPr lang="en-US" sz="1400" dirty="0">
                <a:highlight>
                  <a:srgbClr val="FFFF00"/>
                </a:highlight>
              </a:rPr>
              <a:t>&gt;".$validation['</a:t>
            </a:r>
            <a:r>
              <a:rPr lang="en-US" sz="1400" dirty="0" err="1">
                <a:highlight>
                  <a:srgbClr val="FFFF00"/>
                </a:highlight>
              </a:rPr>
              <a:t>number_error_names</a:t>
            </a:r>
            <a:r>
              <a:rPr lang="en-US" sz="1400" dirty="0">
                <a:highlight>
                  <a:srgbClr val="FFFF00"/>
                </a:highlight>
              </a:rPr>
              <a:t>'];$</a:t>
            </a:r>
            <a:r>
              <a:rPr lang="en-US" sz="1400" dirty="0" err="1">
                <a:highlight>
                  <a:srgbClr val="FFFF00"/>
                </a:highlight>
              </a:rPr>
              <a:t>total_errors</a:t>
            </a:r>
            <a:r>
              <a:rPr lang="en-US" sz="1400" dirty="0">
                <a:highlight>
                  <a:srgbClr val="FFFF00"/>
                </a:highlight>
              </a:rPr>
              <a:t>++;}}if($</a:t>
            </a:r>
            <a:r>
              <a:rPr lang="en-US" sz="1400" dirty="0" err="1">
                <a:highlight>
                  <a:srgbClr val="FFFF00"/>
                </a:highlight>
              </a:rPr>
              <a:t>total_errors</a:t>
            </a:r>
            <a:r>
              <a:rPr lang="en-US" sz="1400" dirty="0">
                <a:highlight>
                  <a:srgbClr val="FFFF00"/>
                </a:highlight>
              </a:rPr>
              <a:t>&gt;0){$session-&gt;</a:t>
            </a:r>
            <a:r>
              <a:rPr lang="en-US" sz="1400" dirty="0" err="1">
                <a:highlight>
                  <a:srgbClr val="FFFF00"/>
                </a:highlight>
              </a:rPr>
              <a:t>setFlash</a:t>
            </a:r>
            <a:r>
              <a:rPr lang="en-US" sz="1400" dirty="0">
                <a:highlight>
                  <a:srgbClr val="FFFF00"/>
                </a:highlight>
              </a:rPr>
              <a:t>('</a:t>
            </a:r>
            <a:r>
              <a:rPr lang="en-US" sz="1400" dirty="0" err="1">
                <a:highlight>
                  <a:srgbClr val="FFFF00"/>
                </a:highlight>
              </a:rPr>
              <a:t>danger','Not</a:t>
            </a:r>
            <a:r>
              <a:rPr lang="en-US" sz="1400" dirty="0">
                <a:highlight>
                  <a:srgbClr val="FFFF00"/>
                </a:highlight>
              </a:rPr>
              <a:t> enough raw materials: '.$total_errors.$</a:t>
            </a:r>
            <a:r>
              <a:rPr lang="en-US" sz="1400" dirty="0" err="1">
                <a:highlight>
                  <a:srgbClr val="FFFF00"/>
                </a:highlight>
              </a:rPr>
              <a:t>all_error_names</a:t>
            </a:r>
            <a:r>
              <a:rPr lang="en-US" sz="1400" dirty="0">
                <a:highlight>
                  <a:srgbClr val="FFFF00"/>
                </a:highlight>
              </a:rPr>
              <a:t>);return $this-&gt;refresh();}foreach($</a:t>
            </a:r>
            <a:r>
              <a:rPr lang="en-US" sz="1400" dirty="0" err="1">
                <a:highlight>
                  <a:srgbClr val="FFFF00"/>
                </a:highlight>
              </a:rPr>
              <a:t>unique_ids</a:t>
            </a:r>
            <a:r>
              <a:rPr lang="en-US" sz="1400" dirty="0">
                <a:highlight>
                  <a:srgbClr val="FFFF00"/>
                </a:highlight>
              </a:rPr>
              <a:t> as $id){$count=count(</a:t>
            </a:r>
            <a:r>
              <a:rPr lang="en-US" sz="1400" dirty="0" err="1">
                <a:highlight>
                  <a:srgbClr val="FFFF00"/>
                </a:highlight>
              </a:rPr>
              <a:t>array_keys</a:t>
            </a:r>
            <a:r>
              <a:rPr lang="en-US" sz="1400" dirty="0">
                <a:highlight>
                  <a:srgbClr val="FFFF00"/>
                </a:highlight>
              </a:rPr>
              <a:t>($id_</a:t>
            </a:r>
            <a:r>
              <a:rPr lang="en-US" sz="1400" dirty="0" err="1">
                <a:highlight>
                  <a:srgbClr val="FFFF00"/>
                </a:highlight>
              </a:rPr>
              <a:t>arr</a:t>
            </a:r>
            <a:r>
              <a:rPr lang="en-US" sz="1400" dirty="0">
                <a:highlight>
                  <a:srgbClr val="FFFF00"/>
                </a:highlight>
              </a:rPr>
              <a:t>,$id));$product=Product::</a:t>
            </a:r>
            <a:r>
              <a:rPr lang="en-US" sz="1400" dirty="0" err="1">
                <a:highlight>
                  <a:srgbClr val="FFFF00"/>
                </a:highlight>
              </a:rPr>
              <a:t>findOne</a:t>
            </a:r>
            <a:r>
              <a:rPr lang="en-US" sz="1400" dirty="0">
                <a:highlight>
                  <a:srgbClr val="FFFF00"/>
                </a:highlight>
              </a:rPr>
              <a:t>($id);if(!$product-&gt;</a:t>
            </a:r>
            <a:r>
              <a:rPr lang="en-US" sz="1400" dirty="0" err="1">
                <a:highlight>
                  <a:srgbClr val="FFFF00"/>
                </a:highlight>
              </a:rPr>
              <a:t>getTarkib</a:t>
            </a:r>
            <a:r>
              <a:rPr lang="en-US" sz="1400" dirty="0">
                <a:highlight>
                  <a:srgbClr val="FFFF00"/>
                </a:highlight>
              </a:rPr>
              <a:t>()-&gt;count()){$session-&gt;</a:t>
            </a:r>
            <a:r>
              <a:rPr lang="en-US" sz="1400" dirty="0" err="1">
                <a:highlight>
                  <a:srgbClr val="FFFF00"/>
                </a:highlight>
              </a:rPr>
              <a:t>setFlash</a:t>
            </a:r>
            <a:r>
              <a:rPr lang="en-US" sz="1400" dirty="0">
                <a:highlight>
                  <a:srgbClr val="FFFF00"/>
                </a:highlight>
              </a:rPr>
              <a:t>('</a:t>
            </a:r>
            <a:r>
              <a:rPr lang="en-US" sz="1400" dirty="0" err="1">
                <a:highlight>
                  <a:srgbClr val="FFFF00"/>
                </a:highlight>
              </a:rPr>
              <a:t>danger','No</a:t>
            </a:r>
            <a:r>
              <a:rPr lang="en-US" sz="1400" dirty="0">
                <a:highlight>
                  <a:srgbClr val="FFFF00"/>
                </a:highlight>
              </a:rPr>
              <a:t> composition assigned to the product.');return $this-&gt;refresh();}$production=new Production(['date'=&gt;$plan-&gt;date,'</a:t>
            </a:r>
            <a:r>
              <a:rPr lang="en-US" sz="1400" dirty="0" err="1">
                <a:highlight>
                  <a:srgbClr val="FFFF00"/>
                </a:highlight>
              </a:rPr>
              <a:t>product_id</a:t>
            </a:r>
            <a:r>
              <a:rPr lang="en-US" sz="1400" dirty="0">
                <a:highlight>
                  <a:srgbClr val="FFFF00"/>
                </a:highlight>
              </a:rPr>
              <a:t>'=&gt;$product-&gt;</a:t>
            </a:r>
            <a:r>
              <a:rPr lang="en-US" sz="1400" dirty="0" err="1">
                <a:highlight>
                  <a:srgbClr val="FFFF00"/>
                </a:highlight>
              </a:rPr>
              <a:t>id,'value</a:t>
            </a:r>
            <a:r>
              <a:rPr lang="en-US" sz="1400" dirty="0">
                <a:highlight>
                  <a:srgbClr val="FFFF00"/>
                </a:highlight>
              </a:rPr>
              <a:t>'=&gt;$request-&gt;post('</a:t>
            </a:r>
            <a:r>
              <a:rPr lang="en-US" sz="1400" dirty="0" err="1">
                <a:highlight>
                  <a:srgbClr val="FFFF00"/>
                </a:highlight>
              </a:rPr>
              <a:t>plan_value</a:t>
            </a:r>
            <a:r>
              <a:rPr lang="en-US" sz="1400" dirty="0">
                <a:highlight>
                  <a:srgbClr val="FFFF00"/>
                </a:highlight>
              </a:rPr>
              <a:t>')*$count,'</a:t>
            </a:r>
            <a:r>
              <a:rPr lang="en-US" sz="1400" dirty="0" err="1">
                <a:highlight>
                  <a:srgbClr val="FFFF00"/>
                </a:highlight>
              </a:rPr>
              <a:t>seh_id</a:t>
            </a:r>
            <a:r>
              <a:rPr lang="en-US" sz="1400" dirty="0">
                <a:highlight>
                  <a:srgbClr val="FFFF00"/>
                </a:highlight>
              </a:rPr>
              <a:t>'=&gt;$plan-&gt;seh_id,'</a:t>
            </a:r>
            <a:r>
              <a:rPr lang="en-US" sz="1400" dirty="0" err="1">
                <a:highlight>
                  <a:srgbClr val="FFFF00"/>
                </a:highlight>
              </a:rPr>
              <a:t>plan_id</a:t>
            </a:r>
            <a:r>
              <a:rPr lang="en-US" sz="1400" dirty="0">
                <a:highlight>
                  <a:srgbClr val="FFFF00"/>
                </a:highlight>
              </a:rPr>
              <a:t>'=&gt;$plan-&gt;id]);self::</a:t>
            </a:r>
            <a:r>
              <a:rPr lang="en-US" sz="1400" dirty="0" err="1">
                <a:highlight>
                  <a:srgbClr val="FFFF00"/>
                </a:highlight>
              </a:rPr>
              <a:t>makeProduction</a:t>
            </a:r>
            <a:r>
              <a:rPr lang="en-US" sz="1400" dirty="0">
                <a:highlight>
                  <a:srgbClr val="FFFF00"/>
                </a:highlight>
              </a:rPr>
              <a:t>($</a:t>
            </a:r>
            <a:r>
              <a:rPr lang="en-US" sz="1400" dirty="0" err="1">
                <a:highlight>
                  <a:srgbClr val="FFFF00"/>
                </a:highlight>
              </a:rPr>
              <a:t>production,$product,$plan</a:t>
            </a:r>
            <a:r>
              <a:rPr lang="en-US" sz="1400" dirty="0">
                <a:highlight>
                  <a:srgbClr val="FFFF00"/>
                </a:highlight>
              </a:rPr>
              <a:t>-&gt;seh,0,0,0);$plan-&gt;save();}$this-&gt;</a:t>
            </a:r>
            <a:r>
              <a:rPr lang="en-US" sz="1400" dirty="0" err="1">
                <a:highlight>
                  <a:srgbClr val="FFFF00"/>
                </a:highlight>
              </a:rPr>
              <a:t>setFlash</a:t>
            </a:r>
            <a:r>
              <a:rPr lang="en-US" sz="1400" dirty="0">
                <a:highlight>
                  <a:srgbClr val="FFFF00"/>
                </a:highlight>
              </a:rPr>
              <a:t>('success',</a:t>
            </a:r>
            <a:r>
              <a:rPr lang="en-US" sz="1400" dirty="0" err="1">
                <a:highlight>
                  <a:srgbClr val="FFFF00"/>
                </a:highlight>
              </a:rPr>
              <a:t>Yii</a:t>
            </a:r>
            <a:r>
              <a:rPr lang="en-US" sz="1400" dirty="0">
                <a:highlight>
                  <a:srgbClr val="FFFF00"/>
                </a:highlight>
              </a:rPr>
              <a:t>::t('</a:t>
            </a:r>
            <a:r>
              <a:rPr lang="en-US" sz="1400" dirty="0" err="1">
                <a:highlight>
                  <a:srgbClr val="FFFF00"/>
                </a:highlight>
              </a:rPr>
              <a:t>app','Saved</a:t>
            </a:r>
            <a:r>
              <a:rPr lang="en-US" sz="1400" dirty="0">
                <a:highlight>
                  <a:srgbClr val="FFFF00"/>
                </a:highlight>
              </a:rPr>
              <a:t>'));return $this-&gt;refresh();}</a:t>
            </a:r>
          </a:p>
        </p:txBody>
      </p:sp>
    </p:spTree>
    <p:extLst>
      <p:ext uri="{BB962C8B-B14F-4D97-AF65-F5344CB8AC3E}">
        <p14:creationId xmlns:p14="http://schemas.microsoft.com/office/powerpoint/2010/main" val="320654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0A30-EA87-391B-7F7B-06419FAC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747F-9588-EABC-1247-31619AFC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875441"/>
          </a:xfrm>
        </p:spPr>
        <p:txBody>
          <a:bodyPr/>
          <a:lstStyle/>
          <a:p>
            <a:r>
              <a:rPr lang="en-US" dirty="0"/>
              <a:t>Add data to table: Front side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19E6F-3E24-3244-BA69-EB44E2C6BD3A}"/>
              </a:ext>
            </a:extLst>
          </p:cNvPr>
          <p:cNvSpPr txBox="1"/>
          <p:nvPr/>
        </p:nvSpPr>
        <p:spPr>
          <a:xfrm>
            <a:off x="1158864" y="1072240"/>
            <a:ext cx="9315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1600" i="1" dirty="0"/>
              <a:t>Here actual quantity should be entered on specific product card which was planned to be produced.</a:t>
            </a:r>
            <a:br>
              <a:rPr lang="en-UZ" sz="1600" i="1" dirty="0"/>
            </a:br>
            <a:r>
              <a:rPr lang="en-UZ" sz="1600" i="1" dirty="0"/>
              <a:t>In this case, product is (Gruntovka 4.5KG)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D8D11-ED57-810F-F683-589869DDC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64" y="1690254"/>
            <a:ext cx="6168662" cy="42856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5655F2-2AA2-4A18-7922-D6DFDD5F2A49}"/>
                  </a:ext>
                </a:extLst>
              </p14:cNvPr>
              <p14:cNvContentPartPr/>
              <p14:nvPr/>
            </p14:nvContentPartPr>
            <p14:xfrm>
              <a:off x="2050167" y="2026647"/>
              <a:ext cx="927720" cy="143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5655F2-2AA2-4A18-7922-D6DFDD5F2A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4047" y="2020527"/>
                <a:ext cx="939960" cy="1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280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A2B6-FE32-B9C9-8129-D51E3772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4877-6298-9D54-0CE0-38441EF0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875441"/>
          </a:xfrm>
        </p:spPr>
        <p:txBody>
          <a:bodyPr/>
          <a:lstStyle/>
          <a:p>
            <a:r>
              <a:rPr lang="en-US" sz="3600" dirty="0">
                <a:effectLst/>
                <a:latin typeface="Helvetica" pitchFamily="2" charset="0"/>
              </a:rPr>
              <a:t>Add details of the database in PHP files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76055D3-357F-D5FB-E64A-E891200737FB}"/>
              </a:ext>
            </a:extLst>
          </p:cNvPr>
          <p:cNvGrpSpPr/>
          <p:nvPr/>
        </p:nvGrpSpPr>
        <p:grpSpPr>
          <a:xfrm>
            <a:off x="3005967" y="722367"/>
            <a:ext cx="360" cy="360"/>
            <a:chOff x="3005967" y="722367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9E750D4-6EE6-813F-8F20-E2A596C15287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9E750D4-6EE6-813F-8F20-E2A596C1528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533DFD4-C8EB-1B65-80D3-A8A48C1F08A2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533DFD4-C8EB-1B65-80D3-A8A48C1F08A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AA3377-A940-2329-E779-C2BCE307B648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AA3377-A940-2329-E779-C2BCE307B64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BF38E22-4201-3968-42F4-6B4516141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864" y="2084726"/>
            <a:ext cx="7772400" cy="40509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77B0CD-FD68-B230-5935-83FB9AD7387F}"/>
              </a:ext>
            </a:extLst>
          </p:cNvPr>
          <p:cNvSpPr txBox="1"/>
          <p:nvPr/>
        </p:nvSpPr>
        <p:spPr>
          <a:xfrm>
            <a:off x="1158864" y="1241513"/>
            <a:ext cx="705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/>
              <a:t>Database connection file: we should put db credentials here so that YII2 Framework be able to connect to DB</a:t>
            </a:r>
          </a:p>
        </p:txBody>
      </p:sp>
    </p:spTree>
    <p:extLst>
      <p:ext uri="{BB962C8B-B14F-4D97-AF65-F5344CB8AC3E}">
        <p14:creationId xmlns:p14="http://schemas.microsoft.com/office/powerpoint/2010/main" val="1237550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AD61-D6E0-E892-3987-D40BE3A9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4248-712D-53E8-E04F-7AECBDCE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875441"/>
          </a:xfrm>
        </p:spPr>
        <p:txBody>
          <a:bodyPr/>
          <a:lstStyle/>
          <a:p>
            <a:r>
              <a:rPr lang="en-UZ" sz="4800" dirty="0"/>
              <a:t>Query code: controller</a:t>
            </a:r>
            <a:endParaRPr lang="en-US" sz="9600" dirty="0">
              <a:effectLst/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EF60F9-8AC7-4852-150A-20BAB4DEAFFB}"/>
              </a:ext>
            </a:extLst>
          </p:cNvPr>
          <p:cNvGrpSpPr/>
          <p:nvPr/>
        </p:nvGrpSpPr>
        <p:grpSpPr>
          <a:xfrm>
            <a:off x="3005967" y="722367"/>
            <a:ext cx="360" cy="360"/>
            <a:chOff x="3005967" y="722367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D53B66-7249-ABCE-7F45-6FB46C19237D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D53B66-7249-ABCE-7F45-6FB46C19237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AAD6F95-362E-36D9-7E49-5403EADE97C3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AAD6F95-362E-36D9-7E49-5403EADE97C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88F6725-2126-FFFA-1C95-40E30601AA31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88F6725-2126-FFFA-1C95-40E30601AA3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F1ED6C-6769-1244-411B-96F8C61E1CC1}"/>
              </a:ext>
            </a:extLst>
          </p:cNvPr>
          <p:cNvSpPr txBox="1"/>
          <p:nvPr/>
        </p:nvSpPr>
        <p:spPr>
          <a:xfrm>
            <a:off x="1158864" y="1241513"/>
            <a:ext cx="705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/>
              <a:t>Query code to DB for cost fluctuation chart: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53D90-F616-92A7-5945-2CCBB9E649B6}"/>
              </a:ext>
            </a:extLst>
          </p:cNvPr>
          <p:cNvSpPr txBox="1"/>
          <p:nvPr/>
        </p:nvSpPr>
        <p:spPr>
          <a:xfrm>
            <a:off x="1130686" y="2064326"/>
            <a:ext cx="10313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effectLst/>
                <a:latin typeface="Menlo" panose="020B0609030804020204" pitchFamily="49" charset="0"/>
              </a:rPr>
              <a:t>$</a:t>
            </a:r>
            <a:r>
              <a:rPr lang="en-US" b="0" dirty="0" err="1">
                <a:effectLst/>
                <a:latin typeface="Menlo" panose="020B0609030804020204" pitchFamily="49" charset="0"/>
              </a:rPr>
              <a:t>monyhlyProduction</a:t>
            </a:r>
            <a:r>
              <a:rPr lang="en-US" b="0" dirty="0">
                <a:effectLst/>
                <a:latin typeface="Menlo" panose="020B0609030804020204" pitchFamily="49" charset="0"/>
              </a:rPr>
              <a:t> = $product-&gt;</a:t>
            </a:r>
            <a:r>
              <a:rPr lang="en-US" b="0" dirty="0" err="1">
                <a:effectLst/>
                <a:latin typeface="Menlo" panose="020B0609030804020204" pitchFamily="49" charset="0"/>
              </a:rPr>
              <a:t>getProduction</a:t>
            </a:r>
            <a:r>
              <a:rPr lang="en-US" b="0" dirty="0">
                <a:effectLst/>
                <a:latin typeface="Menlo" panose="020B0609030804020204" pitchFamily="49" charset="0"/>
              </a:rPr>
              <a:t>()</a:t>
            </a:r>
            <a:br>
              <a:rPr lang="en-US" b="0" dirty="0">
                <a:effectLst/>
                <a:latin typeface="Menlo" panose="020B0609030804020204" pitchFamily="49" charset="0"/>
              </a:rPr>
            </a:br>
            <a:r>
              <a:rPr lang="en-US" b="0" dirty="0">
                <a:effectLst/>
                <a:latin typeface="Menlo" panose="020B0609030804020204" pitchFamily="49" charset="0"/>
              </a:rPr>
              <a:t>				  -&gt;</a:t>
            </a:r>
            <a:r>
              <a:rPr lang="en-US" b="0" dirty="0" err="1">
                <a:effectLst/>
                <a:latin typeface="Menlo" panose="020B0609030804020204" pitchFamily="49" charset="0"/>
              </a:rPr>
              <a:t>orderBy</a:t>
            </a:r>
            <a:r>
              <a:rPr lang="en-US" b="0" dirty="0">
                <a:effectLst/>
                <a:latin typeface="Menlo" panose="020B0609030804020204" pitchFamily="49" charset="0"/>
              </a:rPr>
              <a:t>('date DESC’)</a:t>
            </a:r>
            <a:br>
              <a:rPr lang="en-US" b="0" dirty="0">
                <a:effectLst/>
                <a:latin typeface="Menlo" panose="020B0609030804020204" pitchFamily="49" charset="0"/>
              </a:rPr>
            </a:br>
            <a:r>
              <a:rPr lang="en-US" b="0" dirty="0">
                <a:effectLst/>
                <a:latin typeface="Menlo" panose="020B0609030804020204" pitchFamily="49" charset="0"/>
              </a:rPr>
              <a:t>				  -&gt;limit(10)-&gt;all();</a:t>
            </a:r>
            <a:br>
              <a:rPr lang="en-US" b="0" dirty="0">
                <a:effectLst/>
                <a:latin typeface="Menlo" panose="020B0609030804020204" pitchFamily="49" charset="0"/>
              </a:rPr>
            </a:br>
            <a:endParaRPr lang="en-US" b="0" dirty="0">
              <a:effectLst/>
              <a:latin typeface="Menlo" panose="020B0609030804020204" pitchFamily="49" charset="0"/>
            </a:endParaRPr>
          </a:p>
          <a:p>
            <a:r>
              <a:rPr lang="en-US" b="0" dirty="0" err="1">
                <a:effectLst/>
                <a:latin typeface="Menlo" panose="020B0609030804020204" pitchFamily="49" charset="0"/>
              </a:rPr>
              <a:t>usort</a:t>
            </a:r>
            <a:r>
              <a:rPr lang="en-US" b="0" dirty="0">
                <a:effectLst/>
                <a:latin typeface="Menlo" panose="020B0609030804020204" pitchFamily="49" charset="0"/>
              </a:rPr>
              <a:t>($</a:t>
            </a:r>
            <a:r>
              <a:rPr lang="en-US" b="0" dirty="0" err="1">
                <a:effectLst/>
                <a:latin typeface="Menlo" panose="020B0609030804020204" pitchFamily="49" charset="0"/>
              </a:rPr>
              <a:t>monyhlyProduction</a:t>
            </a:r>
            <a:r>
              <a:rPr lang="en-US" b="0" dirty="0">
                <a:effectLst/>
                <a:latin typeface="Menlo" panose="020B0609030804020204" pitchFamily="49" charset="0"/>
              </a:rPr>
              <a:t>,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fn</a:t>
            </a:r>
            <a:r>
              <a:rPr lang="en-US" b="0" dirty="0">
                <a:effectLst/>
                <a:latin typeface="Menlo" panose="020B0609030804020204" pitchFamily="49" charset="0"/>
              </a:rPr>
              <a:t>($a, $b) =&gt; </a:t>
            </a:r>
            <a:r>
              <a:rPr lang="en-US" b="0" dirty="0" err="1">
                <a:effectLst/>
                <a:latin typeface="Menlo" panose="020B0609030804020204" pitchFamily="49" charset="0"/>
              </a:rPr>
              <a:t>strcmp</a:t>
            </a:r>
            <a:r>
              <a:rPr lang="en-US" b="0" dirty="0">
                <a:effectLst/>
                <a:latin typeface="Menlo" panose="020B0609030804020204" pitchFamily="49" charset="0"/>
              </a:rPr>
              <a:t>($a-&gt;date, $b-&gt;date));</a:t>
            </a:r>
          </a:p>
          <a:p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313362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E6A1-476B-DCF5-0AC9-C3F6FFFC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2361-9F68-354A-20AD-276121E3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875441"/>
          </a:xfrm>
        </p:spPr>
        <p:txBody>
          <a:bodyPr/>
          <a:lstStyle/>
          <a:p>
            <a:r>
              <a:rPr lang="en-UZ" sz="4800" dirty="0"/>
              <a:t>Frontend code: cost_chart.php </a:t>
            </a:r>
            <a:endParaRPr lang="en-US" sz="9600" dirty="0">
              <a:effectLst/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874357-A27A-1EA1-10D9-98FE13177CF5}"/>
              </a:ext>
            </a:extLst>
          </p:cNvPr>
          <p:cNvGrpSpPr/>
          <p:nvPr/>
        </p:nvGrpSpPr>
        <p:grpSpPr>
          <a:xfrm>
            <a:off x="3005967" y="722367"/>
            <a:ext cx="360" cy="360"/>
            <a:chOff x="3005967" y="722367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34BB25-39E3-C0E8-4DD4-4A2BF5F90FB8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34BB25-39E3-C0E8-4DD4-4A2BF5F90FB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76C26FF-20E8-AE18-C7D0-CCFBC63AAAB7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76C26FF-20E8-AE18-C7D0-CCFBC63AAAB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B96665-013A-994F-B787-22021AB7F7BD}"/>
                    </a:ext>
                  </a:extLst>
                </p14:cNvPr>
                <p14:cNvContentPartPr/>
                <p14:nvPr/>
              </p14:nvContentPartPr>
              <p14:xfrm>
                <a:off x="3005967" y="722367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B96665-013A-994F-B787-22021AB7F7B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9847" y="7162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BD0BD6C-C84D-68EE-FA9F-F5ECFB432842}"/>
              </a:ext>
            </a:extLst>
          </p:cNvPr>
          <p:cNvSpPr txBox="1"/>
          <p:nvPr/>
        </p:nvSpPr>
        <p:spPr>
          <a:xfrm>
            <a:off x="1158864" y="1136143"/>
            <a:ext cx="9779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Yii2 view displays a </a:t>
            </a:r>
            <a:r>
              <a:rPr lang="en-US" b="1" dirty="0"/>
              <a:t>line chart of product costs (</a:t>
            </a:r>
            <a:r>
              <a:rPr lang="en-US" b="1" dirty="0" err="1"/>
              <a:t>tannarx</a:t>
            </a:r>
            <a:r>
              <a:rPr lang="en-US" b="1" dirty="0"/>
              <a:t>)</a:t>
            </a:r>
            <a:r>
              <a:rPr lang="en-US" dirty="0"/>
              <a:t> over the month using </a:t>
            </a:r>
            <a:r>
              <a:rPr lang="en-US" b="1" dirty="0" err="1"/>
              <a:t>ApexCharts</a:t>
            </a:r>
            <a:r>
              <a:rPr lang="en-US" dirty="0"/>
              <a:t>. It maps production data on the y-axis and day-month labels on the x-axis, formatted and localized as needed.</a:t>
            </a:r>
            <a:endParaRPr lang="en-U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E42B84-F689-6270-FC1B-C33243428D06}"/>
              </a:ext>
            </a:extLst>
          </p:cNvPr>
          <p:cNvSpPr txBox="1"/>
          <p:nvPr/>
        </p:nvSpPr>
        <p:spPr>
          <a:xfrm>
            <a:off x="1158864" y="2327565"/>
            <a:ext cx="97791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&lt;?</a:t>
            </a:r>
            <a:r>
              <a:rPr lang="en-US" sz="1600" dirty="0" err="1">
                <a:highlight>
                  <a:srgbClr val="FFFF00"/>
                </a:highlight>
              </a:rPr>
              <a:t>php</a:t>
            </a:r>
            <a:r>
              <a:rPr lang="en-US" sz="1600" dirty="0">
                <a:highlight>
                  <a:srgbClr val="FFFF00"/>
                </a:highlight>
              </a:rPr>
              <a:t> use common\widgets\</a:t>
            </a:r>
            <a:r>
              <a:rPr lang="en-US" sz="1600" dirty="0" err="1">
                <a:highlight>
                  <a:srgbClr val="FFFF00"/>
                </a:highlight>
              </a:rPr>
              <a:t>RegisterJS;use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yii</a:t>
            </a:r>
            <a:r>
              <a:rPr lang="en-US" sz="1600" dirty="0">
                <a:highlight>
                  <a:srgbClr val="FFFF00"/>
                </a:highlight>
              </a:rPr>
              <a:t>\helpers\</a:t>
            </a:r>
            <a:r>
              <a:rPr lang="en-US" sz="1600" dirty="0" err="1">
                <a:highlight>
                  <a:srgbClr val="FFFF00"/>
                </a:highlight>
              </a:rPr>
              <a:t>ArrayHelper</a:t>
            </a:r>
            <a:r>
              <a:rPr lang="en-US" sz="1600" dirty="0">
                <a:highlight>
                  <a:srgbClr val="FFFF00"/>
                </a:highlight>
              </a:rPr>
              <a:t>;?&gt;&lt;div id="chart"&gt;&lt;/div&gt;&lt;?</a:t>
            </a:r>
            <a:r>
              <a:rPr lang="en-US" sz="1600" dirty="0" err="1">
                <a:highlight>
                  <a:srgbClr val="FFFF00"/>
                </a:highlight>
              </a:rPr>
              <a:t>php</a:t>
            </a:r>
            <a:r>
              <a:rPr lang="en-US" sz="1600" dirty="0">
                <a:highlight>
                  <a:srgbClr val="FFFF00"/>
                </a:highlight>
              </a:rPr>
              <a:t> $this-&gt;</a:t>
            </a:r>
            <a:r>
              <a:rPr lang="en-US" sz="1600" dirty="0" err="1">
                <a:highlight>
                  <a:srgbClr val="FFFF00"/>
                </a:highlight>
              </a:rPr>
              <a:t>registerJsFile</a:t>
            </a:r>
            <a:r>
              <a:rPr lang="en-US" sz="1600" dirty="0">
                <a:highlight>
                  <a:srgbClr val="FFFF00"/>
                </a:highlight>
              </a:rPr>
              <a:t>("https://</a:t>
            </a:r>
            <a:r>
              <a:rPr lang="en-US" sz="1600" dirty="0" err="1">
                <a:highlight>
                  <a:srgbClr val="FFFF00"/>
                </a:highlight>
              </a:rPr>
              <a:t>cdn.jsdelivr.net</a:t>
            </a:r>
            <a:r>
              <a:rPr lang="en-US" sz="1600" dirty="0">
                <a:highlight>
                  <a:srgbClr val="FFFF00"/>
                </a:highlight>
              </a:rPr>
              <a:t>/</a:t>
            </a:r>
            <a:r>
              <a:rPr lang="en-US" sz="1600" dirty="0" err="1">
                <a:highlight>
                  <a:srgbClr val="FFFF00"/>
                </a:highlight>
              </a:rPr>
              <a:t>npm</a:t>
            </a:r>
            <a:r>
              <a:rPr lang="en-US" sz="1600" dirty="0">
                <a:highlight>
                  <a:srgbClr val="FFFF00"/>
                </a:highlight>
              </a:rPr>
              <a:t>/</a:t>
            </a:r>
            <a:r>
              <a:rPr lang="en-US" sz="1600" dirty="0" err="1">
                <a:highlight>
                  <a:srgbClr val="FFFF00"/>
                </a:highlight>
              </a:rPr>
              <a:t>apexcharts</a:t>
            </a:r>
            <a:r>
              <a:rPr lang="en-US" sz="1600" dirty="0">
                <a:highlight>
                  <a:srgbClr val="FFFF00"/>
                </a:highlight>
              </a:rPr>
              <a:t>");</a:t>
            </a:r>
            <a:r>
              <a:rPr lang="en-US" sz="1600" dirty="0" err="1">
                <a:highlight>
                  <a:srgbClr val="FFFF00"/>
                </a:highlight>
              </a:rPr>
              <a:t>RegisterJS</a:t>
            </a:r>
            <a:r>
              <a:rPr lang="en-US" sz="1600" dirty="0">
                <a:highlight>
                  <a:srgbClr val="FFFF00"/>
                </a:highlight>
              </a:rPr>
              <a:t>::begin();$data=</a:t>
            </a:r>
            <a:r>
              <a:rPr lang="en-US" sz="1600" dirty="0" err="1">
                <a:highlight>
                  <a:srgbClr val="FFFF00"/>
                </a:highlight>
              </a:rPr>
              <a:t>ArrayHelper</a:t>
            </a:r>
            <a:r>
              <a:rPr lang="en-US" sz="1600" dirty="0">
                <a:highlight>
                  <a:srgbClr val="FFFF00"/>
                </a:highlight>
              </a:rPr>
              <a:t>::</a:t>
            </a:r>
            <a:r>
              <a:rPr lang="en-US" sz="1600" dirty="0" err="1">
                <a:highlight>
                  <a:srgbClr val="FFFF00"/>
                </a:highlight>
              </a:rPr>
              <a:t>getColumn</a:t>
            </a:r>
            <a:r>
              <a:rPr lang="en-US" sz="1600" dirty="0">
                <a:highlight>
                  <a:srgbClr val="FFFF00"/>
                </a:highlight>
              </a:rPr>
              <a:t>($</a:t>
            </a:r>
            <a:r>
              <a:rPr lang="en-US" sz="1600" dirty="0" err="1">
                <a:highlight>
                  <a:srgbClr val="FFFF00"/>
                </a:highlight>
              </a:rPr>
              <a:t>monyhlyProduction</a:t>
            </a:r>
            <a:r>
              <a:rPr lang="en-US" sz="1600" dirty="0">
                <a:highlight>
                  <a:srgbClr val="FFFF00"/>
                </a:highlight>
              </a:rPr>
              <a:t>,'</a:t>
            </a:r>
            <a:r>
              <a:rPr lang="en-US" sz="1600" dirty="0" err="1">
                <a:highlight>
                  <a:srgbClr val="FFFF00"/>
                </a:highlight>
              </a:rPr>
              <a:t>tannarx</a:t>
            </a:r>
            <a:r>
              <a:rPr lang="en-US" sz="1600" dirty="0">
                <a:highlight>
                  <a:srgbClr val="FFFF00"/>
                </a:highlight>
              </a:rPr>
              <a:t>');$categories=</a:t>
            </a:r>
            <a:r>
              <a:rPr lang="en-US" sz="1600" dirty="0" err="1">
                <a:highlight>
                  <a:srgbClr val="FFFF00"/>
                </a:highlight>
              </a:rPr>
              <a:t>ArrayHelper</a:t>
            </a:r>
            <a:r>
              <a:rPr lang="en-US" sz="1600" dirty="0">
                <a:highlight>
                  <a:srgbClr val="FFFF00"/>
                </a:highlight>
              </a:rPr>
              <a:t>::</a:t>
            </a:r>
            <a:r>
              <a:rPr lang="en-US" sz="1600" dirty="0" err="1">
                <a:highlight>
                  <a:srgbClr val="FFFF00"/>
                </a:highlight>
              </a:rPr>
              <a:t>getColumn</a:t>
            </a:r>
            <a:r>
              <a:rPr lang="en-US" sz="1600" dirty="0">
                <a:highlight>
                  <a:srgbClr val="FFFF00"/>
                </a:highlight>
              </a:rPr>
              <a:t>($</a:t>
            </a:r>
            <a:r>
              <a:rPr lang="en-US" sz="1600" dirty="0" err="1">
                <a:highlight>
                  <a:srgbClr val="FFFF00"/>
                </a:highlight>
              </a:rPr>
              <a:t>monyhlyProduction,function</a:t>
            </a:r>
            <a:r>
              <a:rPr lang="en-US" sz="1600" dirty="0">
                <a:highlight>
                  <a:srgbClr val="FFFF00"/>
                </a:highlight>
              </a:rPr>
              <a:t>($p){return date('d',</a:t>
            </a:r>
            <a:r>
              <a:rPr lang="en-US" sz="1600" dirty="0" err="1">
                <a:highlight>
                  <a:srgbClr val="FFFF00"/>
                </a:highlight>
              </a:rPr>
              <a:t>strtotime</a:t>
            </a:r>
            <a:r>
              <a:rPr lang="en-US" sz="1600" dirty="0">
                <a:highlight>
                  <a:srgbClr val="FFFF00"/>
                </a:highlight>
              </a:rPr>
              <a:t>($p-&gt;date)).'-'.</a:t>
            </a:r>
            <a:r>
              <a:rPr lang="en-US" sz="1600" dirty="0" err="1">
                <a:highlight>
                  <a:srgbClr val="FFFF00"/>
                </a:highlight>
              </a:rPr>
              <a:t>Yii</a:t>
            </a:r>
            <a:r>
              <a:rPr lang="en-US" sz="1600" dirty="0">
                <a:highlight>
                  <a:srgbClr val="FFFF00"/>
                </a:highlight>
              </a:rPr>
              <a:t>::t('</a:t>
            </a:r>
            <a:r>
              <a:rPr lang="en-US" sz="1600" dirty="0" err="1">
                <a:highlight>
                  <a:srgbClr val="FFFF00"/>
                </a:highlight>
              </a:rPr>
              <a:t>app',date</a:t>
            </a:r>
            <a:r>
              <a:rPr lang="en-US" sz="1600" dirty="0">
                <a:highlight>
                  <a:srgbClr val="FFFF00"/>
                </a:highlight>
              </a:rPr>
              <a:t>('F',</a:t>
            </a:r>
            <a:r>
              <a:rPr lang="en-US" sz="1600" dirty="0" err="1">
                <a:highlight>
                  <a:srgbClr val="FFFF00"/>
                </a:highlight>
              </a:rPr>
              <a:t>strtotime</a:t>
            </a:r>
            <a:r>
              <a:rPr lang="en-US" sz="1600" dirty="0">
                <a:highlight>
                  <a:srgbClr val="FFFF00"/>
                </a:highlight>
              </a:rPr>
              <a:t>($p-&gt;date)));});?&gt;&lt;script&gt;var options={series:[{name:'&lt;?=</a:t>
            </a:r>
            <a:r>
              <a:rPr lang="en-US" sz="1600" dirty="0" err="1">
                <a:highlight>
                  <a:srgbClr val="FFFF00"/>
                </a:highlight>
              </a:rPr>
              <a:t>Yii</a:t>
            </a:r>
            <a:r>
              <a:rPr lang="en-US" sz="1600" dirty="0">
                <a:highlight>
                  <a:srgbClr val="FFFF00"/>
                </a:highlight>
              </a:rPr>
              <a:t>::t('app','</a:t>
            </a:r>
            <a:r>
              <a:rPr lang="en-US" sz="1600" dirty="0" err="1">
                <a:highlight>
                  <a:srgbClr val="FFFF00"/>
                </a:highlight>
              </a:rPr>
              <a:t>Tannarx</a:t>
            </a:r>
            <a:r>
              <a:rPr lang="en-US" sz="1600" dirty="0">
                <a:highlight>
                  <a:srgbClr val="FFFF00"/>
                </a:highlight>
              </a:rPr>
              <a:t>')?&gt;',data:&lt;?=</a:t>
            </a:r>
            <a:r>
              <a:rPr lang="en-US" sz="1600" dirty="0" err="1">
                <a:highlight>
                  <a:srgbClr val="FFFF00"/>
                </a:highlight>
              </a:rPr>
              <a:t>json_encode</a:t>
            </a:r>
            <a:r>
              <a:rPr lang="en-US" sz="1600" dirty="0">
                <a:highlight>
                  <a:srgbClr val="FFFF00"/>
                </a:highlight>
              </a:rPr>
              <a:t>($data)?&gt;}],chart:{height:350,type:'line',zoom:{enabled:!1}},</a:t>
            </a:r>
            <a:r>
              <a:rPr lang="en-US" sz="1600" dirty="0" err="1">
                <a:highlight>
                  <a:srgbClr val="FFFF00"/>
                </a:highlight>
              </a:rPr>
              <a:t>dataLabels</a:t>
            </a:r>
            <a:r>
              <a:rPr lang="en-US" sz="1600" dirty="0">
                <a:highlight>
                  <a:srgbClr val="FFFF00"/>
                </a:highlight>
              </a:rPr>
              <a:t>:{enabled:!1},stroke:{</a:t>
            </a:r>
            <a:r>
              <a:rPr lang="en-US" sz="1600" dirty="0" err="1">
                <a:highlight>
                  <a:srgbClr val="FFFF00"/>
                </a:highlight>
              </a:rPr>
              <a:t>curve:'straight',colors</a:t>
            </a:r>
            <a:r>
              <a:rPr lang="en-US" sz="1600" dirty="0">
                <a:highlight>
                  <a:srgbClr val="FFFF00"/>
                </a:highlight>
              </a:rPr>
              <a:t>:["#5156be"]},grid:{row:{colors:['#f3f3f3','transparent'],opacity:.5}},</a:t>
            </a:r>
            <a:r>
              <a:rPr lang="en-US" sz="1600" dirty="0" err="1">
                <a:highlight>
                  <a:srgbClr val="FFFF00"/>
                </a:highlight>
              </a:rPr>
              <a:t>yaxis</a:t>
            </a:r>
            <a:r>
              <a:rPr lang="en-US" sz="1600" dirty="0">
                <a:highlight>
                  <a:srgbClr val="FFFF00"/>
                </a:highlight>
              </a:rPr>
              <a:t>:{labels:{</a:t>
            </a:r>
            <a:r>
              <a:rPr lang="en-US" sz="1600" dirty="0" err="1">
                <a:highlight>
                  <a:srgbClr val="FFFF00"/>
                </a:highlight>
              </a:rPr>
              <a:t>formatter:function</a:t>
            </a:r>
            <a:r>
              <a:rPr lang="en-US" sz="1600" dirty="0">
                <a:highlight>
                  <a:srgbClr val="FFFF00"/>
                </a:highlight>
              </a:rPr>
              <a:t>(v){return </a:t>
            </a:r>
            <a:r>
              <a:rPr lang="en-US" sz="1600" dirty="0" err="1">
                <a:highlight>
                  <a:srgbClr val="FFFF00"/>
                </a:highlight>
              </a:rPr>
              <a:t>v.toLocaleString</a:t>
            </a:r>
            <a:r>
              <a:rPr lang="en-US" sz="1600" dirty="0">
                <a:highlight>
                  <a:srgbClr val="FFFF00"/>
                </a:highlight>
              </a:rPr>
              <a:t>().replace(/,/g,' ')+' &lt;?=</a:t>
            </a:r>
            <a:r>
              <a:rPr lang="en-US" sz="1600" dirty="0" err="1">
                <a:highlight>
                  <a:srgbClr val="FFFF00"/>
                </a:highlight>
              </a:rPr>
              <a:t>Yii</a:t>
            </a:r>
            <a:r>
              <a:rPr lang="en-US" sz="1600" dirty="0">
                <a:highlight>
                  <a:srgbClr val="FFFF00"/>
                </a:highlight>
              </a:rPr>
              <a:t>::t('app','</a:t>
            </a:r>
            <a:r>
              <a:rPr lang="en-US" sz="1600" dirty="0" err="1">
                <a:highlight>
                  <a:srgbClr val="FFFF00"/>
                </a:highlight>
              </a:rPr>
              <a:t>som</a:t>
            </a:r>
            <a:r>
              <a:rPr lang="en-US" sz="1600" dirty="0">
                <a:highlight>
                  <a:srgbClr val="FFFF00"/>
                </a:highlight>
              </a:rPr>
              <a:t>')?&gt;';}}},</a:t>
            </a:r>
            <a:r>
              <a:rPr lang="en-US" sz="1600" dirty="0" err="1">
                <a:highlight>
                  <a:srgbClr val="FFFF00"/>
                </a:highlight>
              </a:rPr>
              <a:t>xaxis</a:t>
            </a:r>
            <a:r>
              <a:rPr lang="en-US" sz="1600" dirty="0">
                <a:highlight>
                  <a:srgbClr val="FFFF00"/>
                </a:highlight>
              </a:rPr>
              <a:t>:{categories:&lt;?=</a:t>
            </a:r>
            <a:r>
              <a:rPr lang="en-US" sz="1600" dirty="0" err="1">
                <a:highlight>
                  <a:srgbClr val="FFFF00"/>
                </a:highlight>
              </a:rPr>
              <a:t>json_encode</a:t>
            </a:r>
            <a:r>
              <a:rPr lang="en-US" sz="1600" dirty="0">
                <a:highlight>
                  <a:srgbClr val="FFFF00"/>
                </a:highlight>
              </a:rPr>
              <a:t>($categories)?&gt;}};new </a:t>
            </a:r>
            <a:r>
              <a:rPr lang="en-US" sz="1600" dirty="0" err="1">
                <a:highlight>
                  <a:srgbClr val="FFFF00"/>
                </a:highlight>
              </a:rPr>
              <a:t>ApexCharts</a:t>
            </a:r>
            <a:r>
              <a:rPr lang="en-US" sz="1600" dirty="0">
                <a:highlight>
                  <a:srgbClr val="FFFF00"/>
                </a:highlight>
              </a:rPr>
              <a:t>(</a:t>
            </a:r>
            <a:r>
              <a:rPr lang="en-US" sz="1600" dirty="0" err="1">
                <a:highlight>
                  <a:srgbClr val="FFFF00"/>
                </a:highlight>
              </a:rPr>
              <a:t>document.querySelector</a:t>
            </a:r>
            <a:r>
              <a:rPr lang="en-US" sz="1600" dirty="0">
                <a:highlight>
                  <a:srgbClr val="FFFF00"/>
                </a:highlight>
              </a:rPr>
              <a:t>("#chart"),options).render();&lt;/script&gt;&lt;?</a:t>
            </a:r>
            <a:r>
              <a:rPr lang="en-US" sz="1600" dirty="0" err="1">
                <a:highlight>
                  <a:srgbClr val="FFFF00"/>
                </a:highlight>
              </a:rPr>
              <a:t>php</a:t>
            </a:r>
            <a:r>
              <a:rPr lang="en-US" sz="1600" dirty="0">
                <a:highlight>
                  <a:srgbClr val="FFFF00"/>
                </a:highlight>
              </a:rPr>
              <a:t> </a:t>
            </a:r>
            <a:r>
              <a:rPr lang="en-US" sz="1600" dirty="0" err="1">
                <a:highlight>
                  <a:srgbClr val="FFFF00"/>
                </a:highlight>
              </a:rPr>
              <a:t>RegisterJS</a:t>
            </a:r>
            <a:r>
              <a:rPr lang="en-US" sz="1600" dirty="0">
                <a:highlight>
                  <a:srgbClr val="FFFF00"/>
                </a:highlight>
              </a:rPr>
              <a:t>::end(); ?&gt;</a:t>
            </a:r>
          </a:p>
          <a:p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2098410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1" y="2202873"/>
            <a:ext cx="2626658" cy="1719186"/>
          </a:xfrm>
        </p:spPr>
        <p:txBody>
          <a:bodyPr/>
          <a:lstStyle/>
          <a:p>
            <a:r>
              <a:rPr lang="en-US" dirty="0"/>
              <a:t>Final</a:t>
            </a:r>
            <a:br>
              <a:rPr lang="en-US" dirty="0"/>
            </a:br>
            <a:r>
              <a:rPr lang="en-US" dirty="0"/>
              <a:t>Output</a:t>
            </a:r>
          </a:p>
        </p:txBody>
      </p:sp>
      <p:pic>
        <p:nvPicPr>
          <p:cNvPr id="8" name="Picture 7" descr="A graph on a computer screen&#10;&#10;Description automatically generated">
            <a:extLst>
              <a:ext uri="{FF2B5EF4-FFF2-40B4-BE49-F238E27FC236}">
                <a16:creationId xmlns:a16="http://schemas.microsoft.com/office/drawing/2014/main" id="{F528CE37-8592-BB7F-5EBF-59BCA2AF4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18" y="406038"/>
            <a:ext cx="7772400" cy="531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signment_2" id="{229E6DE7-11C9-E347-8711-5DBF88046475}" vid="{E27108DB-1486-7E4F-AC02-6036EF9C7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53</TotalTime>
  <Words>952</Words>
  <Application>Microsoft Macintosh PowerPoint</Application>
  <PresentationFormat>Widescreen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Helvetica</vt:lpstr>
      <vt:lpstr>Menlo</vt:lpstr>
      <vt:lpstr>Tenorite</vt:lpstr>
      <vt:lpstr>Custom</vt:lpstr>
      <vt:lpstr>DB Integrated Chart  Five marks activity</vt:lpstr>
      <vt:lpstr>Setup DB</vt:lpstr>
      <vt:lpstr>Create a table</vt:lpstr>
      <vt:lpstr>Add data to table: Code</vt:lpstr>
      <vt:lpstr>Add data to table: Front side</vt:lpstr>
      <vt:lpstr>Add details of the database in PHP files</vt:lpstr>
      <vt:lpstr>Query code: controller</vt:lpstr>
      <vt:lpstr>Frontend code: cost_chart.php </vt:lpstr>
      <vt:lpstr>Final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유수프존</dc:creator>
  <cp:lastModifiedBy>유수프존</cp:lastModifiedBy>
  <cp:revision>1</cp:revision>
  <dcterms:created xsi:type="dcterms:W3CDTF">2025-06-01T13:25:29Z</dcterms:created>
  <dcterms:modified xsi:type="dcterms:W3CDTF">2025-06-01T14:18:34Z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