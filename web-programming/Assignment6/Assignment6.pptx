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99" r:id="rId7"/>
    <p:sldId id="303" r:id="rId8"/>
    <p:sldId id="288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81" autoAdjust="0"/>
    <p:restoredTop sz="95672" autoAdjust="0"/>
  </p:normalViewPr>
  <p:slideViewPr>
    <p:cSldViewPr snapToGrid="0">
      <p:cViewPr varScale="1">
        <p:scale>
          <a:sx n="129" d="100"/>
          <a:sy n="129" d="100"/>
        </p:scale>
        <p:origin x="336" y="200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5/29/25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BC7D-ABFD-11DF-AB56-CCDCF5BF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C26F9-4A0C-8FCA-4DA5-BCA559871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E32E8-5FF1-3C10-F758-AA37BD30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D0B78-0164-3EF2-EC59-49EEB28EA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22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CF7A2-E442-5A5D-28A1-3745C6A2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18728-C0E7-51F5-E667-764D51DA1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172FC-D7C8-0199-CCB9-4A8546F2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C1595-741C-EE3B-D161-0A2A92BFF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69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21CEC-DD87-C159-CE27-1B735CA1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77187-CE48-292F-ECDC-EBD9B52D6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B79B5-581D-8467-7270-B703111D2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4D1E8-1B94-DF8E-24CF-CFA69971B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762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B71F-EEDC-84C9-6D06-8B7BFACE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A5D19-AEBF-22FF-1C5F-5C47E68E2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8E36D-845C-6BF5-1C27-C462EEE92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716BB-0425-5854-70DC-32467496C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3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Web Programming</a:t>
            </a:r>
            <a:br>
              <a:rPr lang="en-US" dirty="0"/>
            </a:br>
            <a:r>
              <a:rPr lang="en-US" dirty="0"/>
              <a:t>Assignment #6</a:t>
            </a:r>
          </a:p>
        </p:txBody>
      </p:sp>
      <p:sp>
        <p:nvSpPr>
          <p:cNvPr id="4" name="副标题 7">
            <a:extLst>
              <a:ext uri="{FF2B5EF4-FFF2-40B4-BE49-F238E27FC236}">
                <a16:creationId xmlns:a16="http://schemas.microsoft.com/office/drawing/2014/main" id="{5C63BCC6-8460-898C-ADAB-46A7AB35CC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598804" y="4675393"/>
            <a:ext cx="6359392" cy="14695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Name: </a:t>
            </a:r>
            <a:r>
              <a:rPr lang="en-US" altLang="zh-CN" sz="1800" i="1" dirty="0" err="1">
                <a:solidFill>
                  <a:schemeClr val="accent4"/>
                </a:solidFill>
              </a:rPr>
              <a:t>Akhmedov</a:t>
            </a:r>
            <a:r>
              <a:rPr lang="en-US" altLang="zh-CN" sz="1800" i="1" dirty="0">
                <a:solidFill>
                  <a:schemeClr val="accent4"/>
                </a:solidFill>
              </a:rPr>
              <a:t> </a:t>
            </a:r>
            <a:r>
              <a:rPr lang="en-US" altLang="zh-CN" sz="1800" b="1" i="1" dirty="0" err="1">
                <a:solidFill>
                  <a:schemeClr val="accent4"/>
                </a:solidFill>
              </a:rPr>
              <a:t>Yusufjon</a:t>
            </a:r>
            <a:r>
              <a:rPr lang="en-US" altLang="zh-CN" sz="1800" i="1" dirty="0">
                <a:solidFill>
                  <a:schemeClr val="accent4"/>
                </a:solidFill>
              </a:rPr>
              <a:t> Muhammad </a:t>
            </a:r>
            <a:r>
              <a:rPr lang="en-US" altLang="zh-CN" sz="1800" i="1" dirty="0" err="1">
                <a:solidFill>
                  <a:schemeClr val="accent4"/>
                </a:solidFill>
              </a:rPr>
              <a:t>ugli</a:t>
            </a:r>
            <a:r>
              <a:rPr lang="en-US" altLang="zh-CN" sz="1800" i="1" dirty="0">
                <a:solidFill>
                  <a:schemeClr val="accent4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Major: </a:t>
            </a:r>
            <a:r>
              <a:rPr lang="en-US" altLang="zh-CN" sz="1800" b="1" i="1" dirty="0">
                <a:solidFill>
                  <a:schemeClr val="accent4"/>
                </a:solidFill>
              </a:rPr>
              <a:t>Computer Engineering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i="1" dirty="0">
                <a:solidFill>
                  <a:schemeClr val="accent4"/>
                </a:solidFill>
              </a:rPr>
              <a:t>Student Number: </a:t>
            </a:r>
            <a:r>
              <a:rPr lang="en-US" altLang="zh-CN" sz="1800" b="1" i="1" dirty="0">
                <a:solidFill>
                  <a:schemeClr val="accent4"/>
                </a:solidFill>
              </a:rPr>
              <a:t>202438404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endParaRPr lang="en-US" altLang="zh-CN" sz="1800" dirty="0">
              <a:solidFill>
                <a:schemeClr val="accent4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1800" dirty="0">
                <a:solidFill>
                  <a:schemeClr val="accent4"/>
                </a:solidFill>
              </a:rPr>
              <a:t>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3E822-C07F-92B2-04AE-F318DB6E40EE}"/>
              </a:ext>
            </a:extLst>
          </p:cNvPr>
          <p:cNvSpPr txBox="1"/>
          <p:nvPr/>
        </p:nvSpPr>
        <p:spPr>
          <a:xfrm>
            <a:off x="7672039" y="5675971"/>
            <a:ext cx="3032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solidFill>
                  <a:schemeClr val="accent4"/>
                </a:solidFill>
              </a:rPr>
              <a:t>Due date: 2025.05.30</a:t>
            </a:r>
          </a:p>
          <a:p>
            <a:r>
              <a:rPr lang="en-UZ" dirty="0">
                <a:solidFill>
                  <a:schemeClr val="accent4"/>
                </a:solidFill>
              </a:rPr>
              <a:t>Submission date: 2025.05.29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6D071D1-F6A7-53D3-A2CC-ED4870481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901630"/>
            <a:ext cx="10668000" cy="46436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E6375B3-AD06-A62F-EDDA-6F556645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291" y="223905"/>
            <a:ext cx="3242440" cy="677725"/>
          </a:xfrm>
        </p:spPr>
        <p:txBody>
          <a:bodyPr/>
          <a:lstStyle/>
          <a:p>
            <a:r>
              <a:rPr lang="en-US" dirty="0"/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80E6AA9-DB95-3017-4585-37EF7D99981F}"/>
              </a:ext>
            </a:extLst>
          </p:cNvPr>
          <p:cNvSpPr txBox="1"/>
          <p:nvPr/>
        </p:nvSpPr>
        <p:spPr>
          <a:xfrm>
            <a:off x="420414" y="1324302"/>
            <a:ext cx="7620001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html&gt;&lt;html lang="</a:t>
            </a:r>
            <a:r>
              <a:rPr lang="en-US" sz="1600" dirty="0" err="1"/>
              <a:t>en</a:t>
            </a:r>
            <a:r>
              <a:rPr lang="en-US" sz="1600" dirty="0"/>
              <a:t>"&gt;&lt;head&gt;&lt;meta charset="UTF-8"&gt;&lt;title&gt;Students Database&lt;/title&gt;&lt;link </a:t>
            </a:r>
            <a:r>
              <a:rPr lang="en-US" sz="1600" dirty="0" err="1"/>
              <a:t>rel</a:t>
            </a:r>
            <a:r>
              <a:rPr lang="en-US" sz="1600" dirty="0"/>
              <a:t>="stylesheet" </a:t>
            </a:r>
            <a:r>
              <a:rPr lang="en-US" sz="1600" dirty="0" err="1"/>
              <a:t>href</a:t>
            </a:r>
            <a:r>
              <a:rPr lang="en-US" sz="1600" dirty="0"/>
              <a:t>="</a:t>
            </a:r>
            <a:r>
              <a:rPr lang="en-US" sz="1600" dirty="0" err="1"/>
              <a:t>style.css</a:t>
            </a:r>
            <a:r>
              <a:rPr lang="en-US" sz="1600" dirty="0"/>
              <a:t>"&gt;&lt;/head&gt;&lt;body&gt;&lt;h1&gt;Students personal information&lt;/h1&gt;&lt;?</a:t>
            </a:r>
            <a:r>
              <a:rPr lang="en-US" sz="1600" dirty="0" err="1"/>
              <a:t>php</a:t>
            </a:r>
            <a:endParaRPr lang="en-US" sz="1600" dirty="0"/>
          </a:p>
          <a:p>
            <a:r>
              <a:rPr lang="en-US" sz="1600" dirty="0"/>
              <a:t>$</a:t>
            </a:r>
            <a:r>
              <a:rPr lang="en-US" sz="1600" dirty="0" err="1"/>
              <a:t>servername</a:t>
            </a:r>
            <a:r>
              <a:rPr lang="en-US" sz="1600" dirty="0"/>
              <a:t>="localhost";$username="root";$password="root";$</a:t>
            </a:r>
            <a:r>
              <a:rPr lang="en-US" sz="1600" dirty="0" err="1"/>
              <a:t>databasename</a:t>
            </a:r>
            <a:r>
              <a:rPr lang="en-US" sz="1600" dirty="0"/>
              <a:t>="school";</a:t>
            </a:r>
          </a:p>
          <a:p>
            <a:r>
              <a:rPr lang="en-US" sz="1600" dirty="0"/>
              <a:t>$conn=new </a:t>
            </a:r>
            <a:r>
              <a:rPr lang="en-US" sz="1600" dirty="0" err="1"/>
              <a:t>mysqli</a:t>
            </a:r>
            <a:r>
              <a:rPr lang="en-US" sz="1600" dirty="0"/>
              <a:t>($</a:t>
            </a:r>
            <a:r>
              <a:rPr lang="en-US" sz="1600" dirty="0" err="1"/>
              <a:t>servername</a:t>
            </a:r>
            <a:r>
              <a:rPr lang="en-US" sz="1600" dirty="0"/>
              <a:t>,$username,$password,$</a:t>
            </a:r>
            <a:r>
              <a:rPr lang="en-US" sz="1600" dirty="0" err="1"/>
              <a:t>databasename</a:t>
            </a:r>
            <a:r>
              <a:rPr lang="en-US" sz="1600" dirty="0"/>
              <a:t>);</a:t>
            </a:r>
          </a:p>
          <a:p>
            <a:r>
              <a:rPr lang="en-US" sz="1600" dirty="0"/>
              <a:t>if($conn-&gt;</a:t>
            </a:r>
            <a:r>
              <a:rPr lang="en-US" sz="1600" dirty="0" err="1"/>
              <a:t>connect_error</a:t>
            </a:r>
            <a:r>
              <a:rPr lang="en-US" sz="1600" dirty="0"/>
              <a:t>){die("Connection failed: ".$conn-&gt;</a:t>
            </a:r>
            <a:r>
              <a:rPr lang="en-US" sz="1600" dirty="0" err="1"/>
              <a:t>connect_error</a:t>
            </a:r>
            <a:r>
              <a:rPr lang="en-US" sz="1600" dirty="0"/>
              <a:t>);}</a:t>
            </a:r>
          </a:p>
          <a:p>
            <a:r>
              <a:rPr lang="en-US" sz="1600" dirty="0"/>
              <a:t>$query="SELECT * FROM `student`;";</a:t>
            </a:r>
          </a:p>
          <a:p>
            <a:r>
              <a:rPr lang="en-US" sz="1600" dirty="0"/>
              <a:t>$columns=['</a:t>
            </a:r>
            <a:r>
              <a:rPr lang="en-US" sz="1600" dirty="0" err="1"/>
              <a:t>first_name</a:t>
            </a:r>
            <a:r>
              <a:rPr lang="en-US" sz="1600" dirty="0"/>
              <a:t>'=&gt;'First name','</a:t>
            </a:r>
            <a:r>
              <a:rPr lang="en-US" sz="1600" dirty="0" err="1"/>
              <a:t>last_name</a:t>
            </a:r>
            <a:r>
              <a:rPr lang="en-US" sz="1600" dirty="0"/>
              <a:t>'=&gt;'Last </a:t>
            </a:r>
            <a:r>
              <a:rPr lang="en-US" sz="1600" dirty="0" err="1"/>
              <a:t>name','age</a:t>
            </a:r>
            <a:r>
              <a:rPr lang="en-US" sz="1600" dirty="0"/>
              <a:t>'=&gt;'</a:t>
            </a:r>
            <a:r>
              <a:rPr lang="en-US" sz="1600" dirty="0" err="1"/>
              <a:t>Age','gender</a:t>
            </a:r>
            <a:r>
              <a:rPr lang="en-US" sz="1600" dirty="0"/>
              <a:t>'=&gt;'</a:t>
            </a:r>
            <a:r>
              <a:rPr lang="en-US" sz="1600" dirty="0" err="1"/>
              <a:t>Gender','address</a:t>
            </a:r>
            <a:r>
              <a:rPr lang="en-US" sz="1600" dirty="0"/>
              <a:t>'=&gt;'Address','</a:t>
            </a:r>
            <a:r>
              <a:rPr lang="en-US" sz="1600" dirty="0" err="1"/>
              <a:t>university_name</a:t>
            </a:r>
            <a:r>
              <a:rPr lang="en-US" sz="1600" dirty="0"/>
              <a:t>'=&gt;'University </a:t>
            </a:r>
            <a:r>
              <a:rPr lang="en-US" sz="1600" dirty="0" err="1"/>
              <a:t>name','semester</a:t>
            </a:r>
            <a:r>
              <a:rPr lang="en-US" sz="1600" dirty="0"/>
              <a:t>'=&gt;'Semester #','</a:t>
            </a:r>
            <a:r>
              <a:rPr lang="en-US" sz="1600" dirty="0" err="1"/>
              <a:t>gpa</a:t>
            </a:r>
            <a:r>
              <a:rPr lang="en-US" sz="1600" dirty="0"/>
              <a:t>'=&gt;'</a:t>
            </a:r>
            <a:r>
              <a:rPr lang="en-US" sz="1600" dirty="0" err="1"/>
              <a:t>GPA','nationality</a:t>
            </a:r>
            <a:r>
              <a:rPr lang="en-US" sz="1600" dirty="0"/>
              <a:t>'=&gt;'</a:t>
            </a:r>
            <a:r>
              <a:rPr lang="en-US" sz="1600" dirty="0" err="1"/>
              <a:t>Nationality','hobby</a:t>
            </a:r>
            <a:r>
              <a:rPr lang="en-US" sz="1600" dirty="0"/>
              <a:t>'=&gt;'Hobby'];</a:t>
            </a:r>
          </a:p>
          <a:p>
            <a:r>
              <a:rPr lang="en-US" sz="1600" dirty="0"/>
              <a:t>$result=$conn-&gt;query($query);</a:t>
            </a:r>
          </a:p>
          <a:p>
            <a:r>
              <a:rPr lang="en-US" sz="1600" dirty="0"/>
              <a:t>if($result-&gt;</a:t>
            </a:r>
            <a:r>
              <a:rPr lang="en-US" sz="1600" dirty="0" err="1"/>
              <a:t>num_rows</a:t>
            </a:r>
            <a:r>
              <a:rPr lang="en-US" sz="1600" dirty="0"/>
              <a:t>&gt;0){?&gt;&lt;div class="table-container"&gt;&lt;?</a:t>
            </a:r>
            <a:r>
              <a:rPr lang="en-US" sz="1600" dirty="0" err="1"/>
              <a:t>php</a:t>
            </a:r>
            <a:r>
              <a:rPr lang="en-US" sz="1600" dirty="0"/>
              <a:t> while($row=$result-&gt;</a:t>
            </a:r>
            <a:r>
              <a:rPr lang="en-US" sz="1600" dirty="0" err="1"/>
              <a:t>fetch_assoc</a:t>
            </a:r>
            <a:r>
              <a:rPr lang="en-US" sz="1600" dirty="0"/>
              <a:t>()){?&gt;&lt;table border="1"&gt;&lt;</a:t>
            </a:r>
            <a:r>
              <a:rPr lang="en-US" sz="1600" dirty="0" err="1"/>
              <a:t>thead</a:t>
            </a:r>
            <a:r>
              <a:rPr lang="en-US" sz="1600" dirty="0"/>
              <a:t>&gt;&lt;tr&gt;&lt;</a:t>
            </a:r>
            <a:r>
              <a:rPr lang="en-US" sz="1600" dirty="0" err="1"/>
              <a:t>th</a:t>
            </a:r>
            <a:r>
              <a:rPr lang="en-US" sz="1600" dirty="0"/>
              <a:t>&gt;Sr.#&lt;/</a:t>
            </a:r>
            <a:r>
              <a:rPr lang="en-US" sz="1600" dirty="0" err="1"/>
              <a:t>th</a:t>
            </a:r>
            <a:r>
              <a:rPr lang="en-US" sz="1600" dirty="0"/>
              <a:t>&gt;&lt;</a:t>
            </a:r>
            <a:r>
              <a:rPr lang="en-US" sz="1600" dirty="0" err="1"/>
              <a:t>th</a:t>
            </a:r>
            <a:r>
              <a:rPr lang="en-US" sz="1600" dirty="0"/>
              <a:t>&gt;Attribute&lt;/</a:t>
            </a:r>
            <a:r>
              <a:rPr lang="en-US" sz="1600" dirty="0" err="1"/>
              <a:t>th</a:t>
            </a:r>
            <a:r>
              <a:rPr lang="en-US" sz="1600" dirty="0"/>
              <a:t>&gt;&lt;</a:t>
            </a:r>
            <a:r>
              <a:rPr lang="en-US" sz="1600" dirty="0" err="1"/>
              <a:t>th</a:t>
            </a:r>
            <a:r>
              <a:rPr lang="en-US" sz="1600" dirty="0"/>
              <a:t>&gt;Value&lt;/</a:t>
            </a:r>
            <a:r>
              <a:rPr lang="en-US" sz="1600" dirty="0" err="1"/>
              <a:t>th</a:t>
            </a:r>
            <a:r>
              <a:rPr lang="en-US" sz="1600" dirty="0"/>
              <a:t>&gt;&lt;/tr&gt;&lt;/</a:t>
            </a:r>
            <a:r>
              <a:rPr lang="en-US" sz="1600" dirty="0" err="1"/>
              <a:t>thead</a:t>
            </a:r>
            <a:r>
              <a:rPr lang="en-US" sz="1600" dirty="0"/>
              <a:t>&gt;&lt;</a:t>
            </a:r>
            <a:r>
              <a:rPr lang="en-US" sz="1600" dirty="0" err="1"/>
              <a:t>tbody</a:t>
            </a:r>
            <a:r>
              <a:rPr lang="en-US" sz="1600" dirty="0"/>
              <a:t>&gt;&lt;?</a:t>
            </a:r>
            <a:r>
              <a:rPr lang="en-US" sz="1600" dirty="0" err="1"/>
              <a:t>php</a:t>
            </a:r>
            <a:r>
              <a:rPr lang="en-US" sz="1600" dirty="0"/>
              <a:t> $</a:t>
            </a:r>
            <a:r>
              <a:rPr lang="en-US" sz="1600" dirty="0" err="1"/>
              <a:t>sr</a:t>
            </a:r>
            <a:r>
              <a:rPr lang="en-US" sz="1600" dirty="0"/>
              <a:t>=0;foreach($columns as $key=&gt;$value){?&gt;&lt;tr&gt;&lt;td&gt;&lt;?=++$</a:t>
            </a:r>
            <a:r>
              <a:rPr lang="en-US" sz="1600" dirty="0" err="1"/>
              <a:t>sr</a:t>
            </a:r>
            <a:r>
              <a:rPr lang="en-US" sz="1600" dirty="0"/>
              <a:t>;?&gt;&lt;/td&gt;&lt;td&gt;&lt;?=$value?&gt;&lt;/td&gt;&lt;td&gt;&lt;?=$row[$key]?&gt;&lt;/td&gt;&lt;/tr&gt;&lt;?</a:t>
            </a:r>
            <a:r>
              <a:rPr lang="en-US" sz="1600" dirty="0" err="1"/>
              <a:t>php</a:t>
            </a:r>
            <a:r>
              <a:rPr lang="en-US" sz="1600" dirty="0"/>
              <a:t> }?&gt;&lt;/</a:t>
            </a:r>
            <a:r>
              <a:rPr lang="en-US" sz="1600" dirty="0" err="1"/>
              <a:t>tbody</a:t>
            </a:r>
            <a:r>
              <a:rPr lang="en-US" sz="1600" dirty="0"/>
              <a:t>&gt;&lt;/table&gt;&lt;?</a:t>
            </a:r>
            <a:r>
              <a:rPr lang="en-US" sz="1600" dirty="0" err="1"/>
              <a:t>php</a:t>
            </a:r>
            <a:r>
              <a:rPr lang="en-US" sz="1600" dirty="0"/>
              <a:t> }?&gt;&lt;/div&gt;&lt;?</a:t>
            </a:r>
            <a:r>
              <a:rPr lang="en-US" sz="1600" dirty="0" err="1"/>
              <a:t>php</a:t>
            </a:r>
            <a:r>
              <a:rPr lang="en-US" sz="1600" dirty="0"/>
              <a:t> }else{echo"0 results";}</a:t>
            </a:r>
          </a:p>
          <a:p>
            <a:r>
              <a:rPr lang="en-US" sz="1600" dirty="0"/>
              <a:t>$conn-&gt;close();?&gt;&lt;/body&gt;&lt;/html&gt;</a:t>
            </a:r>
            <a:endParaRPr lang="en-UZ" sz="16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7FB7E92-647C-EB2B-588C-815EC0291582}"/>
              </a:ext>
            </a:extLst>
          </p:cNvPr>
          <p:cNvSpPr txBox="1">
            <a:spLocks/>
          </p:cNvSpPr>
          <p:nvPr/>
        </p:nvSpPr>
        <p:spPr>
          <a:xfrm>
            <a:off x="1056290" y="223905"/>
            <a:ext cx="4440619" cy="677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Q1. PHP Code</a:t>
            </a:r>
          </a:p>
        </p:txBody>
      </p:sp>
    </p:spTree>
    <p:extLst>
      <p:ext uri="{BB962C8B-B14F-4D97-AF65-F5344CB8AC3E}">
        <p14:creationId xmlns:p14="http://schemas.microsoft.com/office/powerpoint/2010/main" val="291048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7875-E575-8A82-55BF-AF54377F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047DEF-7AA5-08CC-8DEA-435DFF986E6B}"/>
              </a:ext>
            </a:extLst>
          </p:cNvPr>
          <p:cNvSpPr txBox="1"/>
          <p:nvPr/>
        </p:nvSpPr>
        <p:spPr>
          <a:xfrm>
            <a:off x="420414" y="1324302"/>
            <a:ext cx="762000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.table-container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display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flex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gap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1rem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flex-wrap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wrap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border-collapse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collapse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text-align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center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fit-content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td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padding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10px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7F2E0CA-42A5-ED29-1985-E966C1CC5E9A}"/>
              </a:ext>
            </a:extLst>
          </p:cNvPr>
          <p:cNvSpPr txBox="1">
            <a:spLocks/>
          </p:cNvSpPr>
          <p:nvPr/>
        </p:nvSpPr>
        <p:spPr>
          <a:xfrm>
            <a:off x="1056290" y="223905"/>
            <a:ext cx="4440619" cy="677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Q1. CSS Code</a:t>
            </a:r>
          </a:p>
        </p:txBody>
      </p:sp>
    </p:spTree>
    <p:extLst>
      <p:ext uri="{BB962C8B-B14F-4D97-AF65-F5344CB8AC3E}">
        <p14:creationId xmlns:p14="http://schemas.microsoft.com/office/powerpoint/2010/main" val="138946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1" y="2935941"/>
            <a:ext cx="2626658" cy="986118"/>
          </a:xfrm>
        </p:spPr>
        <p:txBody>
          <a:bodyPr/>
          <a:lstStyle/>
          <a:p>
            <a:r>
              <a:rPr lang="en-US" dirty="0"/>
              <a:t>Output#1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8D47CC7-E45E-FA29-37A9-170B1880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12" y="125730"/>
            <a:ext cx="7772400" cy="66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09E79-DC09-5114-E684-AE24BB3D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13F0FED-BC63-FB7A-5D35-04906B7AC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291" y="223905"/>
            <a:ext cx="3242440" cy="677725"/>
          </a:xfrm>
        </p:spPr>
        <p:txBody>
          <a:bodyPr/>
          <a:lstStyle/>
          <a:p>
            <a:r>
              <a:rPr lang="en-US" dirty="0"/>
              <a:t>Question 2</a:t>
            </a:r>
          </a:p>
        </p:txBody>
      </p:sp>
      <p:pic>
        <p:nvPicPr>
          <p:cNvPr id="3" name="Picture 2" descr="A screenshot of a sports report&#10;&#10;Description automatically generated">
            <a:extLst>
              <a:ext uri="{FF2B5EF4-FFF2-40B4-BE49-F238E27FC236}">
                <a16:creationId xmlns:a16="http://schemas.microsoft.com/office/drawing/2014/main" id="{D930728C-0F50-9873-E2EC-91F4EFEC1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91" y="1148976"/>
            <a:ext cx="9176044" cy="42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8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715B-E412-1AD0-AAC5-95DE029C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D891FF-7566-9482-8B7D-AC28EDBD24E0}"/>
              </a:ext>
            </a:extLst>
          </p:cNvPr>
          <p:cNvSpPr txBox="1"/>
          <p:nvPr/>
        </p:nvSpPr>
        <p:spPr>
          <a:xfrm>
            <a:off x="420414" y="1324302"/>
            <a:ext cx="76200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&lt;!DOCTYPE html&gt;&lt;html lang="</a:t>
            </a:r>
            <a:r>
              <a:rPr lang="en-US" sz="1600" dirty="0" err="1"/>
              <a:t>en</a:t>
            </a:r>
            <a:r>
              <a:rPr lang="en-US" sz="1600" dirty="0"/>
              <a:t>"&gt;&lt;head&gt;&lt;meta charset="UTF-8"&gt;&lt;title&gt;Famous Sports&lt;/title&gt;&lt;link </a:t>
            </a:r>
            <a:r>
              <a:rPr lang="en-US" sz="1600" dirty="0" err="1"/>
              <a:t>rel</a:t>
            </a:r>
            <a:r>
              <a:rPr lang="en-US" sz="1600" dirty="0"/>
              <a:t>="stylesheet" </a:t>
            </a:r>
            <a:r>
              <a:rPr lang="en-US" sz="1600" dirty="0" err="1"/>
              <a:t>href</a:t>
            </a:r>
            <a:r>
              <a:rPr lang="en-US" sz="1600" dirty="0"/>
              <a:t>="../../Assignment3/</a:t>
            </a:r>
            <a:r>
              <a:rPr lang="en-US" sz="1600" dirty="0" err="1"/>
              <a:t>bootstrap.min.css</a:t>
            </a:r>
            <a:r>
              <a:rPr lang="en-US" sz="1600" dirty="0"/>
              <a:t>"&gt;&lt;/head&gt;&lt;body class="p-3"&gt;&lt;h1&gt;Sports with rating over 50&lt;/h1&gt;&lt;?</a:t>
            </a:r>
            <a:r>
              <a:rPr lang="en-US" sz="1600" dirty="0" err="1"/>
              <a:t>php</a:t>
            </a:r>
            <a:endParaRPr lang="en-US" sz="1600" dirty="0"/>
          </a:p>
          <a:p>
            <a:r>
              <a:rPr lang="en-US" sz="1600" dirty="0"/>
              <a:t>$</a:t>
            </a:r>
            <a:r>
              <a:rPr lang="en-US" sz="1600" dirty="0" err="1"/>
              <a:t>servername</a:t>
            </a:r>
            <a:r>
              <a:rPr lang="en-US" sz="1600" dirty="0"/>
              <a:t>="localhost";$username="root";$password="root";$</a:t>
            </a:r>
            <a:r>
              <a:rPr lang="en-US" sz="1600" dirty="0" err="1"/>
              <a:t>databasename</a:t>
            </a:r>
            <a:r>
              <a:rPr lang="en-US" sz="1600" dirty="0"/>
              <a:t>="famous-sports";</a:t>
            </a:r>
          </a:p>
          <a:p>
            <a:r>
              <a:rPr lang="en-US" sz="1600" dirty="0"/>
              <a:t>$conn=new </a:t>
            </a:r>
            <a:r>
              <a:rPr lang="en-US" sz="1600" dirty="0" err="1"/>
              <a:t>mysqli</a:t>
            </a:r>
            <a:r>
              <a:rPr lang="en-US" sz="1600" dirty="0"/>
              <a:t>($</a:t>
            </a:r>
            <a:r>
              <a:rPr lang="en-US" sz="1600" dirty="0" err="1"/>
              <a:t>servername</a:t>
            </a:r>
            <a:r>
              <a:rPr lang="en-US" sz="1600" dirty="0"/>
              <a:t>,$username,$password,$</a:t>
            </a:r>
            <a:r>
              <a:rPr lang="en-US" sz="1600" dirty="0" err="1"/>
              <a:t>databasename</a:t>
            </a:r>
            <a:r>
              <a:rPr lang="en-US" sz="1600" dirty="0"/>
              <a:t>);</a:t>
            </a:r>
          </a:p>
          <a:p>
            <a:r>
              <a:rPr lang="en-US" sz="1600" dirty="0"/>
              <a:t>if($conn-&gt;</a:t>
            </a:r>
            <a:r>
              <a:rPr lang="en-US" sz="1600" dirty="0" err="1"/>
              <a:t>connect_error</a:t>
            </a:r>
            <a:r>
              <a:rPr lang="en-US" sz="1600" dirty="0"/>
              <a:t>){die("Connection failed: ".$conn-&gt;</a:t>
            </a:r>
            <a:r>
              <a:rPr lang="en-US" sz="1600" dirty="0" err="1"/>
              <a:t>connect_error</a:t>
            </a:r>
            <a:r>
              <a:rPr lang="en-US" sz="1600" dirty="0"/>
              <a:t>);}</a:t>
            </a:r>
          </a:p>
          <a:p>
            <a:r>
              <a:rPr lang="en-US" sz="1600" dirty="0"/>
              <a:t>$query="SELECT * FROM `sports` WHERE rating &gt; 50;";</a:t>
            </a:r>
          </a:p>
          <a:p>
            <a:r>
              <a:rPr lang="en-US" sz="1600" dirty="0"/>
              <a:t>$result=$conn-&gt;query($query);</a:t>
            </a:r>
          </a:p>
          <a:p>
            <a:r>
              <a:rPr lang="en-US" sz="1600" dirty="0"/>
              <a:t>if($result-&gt;</a:t>
            </a:r>
            <a:r>
              <a:rPr lang="en-US" sz="1600" dirty="0" err="1"/>
              <a:t>num_rows</a:t>
            </a:r>
            <a:r>
              <a:rPr lang="en-US" sz="1600" dirty="0"/>
              <a:t>&gt;0){?&gt;&lt;table class="table table-</a:t>
            </a:r>
            <a:r>
              <a:rPr lang="en-US" sz="1600" dirty="0" err="1"/>
              <a:t>sm</a:t>
            </a:r>
            <a:r>
              <a:rPr lang="en-US" sz="1600" dirty="0"/>
              <a:t> table-bordered table-striped w-25"&gt;&lt;</a:t>
            </a:r>
            <a:r>
              <a:rPr lang="en-US" sz="1600" dirty="0" err="1"/>
              <a:t>thead</a:t>
            </a:r>
            <a:r>
              <a:rPr lang="en-US" sz="1600" dirty="0"/>
              <a:t>&gt;&lt;tr&gt;&lt;</a:t>
            </a:r>
            <a:r>
              <a:rPr lang="en-US" sz="1600" dirty="0" err="1"/>
              <a:t>th</a:t>
            </a:r>
            <a:r>
              <a:rPr lang="en-US" sz="1600" dirty="0"/>
              <a:t>&gt;Sports Name&lt;/</a:t>
            </a:r>
            <a:r>
              <a:rPr lang="en-US" sz="1600" dirty="0" err="1"/>
              <a:t>th</a:t>
            </a:r>
            <a:r>
              <a:rPr lang="en-US" sz="1600" dirty="0"/>
              <a:t>&gt;&lt;</a:t>
            </a:r>
            <a:r>
              <a:rPr lang="en-US" sz="1600" dirty="0" err="1"/>
              <a:t>th</a:t>
            </a:r>
            <a:r>
              <a:rPr lang="en-US" sz="1600" dirty="0"/>
              <a:t>&gt;Rating&lt;/</a:t>
            </a:r>
            <a:r>
              <a:rPr lang="en-US" sz="1600" dirty="0" err="1"/>
              <a:t>th</a:t>
            </a:r>
            <a:r>
              <a:rPr lang="en-US" sz="1600" dirty="0"/>
              <a:t>&gt;&lt;/tr&gt;&lt;/</a:t>
            </a:r>
            <a:r>
              <a:rPr lang="en-US" sz="1600" dirty="0" err="1"/>
              <a:t>thead</a:t>
            </a:r>
            <a:r>
              <a:rPr lang="en-US" sz="1600" dirty="0"/>
              <a:t>&gt;&lt;</a:t>
            </a:r>
            <a:r>
              <a:rPr lang="en-US" sz="1600" dirty="0" err="1"/>
              <a:t>tbody</a:t>
            </a:r>
            <a:r>
              <a:rPr lang="en-US" sz="1600" dirty="0"/>
              <a:t>&gt;&lt;?</a:t>
            </a:r>
            <a:r>
              <a:rPr lang="en-US" sz="1600" dirty="0" err="1"/>
              <a:t>php</a:t>
            </a:r>
            <a:r>
              <a:rPr lang="en-US" sz="1600" dirty="0"/>
              <a:t> while($row=$result-&gt;</a:t>
            </a:r>
            <a:r>
              <a:rPr lang="en-US" sz="1600" dirty="0" err="1"/>
              <a:t>fetch_assoc</a:t>
            </a:r>
            <a:r>
              <a:rPr lang="en-US" sz="1600" dirty="0"/>
              <a:t>()){?&gt;&lt;tr&gt;&lt;td&gt;&lt;?=$row['</a:t>
            </a:r>
            <a:r>
              <a:rPr lang="en-US" sz="1600" dirty="0" err="1"/>
              <a:t>sports_name</a:t>
            </a:r>
            <a:r>
              <a:rPr lang="en-US" sz="1600" dirty="0"/>
              <a:t>']?&gt;&lt;/td&gt;&lt;td&gt;&lt;?=$row['rating']?&gt;&lt;/td&gt;&lt;/tr&gt;&lt;?</a:t>
            </a:r>
            <a:r>
              <a:rPr lang="en-US" sz="1600" dirty="0" err="1"/>
              <a:t>php</a:t>
            </a:r>
            <a:r>
              <a:rPr lang="en-US" sz="1600" dirty="0"/>
              <a:t> }?&gt;&lt;/</a:t>
            </a:r>
            <a:r>
              <a:rPr lang="en-US" sz="1600" dirty="0" err="1"/>
              <a:t>tbody</a:t>
            </a:r>
            <a:r>
              <a:rPr lang="en-US" sz="1600" dirty="0"/>
              <a:t>&gt;&lt;/table&gt;&lt;?</a:t>
            </a:r>
            <a:r>
              <a:rPr lang="en-US" sz="1600" dirty="0" err="1"/>
              <a:t>php</a:t>
            </a:r>
            <a:r>
              <a:rPr lang="en-US" sz="1600" dirty="0"/>
              <a:t> }else{echo"0 results";}</a:t>
            </a:r>
          </a:p>
          <a:p>
            <a:r>
              <a:rPr lang="en-US" sz="1600" dirty="0"/>
              <a:t>$conn-&gt;close();?&gt;&lt;/body&gt;&lt;/html&gt;</a:t>
            </a:r>
            <a:endParaRPr lang="en-UZ" sz="16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90CA0AE-7FA8-EFA1-2CBD-BC270D4461C3}"/>
              </a:ext>
            </a:extLst>
          </p:cNvPr>
          <p:cNvSpPr txBox="1">
            <a:spLocks/>
          </p:cNvSpPr>
          <p:nvPr/>
        </p:nvSpPr>
        <p:spPr>
          <a:xfrm>
            <a:off x="1056290" y="223905"/>
            <a:ext cx="4440619" cy="677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Q2. PHP Code</a:t>
            </a:r>
          </a:p>
        </p:txBody>
      </p:sp>
    </p:spTree>
    <p:extLst>
      <p:ext uri="{BB962C8B-B14F-4D97-AF65-F5344CB8AC3E}">
        <p14:creationId xmlns:p14="http://schemas.microsoft.com/office/powerpoint/2010/main" val="369933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1F62-B852-3F8D-B3A8-75D67892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A24B-5FFD-62A2-25A1-A2CDD8FB1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5342" y="2935941"/>
            <a:ext cx="2626658" cy="986118"/>
          </a:xfrm>
        </p:spPr>
        <p:txBody>
          <a:bodyPr/>
          <a:lstStyle/>
          <a:p>
            <a:r>
              <a:rPr lang="en-US" dirty="0"/>
              <a:t>Output</a:t>
            </a:r>
            <a:br>
              <a:rPr lang="en-US" dirty="0"/>
            </a:br>
            <a:r>
              <a:rPr lang="en-US" dirty="0"/>
              <a:t>#2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206AF57-1326-2411-C07D-9B8B36C3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119"/>
          <a:stretch/>
        </p:blipFill>
        <p:spPr>
          <a:xfrm>
            <a:off x="1090070" y="248478"/>
            <a:ext cx="3332843" cy="652881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F9D95AA-F0CB-8344-B414-D08AB663AB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743"/>
          <a:stretch/>
        </p:blipFill>
        <p:spPr>
          <a:xfrm>
            <a:off x="4422913" y="248478"/>
            <a:ext cx="4395393" cy="527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B919-4C94-295E-1118-CAE9A48DB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419E44C-8E95-65CB-59AF-58299E66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291" y="223905"/>
            <a:ext cx="3242440" cy="677725"/>
          </a:xfrm>
        </p:spPr>
        <p:txBody>
          <a:bodyPr/>
          <a:lstStyle/>
          <a:p>
            <a:r>
              <a:rPr lang="en-US" dirty="0"/>
              <a:t>Question 3</a:t>
            </a: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ADEE6D74-12D6-80BB-1F09-61AF48336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290" y="901630"/>
            <a:ext cx="8982231" cy="464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2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DB46-EFD8-ABD4-A5BB-43D2F569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A3C913-EB94-330C-6D0E-A5040E7DFE57}"/>
              </a:ext>
            </a:extLst>
          </p:cNvPr>
          <p:cNvSpPr txBox="1"/>
          <p:nvPr/>
        </p:nvSpPr>
        <p:spPr>
          <a:xfrm>
            <a:off x="1056290" y="901630"/>
            <a:ext cx="7620001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&lt;!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DOCTYPE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ChartJS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- 6 types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link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css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default.css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rel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"stylesheet"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head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body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"wrapper"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"bar-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chartcanvas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"line-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chartcanvas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"doughnut-chartcanvas-1"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"doughnut-chartcanvas-2"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"pie-chartcanvas-1"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"chart-container-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sm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</a:t>
            </a:r>
            <a: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"pie-chartcanvas-2"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canvas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div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&lt;!-- </a:t>
            </a:r>
            <a:r>
              <a:rPr lang="en-US" sz="1050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javascript</a:t>
            </a:r>
            <a:r>
              <a:rPr lang="en-US" sz="105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--&gt;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jquery.min.js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Chart.min.js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doughnut.js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bar.js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line.js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US" sz="105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05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pie.js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script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body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html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105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sz="105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DBB25F0-B8D2-071F-D60D-A5A104A656A5}"/>
              </a:ext>
            </a:extLst>
          </p:cNvPr>
          <p:cNvSpPr txBox="1">
            <a:spLocks/>
          </p:cNvSpPr>
          <p:nvPr/>
        </p:nvSpPr>
        <p:spPr>
          <a:xfrm>
            <a:off x="1056290" y="223905"/>
            <a:ext cx="4440619" cy="677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Q1. HTML Code</a:t>
            </a:r>
          </a:p>
        </p:txBody>
      </p:sp>
    </p:spTree>
    <p:extLst>
      <p:ext uri="{BB962C8B-B14F-4D97-AF65-F5344CB8AC3E}">
        <p14:creationId xmlns:p14="http://schemas.microsoft.com/office/powerpoint/2010/main" val="2178790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70F0-36BB-16DF-ED27-BE9F1CEE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054AD0-F366-9756-0A5C-D97ECC6144FB}"/>
              </a:ext>
            </a:extLst>
          </p:cNvPr>
          <p:cNvSpPr txBox="1"/>
          <p:nvPr/>
        </p:nvSpPr>
        <p:spPr>
          <a:xfrm>
            <a:off x="420414" y="1324302"/>
            <a:ext cx="76200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.wrapper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display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flex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flex-wrap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wrap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.chart-container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50%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height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33%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margin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auto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.chart-container-</a:t>
            </a:r>
            <a:r>
              <a:rPr lang="en-US" sz="1600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sm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width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25%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height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33%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margin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auto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BB86CE-7A6F-DC37-D7CD-50360F16A076}"/>
              </a:ext>
            </a:extLst>
          </p:cNvPr>
          <p:cNvSpPr txBox="1">
            <a:spLocks/>
          </p:cNvSpPr>
          <p:nvPr/>
        </p:nvSpPr>
        <p:spPr>
          <a:xfrm>
            <a:off x="1056290" y="223905"/>
            <a:ext cx="4440619" cy="6777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Q1. CSS Code</a:t>
            </a:r>
          </a:p>
        </p:txBody>
      </p:sp>
    </p:spTree>
    <p:extLst>
      <p:ext uri="{BB962C8B-B14F-4D97-AF65-F5344CB8AC3E}">
        <p14:creationId xmlns:p14="http://schemas.microsoft.com/office/powerpoint/2010/main" val="335131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9AAD-448F-FCEB-73A6-CD476A44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3A135-08D2-0AB4-EC5D-E4BB74F3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5342" y="2935941"/>
            <a:ext cx="2626658" cy="986118"/>
          </a:xfrm>
        </p:spPr>
        <p:txBody>
          <a:bodyPr/>
          <a:lstStyle/>
          <a:p>
            <a:r>
              <a:rPr lang="en-US" dirty="0"/>
              <a:t>Output</a:t>
            </a:r>
            <a:br>
              <a:rPr lang="en-US" dirty="0"/>
            </a:br>
            <a:r>
              <a:rPr lang="en-US" dirty="0"/>
              <a:t>#3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F3DDE5D-9050-20B1-9131-F6BDB2F2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671" y="631135"/>
            <a:ext cx="7772400" cy="518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83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D33E-AD81-CB91-495D-20151F346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2" y="252549"/>
            <a:ext cx="6220278" cy="941125"/>
          </a:xfrm>
        </p:spPr>
        <p:txBody>
          <a:bodyPr/>
          <a:lstStyle/>
          <a:p>
            <a:r>
              <a:rPr lang="en-UZ" dirty="0"/>
              <a:t>Question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E6599-3006-ED6D-B162-5923C59F1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1340303"/>
            <a:ext cx="6220277" cy="457347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/>
                <a:latin typeface="Helvetica" pitchFamily="2" charset="0"/>
              </a:rPr>
              <a:t>Q4: Why JS functions are used in web developments. Please write answer with 2~3 sentences only.</a:t>
            </a:r>
          </a:p>
          <a:p>
            <a:endParaRPr lang="en-US" dirty="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</a:rPr>
              <a:t>Answer:  JS functions are used in web development to make code understandable and reusable. They also perform actions when user trigger some event such as click of a button or scroll of a page</a:t>
            </a:r>
            <a:endParaRPr lang="en-US" dirty="0">
              <a:effectLst/>
              <a:latin typeface="Helvetica" pitchFamily="2" charset="0"/>
            </a:endParaRPr>
          </a:p>
          <a:p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95086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E597-55C2-4EF0-003A-C17ECF0A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C5307-155D-C2FA-5DDA-2332E6792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2" y="252549"/>
            <a:ext cx="6220278" cy="941125"/>
          </a:xfrm>
        </p:spPr>
        <p:txBody>
          <a:bodyPr/>
          <a:lstStyle/>
          <a:p>
            <a:r>
              <a:rPr lang="en-UZ" dirty="0"/>
              <a:t>Question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38158-F9D8-1623-A245-CCDEBDB2E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1340303"/>
            <a:ext cx="6220277" cy="4573479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NanumGothic" panose="020D0604000000000000" pitchFamily="34" charset="-127"/>
                <a:ea typeface="NanumGothic" panose="020D0604000000000000" pitchFamily="34" charset="-127"/>
              </a:rPr>
              <a:t>Q5:Why are database-powered websites more useful than static ones? Please answer in THREE to FIVE lines only</a:t>
            </a:r>
            <a:r>
              <a:rPr lang="en-US" sz="2400" dirty="0">
                <a:solidFill>
                  <a:srgbClr val="FF0000"/>
                </a:solidFill>
                <a:effectLst/>
                <a:latin typeface="Helvetica" pitchFamily="2" charset="0"/>
              </a:rPr>
              <a:t>.</a:t>
            </a:r>
          </a:p>
          <a:p>
            <a:endParaRPr lang="en-US" sz="2400" dirty="0">
              <a:solidFill>
                <a:srgbClr val="FF0000"/>
              </a:solidFill>
              <a:latin typeface="Helvetica" pitchFamily="2" charset="0"/>
            </a:endParaRPr>
          </a:p>
          <a:p>
            <a:r>
              <a:rPr lang="en-US" sz="2400" dirty="0">
                <a:latin typeface="Helvetica" pitchFamily="2" charset="0"/>
              </a:rPr>
              <a:t>Answer: Efficiency of database-powered websites is huge because if we want to change the data on page, we don’t have to change that file manually. I cannot imagine good website without dynamic features, such as login, comment, personalized or recommended data for user, which cannot almost be made without database. </a:t>
            </a:r>
            <a:endParaRPr lang="en-US" sz="2400" dirty="0">
              <a:effectLst/>
              <a:latin typeface="Helvetica" pitchFamily="2" charset="0"/>
            </a:endParaRPr>
          </a:p>
          <a:p>
            <a:endParaRPr lang="en-UZ" dirty="0"/>
          </a:p>
        </p:txBody>
      </p:sp>
    </p:spTree>
    <p:extLst>
      <p:ext uri="{BB962C8B-B14F-4D97-AF65-F5344CB8AC3E}">
        <p14:creationId xmlns:p14="http://schemas.microsoft.com/office/powerpoint/2010/main" val="30492652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ignment_2" id="{229E6DE7-11C9-E347-8711-5DBF88046475}" vid="{E27108DB-1486-7E4F-AC02-6036EF9C7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50</TotalTime>
  <Words>1066</Words>
  <Application>Microsoft Macintosh PowerPoint</Application>
  <PresentationFormat>Widescreen</PresentationFormat>
  <Paragraphs>112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NanumGothic</vt:lpstr>
      <vt:lpstr>Arial</vt:lpstr>
      <vt:lpstr>Calibri</vt:lpstr>
      <vt:lpstr>Helvetica</vt:lpstr>
      <vt:lpstr>Menlo</vt:lpstr>
      <vt:lpstr>Tenorite</vt:lpstr>
      <vt:lpstr>Custom</vt:lpstr>
      <vt:lpstr>Web Programming Assignment #6</vt:lpstr>
      <vt:lpstr>Question 1</vt:lpstr>
      <vt:lpstr>PowerPoint Presentation</vt:lpstr>
      <vt:lpstr>PowerPoint Presentation</vt:lpstr>
      <vt:lpstr>Output#1</vt:lpstr>
      <vt:lpstr>Question 2</vt:lpstr>
      <vt:lpstr>PowerPoint Presentation</vt:lpstr>
      <vt:lpstr>Output #2</vt:lpstr>
      <vt:lpstr>Question 3</vt:lpstr>
      <vt:lpstr>PowerPoint Presentation</vt:lpstr>
      <vt:lpstr>PowerPoint Presentation</vt:lpstr>
      <vt:lpstr>Output #3</vt:lpstr>
      <vt:lpstr>Question 5</vt:lpstr>
      <vt:lpstr>Question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유수프존</dc:creator>
  <cp:lastModifiedBy>유수프존</cp:lastModifiedBy>
  <cp:revision>1</cp:revision>
  <dcterms:created xsi:type="dcterms:W3CDTF">2025-05-29T08:09:29Z</dcterms:created>
  <dcterms:modified xsi:type="dcterms:W3CDTF">2025-05-29T08:59:46Z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